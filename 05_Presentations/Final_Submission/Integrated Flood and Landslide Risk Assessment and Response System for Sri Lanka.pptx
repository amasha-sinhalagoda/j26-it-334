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oboto Bold" charset="1" panose="02000000000000000000"/>
      <p:regular r:id="rId16"/>
    </p:embeddedFont>
    <p:embeddedFont>
      <p:font typeface="Roboto" charset="1" panose="02000000000000000000"/>
      <p:regular r:id="rId17"/>
    </p:embeddedFont>
    <p:embeddedFont>
      <p:font typeface="Inter Ultra-Bold" charset="1" panose="0200050300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15" Target="../media/image27.png" Type="http://schemas.openxmlformats.org/officeDocument/2006/relationships/image"/><Relationship Id="rId16" Target="../media/image28.png" Type="http://schemas.openxmlformats.org/officeDocument/2006/relationships/image"/><Relationship Id="rId17" Target="../media/image29.png" Type="http://schemas.openxmlformats.org/officeDocument/2006/relationships/image"/><Relationship Id="rId18" Target="../media/image30.png" Type="http://schemas.openxmlformats.org/officeDocument/2006/relationships/image"/><Relationship Id="rId19" Target="../media/image31.pn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png" Type="http://schemas.openxmlformats.org/officeDocument/2006/relationships/image"/><Relationship Id="rId12" Target="../media/image42.png" Type="http://schemas.openxmlformats.org/officeDocument/2006/relationships/image"/><Relationship Id="rId13" Target="../media/image43.png" Type="http://schemas.openxmlformats.org/officeDocument/2006/relationships/image"/><Relationship Id="rId14" Target="../media/image44.png" Type="http://schemas.openxmlformats.org/officeDocument/2006/relationships/image"/><Relationship Id="rId15" Target="../media/image45.png" Type="http://schemas.openxmlformats.org/officeDocument/2006/relationships/image"/><Relationship Id="rId16" Target="../media/image46.png" Type="http://schemas.openxmlformats.org/officeDocument/2006/relationships/image"/><Relationship Id="rId17" Target="../media/image47.png" Type="http://schemas.openxmlformats.org/officeDocument/2006/relationships/image"/><Relationship Id="rId18" Target="../media/image48.png" Type="http://schemas.openxmlformats.org/officeDocument/2006/relationships/image"/><Relationship Id="rId19" Target="../media/image49.png" Type="http://schemas.openxmlformats.org/officeDocument/2006/relationships/image"/><Relationship Id="rId2" Target="../media/image32.png" Type="http://schemas.openxmlformats.org/officeDocument/2006/relationships/image"/><Relationship Id="rId20" Target="../media/image50.png" Type="http://schemas.openxmlformats.org/officeDocument/2006/relationships/image"/><Relationship Id="rId21" Target="../media/image51.png" Type="http://schemas.openxmlformats.org/officeDocument/2006/relationships/image"/><Relationship Id="rId22" Target="../media/image52.png" Type="http://schemas.openxmlformats.org/officeDocument/2006/relationships/image"/><Relationship Id="rId23" Target="../media/image53.png" Type="http://schemas.openxmlformats.org/officeDocument/2006/relationships/image"/><Relationship Id="rId24" Target="../media/image54.png" Type="http://schemas.openxmlformats.org/officeDocument/2006/relationships/image"/><Relationship Id="rId25" Target="../media/image55.png" Type="http://schemas.openxmlformats.org/officeDocument/2006/relationships/image"/><Relationship Id="rId26" Target="../media/image56.png" Type="http://schemas.openxmlformats.org/officeDocument/2006/relationships/image"/><Relationship Id="rId27" Target="../media/image57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png" Type="http://schemas.openxmlformats.org/officeDocument/2006/relationships/image"/><Relationship Id="rId12" Target="../media/image68.png" Type="http://schemas.openxmlformats.org/officeDocument/2006/relationships/image"/><Relationship Id="rId13" Target="../media/image69.png" Type="http://schemas.openxmlformats.org/officeDocument/2006/relationships/image"/><Relationship Id="rId14" Target="../media/image70.png" Type="http://schemas.openxmlformats.org/officeDocument/2006/relationships/image"/><Relationship Id="rId15" Target="../media/image71.png" Type="http://schemas.openxmlformats.org/officeDocument/2006/relationships/image"/><Relationship Id="rId16" Target="../media/image72.png" Type="http://schemas.openxmlformats.org/officeDocument/2006/relationships/image"/><Relationship Id="rId17" Target="../media/image73.png" Type="http://schemas.openxmlformats.org/officeDocument/2006/relationships/image"/><Relationship Id="rId18" Target="../media/image74.png" Type="http://schemas.openxmlformats.org/officeDocument/2006/relationships/image"/><Relationship Id="rId2" Target="../media/image58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11" Target="../media/image84.png" Type="http://schemas.openxmlformats.org/officeDocument/2006/relationships/image"/><Relationship Id="rId12" Target="../media/image85.png" Type="http://schemas.openxmlformats.org/officeDocument/2006/relationships/image"/><Relationship Id="rId13" Target="../media/image86.png" Type="http://schemas.openxmlformats.org/officeDocument/2006/relationships/image"/><Relationship Id="rId14" Target="../media/image87.png" Type="http://schemas.openxmlformats.org/officeDocument/2006/relationships/image"/><Relationship Id="rId15" Target="../media/image88.png" Type="http://schemas.openxmlformats.org/officeDocument/2006/relationships/image"/><Relationship Id="rId2" Target="../media/image75.png" Type="http://schemas.openxmlformats.org/officeDocument/2006/relationships/image"/><Relationship Id="rId3" Target="../media/image76.png" Type="http://schemas.openxmlformats.org/officeDocument/2006/relationships/image"/><Relationship Id="rId4" Target="../media/image77.png" Type="http://schemas.openxmlformats.org/officeDocument/2006/relationships/image"/><Relationship Id="rId5" Target="../media/image78.png" Type="http://schemas.openxmlformats.org/officeDocument/2006/relationships/image"/><Relationship Id="rId6" Target="../media/image79.png" Type="http://schemas.openxmlformats.org/officeDocument/2006/relationships/image"/><Relationship Id="rId7" Target="../media/image80.png" Type="http://schemas.openxmlformats.org/officeDocument/2006/relationships/image"/><Relationship Id="rId8" Target="../media/image81.png" Type="http://schemas.openxmlformats.org/officeDocument/2006/relationships/image"/><Relationship Id="rId9" Target="../media/image8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7.png" Type="http://schemas.openxmlformats.org/officeDocument/2006/relationships/image"/><Relationship Id="rId11" Target="../media/image98.png" Type="http://schemas.openxmlformats.org/officeDocument/2006/relationships/image"/><Relationship Id="rId12" Target="../media/image99.png" Type="http://schemas.openxmlformats.org/officeDocument/2006/relationships/image"/><Relationship Id="rId13" Target="../media/image100.png" Type="http://schemas.openxmlformats.org/officeDocument/2006/relationships/image"/><Relationship Id="rId14" Target="../media/image101.png" Type="http://schemas.openxmlformats.org/officeDocument/2006/relationships/image"/><Relationship Id="rId15" Target="../media/image102.png" Type="http://schemas.openxmlformats.org/officeDocument/2006/relationships/image"/><Relationship Id="rId16" Target="../media/image103.png" Type="http://schemas.openxmlformats.org/officeDocument/2006/relationships/image"/><Relationship Id="rId17" Target="../media/image104.png" Type="http://schemas.openxmlformats.org/officeDocument/2006/relationships/image"/><Relationship Id="rId18" Target="../media/image105.png" Type="http://schemas.openxmlformats.org/officeDocument/2006/relationships/image"/><Relationship Id="rId19" Target="../media/image106.png" Type="http://schemas.openxmlformats.org/officeDocument/2006/relationships/image"/><Relationship Id="rId2" Target="../media/image89.png" Type="http://schemas.openxmlformats.org/officeDocument/2006/relationships/image"/><Relationship Id="rId20" Target="../media/image107.png" Type="http://schemas.openxmlformats.org/officeDocument/2006/relationships/image"/><Relationship Id="rId21" Target="../media/image108.png" Type="http://schemas.openxmlformats.org/officeDocument/2006/relationships/image"/><Relationship Id="rId22" Target="../media/image109.png" Type="http://schemas.openxmlformats.org/officeDocument/2006/relationships/image"/><Relationship Id="rId23" Target="../media/image110.png" Type="http://schemas.openxmlformats.org/officeDocument/2006/relationships/image"/><Relationship Id="rId24" Target="../media/image111.png" Type="http://schemas.openxmlformats.org/officeDocument/2006/relationships/image"/><Relationship Id="rId25" Target="../media/image112.png" Type="http://schemas.openxmlformats.org/officeDocument/2006/relationships/image"/><Relationship Id="rId26" Target="../media/image113.png" Type="http://schemas.openxmlformats.org/officeDocument/2006/relationships/image"/><Relationship Id="rId27" Target="../media/image114.png" Type="http://schemas.openxmlformats.org/officeDocument/2006/relationships/image"/><Relationship Id="rId3" Target="../media/image90.png" Type="http://schemas.openxmlformats.org/officeDocument/2006/relationships/image"/><Relationship Id="rId4" Target="../media/image91.png" Type="http://schemas.openxmlformats.org/officeDocument/2006/relationships/image"/><Relationship Id="rId5" Target="../media/image92.png" Type="http://schemas.openxmlformats.org/officeDocument/2006/relationships/image"/><Relationship Id="rId6" Target="../media/image93.png" Type="http://schemas.openxmlformats.org/officeDocument/2006/relationships/image"/><Relationship Id="rId7" Target="../media/image94.png" Type="http://schemas.openxmlformats.org/officeDocument/2006/relationships/image"/><Relationship Id="rId8" Target="../media/image95.png" Type="http://schemas.openxmlformats.org/officeDocument/2006/relationships/image"/><Relationship Id="rId9" Target="../media/image9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3.png" Type="http://schemas.openxmlformats.org/officeDocument/2006/relationships/image"/><Relationship Id="rId11" Target="../media/image124.png" Type="http://schemas.openxmlformats.org/officeDocument/2006/relationships/image"/><Relationship Id="rId12" Target="../media/image125.png" Type="http://schemas.openxmlformats.org/officeDocument/2006/relationships/image"/><Relationship Id="rId13" Target="../media/image126.png" Type="http://schemas.openxmlformats.org/officeDocument/2006/relationships/image"/><Relationship Id="rId14" Target="../media/image127.png" Type="http://schemas.openxmlformats.org/officeDocument/2006/relationships/image"/><Relationship Id="rId15" Target="../media/image128.png" Type="http://schemas.openxmlformats.org/officeDocument/2006/relationships/image"/><Relationship Id="rId16" Target="../media/image129.png" Type="http://schemas.openxmlformats.org/officeDocument/2006/relationships/image"/><Relationship Id="rId17" Target="../media/image130.png" Type="http://schemas.openxmlformats.org/officeDocument/2006/relationships/image"/><Relationship Id="rId18" Target="../media/image131.png" Type="http://schemas.openxmlformats.org/officeDocument/2006/relationships/image"/><Relationship Id="rId19" Target="../media/image132.png" Type="http://schemas.openxmlformats.org/officeDocument/2006/relationships/image"/><Relationship Id="rId2" Target="../media/image115.png" Type="http://schemas.openxmlformats.org/officeDocument/2006/relationships/image"/><Relationship Id="rId20" Target="../media/image133.png" Type="http://schemas.openxmlformats.org/officeDocument/2006/relationships/image"/><Relationship Id="rId21" Target="../media/image134.png" Type="http://schemas.openxmlformats.org/officeDocument/2006/relationships/image"/><Relationship Id="rId22" Target="../media/image135.png" Type="http://schemas.openxmlformats.org/officeDocument/2006/relationships/image"/><Relationship Id="rId23" Target="../media/image136.png" Type="http://schemas.openxmlformats.org/officeDocument/2006/relationships/image"/><Relationship Id="rId24" Target="../media/image137.png" Type="http://schemas.openxmlformats.org/officeDocument/2006/relationships/image"/><Relationship Id="rId25" Target="../media/image138.png" Type="http://schemas.openxmlformats.org/officeDocument/2006/relationships/image"/><Relationship Id="rId3" Target="../media/image116.png" Type="http://schemas.openxmlformats.org/officeDocument/2006/relationships/image"/><Relationship Id="rId4" Target="../media/image117.png" Type="http://schemas.openxmlformats.org/officeDocument/2006/relationships/image"/><Relationship Id="rId5" Target="../media/image118.png" Type="http://schemas.openxmlformats.org/officeDocument/2006/relationships/image"/><Relationship Id="rId6" Target="../media/image119.png" Type="http://schemas.openxmlformats.org/officeDocument/2006/relationships/image"/><Relationship Id="rId7" Target="../media/image120.png" Type="http://schemas.openxmlformats.org/officeDocument/2006/relationships/image"/><Relationship Id="rId8" Target="../media/image121.png" Type="http://schemas.openxmlformats.org/officeDocument/2006/relationships/image"/><Relationship Id="rId9" Target="../media/image1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7.png" Type="http://schemas.openxmlformats.org/officeDocument/2006/relationships/image"/><Relationship Id="rId11" Target="../media/image148.png" Type="http://schemas.openxmlformats.org/officeDocument/2006/relationships/image"/><Relationship Id="rId2" Target="../media/image139.png" Type="http://schemas.openxmlformats.org/officeDocument/2006/relationships/image"/><Relationship Id="rId3" Target="../media/image140.png" Type="http://schemas.openxmlformats.org/officeDocument/2006/relationships/image"/><Relationship Id="rId4" Target="../media/image141.png" Type="http://schemas.openxmlformats.org/officeDocument/2006/relationships/image"/><Relationship Id="rId5" Target="../media/image142.png" Type="http://schemas.openxmlformats.org/officeDocument/2006/relationships/image"/><Relationship Id="rId6" Target="../media/image143.png" Type="http://schemas.openxmlformats.org/officeDocument/2006/relationships/image"/><Relationship Id="rId7" Target="../media/image144.png" Type="http://schemas.openxmlformats.org/officeDocument/2006/relationships/image"/><Relationship Id="rId8" Target="../media/image145.png" Type="http://schemas.openxmlformats.org/officeDocument/2006/relationships/image"/><Relationship Id="rId9" Target="../media/image14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9.png" Type="http://schemas.openxmlformats.org/officeDocument/2006/relationships/image"/><Relationship Id="rId3" Target="../media/image150.png" Type="http://schemas.openxmlformats.org/officeDocument/2006/relationships/image"/><Relationship Id="rId4" Target="../media/image15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67700" y="0"/>
            <a:ext cx="10020300" cy="10287000"/>
          </a:xfrm>
          <a:custGeom>
            <a:avLst/>
            <a:gdLst/>
            <a:ahLst/>
            <a:cxnLst/>
            <a:rect r="r" b="b" t="t" l="l"/>
            <a:pathLst>
              <a:path h="10287000" w="10020300">
                <a:moveTo>
                  <a:pt x="0" y="0"/>
                </a:moveTo>
                <a:lnTo>
                  <a:pt x="10020300" y="0"/>
                </a:lnTo>
                <a:lnTo>
                  <a:pt x="100203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96625" y="638175"/>
            <a:ext cx="5457825" cy="8791575"/>
          </a:xfrm>
          <a:custGeom>
            <a:avLst/>
            <a:gdLst/>
            <a:ahLst/>
            <a:cxnLst/>
            <a:rect r="r" b="b" t="t" l="l"/>
            <a:pathLst>
              <a:path h="8791575" w="5457825">
                <a:moveTo>
                  <a:pt x="0" y="0"/>
                </a:moveTo>
                <a:lnTo>
                  <a:pt x="5457825" y="0"/>
                </a:lnTo>
                <a:lnTo>
                  <a:pt x="5457825" y="8791575"/>
                </a:lnTo>
                <a:lnTo>
                  <a:pt x="0" y="8791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77824" y="1040904"/>
            <a:ext cx="6510528" cy="179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26"/>
              </a:lnSpc>
            </a:pPr>
            <a:r>
              <a:rPr lang="en-US" sz="1247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IDMERS: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7824" y="2883534"/>
            <a:ext cx="8611177" cy="286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2"/>
              </a:lnSpc>
            </a:pPr>
            <a:r>
              <a:rPr lang="en-US" sz="511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Integrated Flood and Landslide Risk Assessment and Response System for Sri Lanka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7824" y="5902699"/>
            <a:ext cx="7059168" cy="71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"/>
              </a:lnSpc>
            </a:pPr>
            <a:r>
              <a:rPr lang="en-US" sz="4931" b="true">
                <a:solidFill>
                  <a:srgbClr val="E64813"/>
                </a:solidFill>
                <a:latin typeface="Roboto Bold"/>
                <a:ea typeface="Roboto Bold"/>
                <a:cs typeface="Roboto Bold"/>
                <a:sym typeface="Roboto Bold"/>
              </a:rPr>
              <a:t>Predict. Warn. Respond.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7824" y="7127987"/>
            <a:ext cx="7607808" cy="432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7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Save Lives and Build a Safer Country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66775" y="8353425"/>
            <a:ext cx="2400300" cy="219075"/>
          </a:xfrm>
          <a:custGeom>
            <a:avLst/>
            <a:gdLst/>
            <a:ahLst/>
            <a:cxnLst/>
            <a:rect r="r" b="b" t="t" l="l"/>
            <a:pathLst>
              <a:path h="219075" w="2400300">
                <a:moveTo>
                  <a:pt x="0" y="0"/>
                </a:moveTo>
                <a:lnTo>
                  <a:pt x="2400300" y="0"/>
                </a:lnTo>
                <a:lnTo>
                  <a:pt x="2400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77824" y="8524875"/>
            <a:ext cx="3675888" cy="44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true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PROJECT ID: J26-IT-334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48925" y="209550"/>
            <a:ext cx="5229225" cy="9220200"/>
          </a:xfrm>
          <a:custGeom>
            <a:avLst/>
            <a:gdLst/>
            <a:ahLst/>
            <a:cxnLst/>
            <a:rect r="r" b="b" t="t" l="l"/>
            <a:pathLst>
              <a:path h="9220200" w="5229225">
                <a:moveTo>
                  <a:pt x="0" y="0"/>
                </a:moveTo>
                <a:lnTo>
                  <a:pt x="5229225" y="0"/>
                </a:lnTo>
                <a:lnTo>
                  <a:pt x="5229225" y="9220200"/>
                </a:lnTo>
                <a:lnTo>
                  <a:pt x="0" y="922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8640" y="567898"/>
            <a:ext cx="8339328" cy="2005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1"/>
              </a:lnSpc>
            </a:pPr>
            <a:r>
              <a:rPr lang="en-US" sz="7701" spc="-15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Recurring Risks. </a:t>
            </a:r>
            <a:r>
              <a:rPr lang="en-US" sz="7701" spc="-154" b="true">
                <a:solidFill>
                  <a:srgbClr val="7CD8D9"/>
                </a:solidFill>
                <a:latin typeface="Roboto Bold"/>
                <a:ea typeface="Roboto Bold"/>
                <a:cs typeface="Roboto Bold"/>
                <a:sym typeface="Roboto Bold"/>
              </a:rPr>
              <a:t>Real Impact.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8640" y="2906649"/>
            <a:ext cx="7205472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975" spc="-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Floods and landslides continue to devastate communities across Sri Lanka.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4944" y="4269486"/>
            <a:ext cx="5193792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 spc="-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Loss of life, </a:t>
            </a:r>
            <a:r>
              <a:rPr lang="en-US" sz="2797" spc="-55" b="true">
                <a:solidFill>
                  <a:srgbClr val="D15D3C"/>
                </a:solidFill>
                <a:latin typeface="Roboto Bold"/>
                <a:ea typeface="Roboto Bold"/>
                <a:cs typeface="Roboto Bold"/>
                <a:sym typeface="Roboto Bold"/>
              </a:rPr>
              <a:t>infrastructure damage</a:t>
            </a:r>
            <a:r>
              <a:rPr lang="en-US" sz="2797" spc="-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797" spc="-55" b="true">
                <a:solidFill>
                  <a:srgbClr val="D15D3C"/>
                </a:solidFill>
                <a:latin typeface="Roboto Bold"/>
                <a:ea typeface="Roboto Bold"/>
                <a:cs typeface="Roboto Bold"/>
                <a:sym typeface="Roboto Bold"/>
              </a:rPr>
              <a:t>transport disruption</a:t>
            </a:r>
            <a:r>
              <a:rPr lang="en-US" sz="2797" spc="-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and significant </a:t>
            </a:r>
            <a:r>
              <a:rPr lang="en-US" sz="2797" spc="-55" b="true">
                <a:solidFill>
                  <a:srgbClr val="D15D3C"/>
                </a:solidFill>
                <a:latin typeface="Roboto Bold"/>
                <a:ea typeface="Roboto Bold"/>
                <a:cs typeface="Roboto Bold"/>
                <a:sym typeface="Roboto Bold"/>
              </a:rPr>
              <a:t>economic losses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7700" y="5572125"/>
            <a:ext cx="6543675" cy="219075"/>
          </a:xfrm>
          <a:custGeom>
            <a:avLst/>
            <a:gdLst/>
            <a:ahLst/>
            <a:cxnLst/>
            <a:rect r="r" b="b" t="t" l="l"/>
            <a:pathLst>
              <a:path h="219075" w="6543675">
                <a:moveTo>
                  <a:pt x="0" y="0"/>
                </a:moveTo>
                <a:lnTo>
                  <a:pt x="6543675" y="0"/>
                </a:lnTo>
                <a:lnTo>
                  <a:pt x="6543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4944" y="5867781"/>
            <a:ext cx="552297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 spc="-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High-risk areas: </a:t>
            </a:r>
            <a:r>
              <a:rPr lang="en-US" sz="2797" spc="-55" b="true">
                <a:solidFill>
                  <a:srgbClr val="7CD8D9"/>
                </a:solidFill>
                <a:latin typeface="Roboto Bold"/>
                <a:ea typeface="Roboto Bold"/>
                <a:cs typeface="Roboto Bold"/>
                <a:sym typeface="Roboto Bold"/>
              </a:rPr>
              <a:t>Ratnapura, Kegalle, Badulla, Nuwara Eliya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7700" y="6858000"/>
            <a:ext cx="6543675" cy="219075"/>
          </a:xfrm>
          <a:custGeom>
            <a:avLst/>
            <a:gdLst/>
            <a:ahLst/>
            <a:cxnLst/>
            <a:rect r="r" b="b" t="t" l="l"/>
            <a:pathLst>
              <a:path h="219075" w="6543675">
                <a:moveTo>
                  <a:pt x="0" y="0"/>
                </a:moveTo>
                <a:lnTo>
                  <a:pt x="6543675" y="0"/>
                </a:lnTo>
                <a:lnTo>
                  <a:pt x="6543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94944" y="7057263"/>
            <a:ext cx="6144768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 spc="-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Driven by monsoon rainfall, urbanization, deforestation, land use changes, and climate variability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7700" y="8353425"/>
            <a:ext cx="6543675" cy="219075"/>
          </a:xfrm>
          <a:custGeom>
            <a:avLst/>
            <a:gdLst/>
            <a:ahLst/>
            <a:cxnLst/>
            <a:rect r="r" b="b" t="t" l="l"/>
            <a:pathLst>
              <a:path h="219075" w="6543675">
                <a:moveTo>
                  <a:pt x="0" y="0"/>
                </a:moveTo>
                <a:lnTo>
                  <a:pt x="6543675" y="0"/>
                </a:lnTo>
                <a:lnTo>
                  <a:pt x="6543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94944" y="8840343"/>
            <a:ext cx="585216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spc="-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Current warning systems are separate, hazard-specific, and reactive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97696" y="4122420"/>
            <a:ext cx="109728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9"/>
              </a:lnSpc>
            </a:pPr>
            <a:r>
              <a:rPr lang="en-US" b="true" sz="2691" spc="-5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Kegalle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29850" y="4495800"/>
            <a:ext cx="1752600" cy="866775"/>
          </a:xfrm>
          <a:custGeom>
            <a:avLst/>
            <a:gdLst/>
            <a:ahLst/>
            <a:cxnLst/>
            <a:rect r="r" b="b" t="t" l="l"/>
            <a:pathLst>
              <a:path h="866775" w="1752600">
                <a:moveTo>
                  <a:pt x="0" y="0"/>
                </a:moveTo>
                <a:lnTo>
                  <a:pt x="1752600" y="0"/>
                </a:lnTo>
                <a:lnTo>
                  <a:pt x="17526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691104" y="4943475"/>
            <a:ext cx="179222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7"/>
              </a:lnSpc>
            </a:pPr>
            <a:r>
              <a:rPr lang="en-US" b="true" sz="2514" spc="-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Nuwara Eliya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839700" y="5353050"/>
            <a:ext cx="4362450" cy="1295400"/>
          </a:xfrm>
          <a:custGeom>
            <a:avLst/>
            <a:gdLst/>
            <a:ahLst/>
            <a:cxnLst/>
            <a:rect r="r" b="b" t="t" l="l"/>
            <a:pathLst>
              <a:path h="1295400" w="4362450">
                <a:moveTo>
                  <a:pt x="0" y="0"/>
                </a:moveTo>
                <a:lnTo>
                  <a:pt x="4362450" y="0"/>
                </a:lnTo>
                <a:lnTo>
                  <a:pt x="4362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723376" y="7166610"/>
            <a:ext cx="15544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2"/>
              </a:lnSpc>
            </a:pPr>
            <a:r>
              <a:rPr lang="en-US" b="true" sz="2726" spc="-5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Ratnapura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229850" y="7286625"/>
            <a:ext cx="1752600" cy="428625"/>
          </a:xfrm>
          <a:custGeom>
            <a:avLst/>
            <a:gdLst/>
            <a:ahLst/>
            <a:cxnLst/>
            <a:rect r="r" b="b" t="t" l="l"/>
            <a:pathLst>
              <a:path h="428625" w="1752600">
                <a:moveTo>
                  <a:pt x="0" y="0"/>
                </a:moveTo>
                <a:lnTo>
                  <a:pt x="1752600" y="0"/>
                </a:lnTo>
                <a:lnTo>
                  <a:pt x="1752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691104" y="7068503"/>
            <a:ext cx="109728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b="true" sz="2656" spc="-5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Badulla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3925550" y="6638925"/>
            <a:ext cx="1752600" cy="1076325"/>
          </a:xfrm>
          <a:custGeom>
            <a:avLst/>
            <a:gdLst/>
            <a:ahLst/>
            <a:cxnLst/>
            <a:rect r="r" b="b" t="t" l="l"/>
            <a:pathLst>
              <a:path h="1076325" w="1752600">
                <a:moveTo>
                  <a:pt x="0" y="0"/>
                </a:moveTo>
                <a:lnTo>
                  <a:pt x="1752600" y="0"/>
                </a:lnTo>
                <a:lnTo>
                  <a:pt x="1752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1792" y="331872"/>
            <a:ext cx="5687568" cy="1344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64"/>
              </a:lnSpc>
            </a:pPr>
            <a:r>
              <a:rPr lang="en-US" sz="783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One System.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09360" y="356845"/>
            <a:ext cx="8449056" cy="1319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65"/>
              </a:lnSpc>
            </a:pPr>
            <a:r>
              <a:rPr lang="en-US" sz="7689" b="true">
                <a:solidFill>
                  <a:srgbClr val="41A8B6"/>
                </a:solidFill>
                <a:latin typeface="Roboto Bold"/>
                <a:ea typeface="Roboto Bold"/>
                <a:cs typeface="Roboto Bold"/>
                <a:sym typeface="Roboto Bold"/>
              </a:rPr>
              <a:t>Smarter Response.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21792" y="3831608"/>
            <a:ext cx="3714750" cy="4295775"/>
          </a:xfrm>
          <a:custGeom>
            <a:avLst/>
            <a:gdLst/>
            <a:ahLst/>
            <a:cxnLst/>
            <a:rect r="r" b="b" t="t" l="l"/>
            <a:pathLst>
              <a:path h="4295775" w="3714750">
                <a:moveTo>
                  <a:pt x="0" y="0"/>
                </a:moveTo>
                <a:lnTo>
                  <a:pt x="3714750" y="0"/>
                </a:lnTo>
                <a:lnTo>
                  <a:pt x="3714750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8092" y="4260233"/>
            <a:ext cx="1962150" cy="1295400"/>
          </a:xfrm>
          <a:custGeom>
            <a:avLst/>
            <a:gdLst/>
            <a:ahLst/>
            <a:cxnLst/>
            <a:rect r="r" b="b" t="t" l="l"/>
            <a:pathLst>
              <a:path h="1295400" w="1962150">
                <a:moveTo>
                  <a:pt x="0" y="0"/>
                </a:moveTo>
                <a:lnTo>
                  <a:pt x="1962150" y="0"/>
                </a:lnTo>
                <a:lnTo>
                  <a:pt x="1962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82268" y="5626547"/>
            <a:ext cx="2103120" cy="49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6"/>
              </a:lnSpc>
            </a:pPr>
            <a:r>
              <a:rPr lang="en-US" b="true" sz="2868">
                <a:solidFill>
                  <a:srgbClr val="41A8B6"/>
                </a:solidFill>
                <a:latin typeface="Roboto Bold"/>
                <a:ea typeface="Roboto Bold"/>
                <a:cs typeface="Roboto Bold"/>
                <a:sym typeface="Roboto Bold"/>
              </a:rPr>
              <a:t>PREDICTION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0204" y="6238451"/>
            <a:ext cx="3218688" cy="1515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3"/>
              </a:lnSpc>
            </a:pPr>
            <a:r>
              <a:rPr lang="en-US" sz="219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AI-driven models forecast heavy rainfall and assess flood and landslide risk across Sri Lanka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974717" y="3831608"/>
            <a:ext cx="3714750" cy="4295775"/>
          </a:xfrm>
          <a:custGeom>
            <a:avLst/>
            <a:gdLst/>
            <a:ahLst/>
            <a:cxnLst/>
            <a:rect r="r" b="b" t="t" l="l"/>
            <a:pathLst>
              <a:path h="4295775" w="3714750">
                <a:moveTo>
                  <a:pt x="0" y="0"/>
                </a:moveTo>
                <a:lnTo>
                  <a:pt x="3714750" y="0"/>
                </a:lnTo>
                <a:lnTo>
                  <a:pt x="3714750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851017" y="4050683"/>
            <a:ext cx="1743075" cy="1504950"/>
          </a:xfrm>
          <a:custGeom>
            <a:avLst/>
            <a:gdLst/>
            <a:ahLst/>
            <a:cxnLst/>
            <a:rect r="r" b="b" t="t" l="l"/>
            <a:pathLst>
              <a:path h="1504950" w="1743075">
                <a:moveTo>
                  <a:pt x="0" y="0"/>
                </a:moveTo>
                <a:lnTo>
                  <a:pt x="1743075" y="0"/>
                </a:lnTo>
                <a:lnTo>
                  <a:pt x="1743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606796" y="5626547"/>
            <a:ext cx="2359152" cy="49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6"/>
              </a:lnSpc>
            </a:pPr>
            <a:r>
              <a:rPr lang="en-US" b="true" sz="2868">
                <a:solidFill>
                  <a:srgbClr val="41A8B6"/>
                </a:solidFill>
                <a:latin typeface="Roboto Bold"/>
                <a:ea typeface="Roboto Bold"/>
                <a:cs typeface="Roboto Bold"/>
                <a:sym typeface="Roboto Bold"/>
              </a:rPr>
              <a:t>ASSESSMENT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15356" y="6210326"/>
            <a:ext cx="2395728" cy="156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Estimate potential impacts on people, infrastructure, and livelihoods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327642" y="3831608"/>
            <a:ext cx="3933825" cy="4295775"/>
          </a:xfrm>
          <a:custGeom>
            <a:avLst/>
            <a:gdLst/>
            <a:ahLst/>
            <a:cxnLst/>
            <a:rect r="r" b="b" t="t" l="l"/>
            <a:pathLst>
              <a:path h="4295775" w="3933825">
                <a:moveTo>
                  <a:pt x="0" y="0"/>
                </a:moveTo>
                <a:lnTo>
                  <a:pt x="3933825" y="0"/>
                </a:lnTo>
                <a:lnTo>
                  <a:pt x="3933825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03942" y="4260233"/>
            <a:ext cx="1962150" cy="1295400"/>
          </a:xfrm>
          <a:custGeom>
            <a:avLst/>
            <a:gdLst/>
            <a:ahLst/>
            <a:cxnLst/>
            <a:rect r="r" b="b" t="t" l="l"/>
            <a:pathLst>
              <a:path h="1295400" w="1962150">
                <a:moveTo>
                  <a:pt x="0" y="0"/>
                </a:moveTo>
                <a:lnTo>
                  <a:pt x="1962150" y="0"/>
                </a:lnTo>
                <a:lnTo>
                  <a:pt x="1962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648444" y="5620884"/>
            <a:ext cx="3273552" cy="50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6"/>
              </a:lnSpc>
            </a:pPr>
            <a:r>
              <a:rPr lang="en-US" b="true" sz="2797">
                <a:solidFill>
                  <a:srgbClr val="41A8B6"/>
                </a:solidFill>
                <a:latin typeface="Roboto Bold"/>
                <a:ea typeface="Roboto Bold"/>
                <a:cs typeface="Roboto Bold"/>
                <a:sym typeface="Roboto Bold"/>
              </a:rPr>
              <a:t>DECISION SUPPORT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31324" y="6210326"/>
            <a:ext cx="2670048" cy="156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Generate explainable risk insights and prioritized response recommendations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690092" y="3831608"/>
            <a:ext cx="3924300" cy="4295775"/>
          </a:xfrm>
          <a:custGeom>
            <a:avLst/>
            <a:gdLst/>
            <a:ahLst/>
            <a:cxnLst/>
            <a:rect r="r" b="b" t="t" l="l"/>
            <a:pathLst>
              <a:path h="4295775" w="3924300">
                <a:moveTo>
                  <a:pt x="0" y="0"/>
                </a:moveTo>
                <a:lnTo>
                  <a:pt x="3924300" y="0"/>
                </a:lnTo>
                <a:lnTo>
                  <a:pt x="3924300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556867" y="4050683"/>
            <a:ext cx="2181225" cy="1504950"/>
          </a:xfrm>
          <a:custGeom>
            <a:avLst/>
            <a:gdLst/>
            <a:ahLst/>
            <a:cxnLst/>
            <a:rect r="r" b="b" t="t" l="l"/>
            <a:pathLst>
              <a:path h="1504950" w="2181225">
                <a:moveTo>
                  <a:pt x="0" y="0"/>
                </a:moveTo>
                <a:lnTo>
                  <a:pt x="2181225" y="0"/>
                </a:lnTo>
                <a:lnTo>
                  <a:pt x="2181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714220" y="5622234"/>
            <a:ext cx="1865376" cy="507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5"/>
              </a:lnSpc>
            </a:pPr>
            <a:r>
              <a:rPr lang="en-US" b="true" sz="2904">
                <a:solidFill>
                  <a:srgbClr val="41A8B6"/>
                </a:solidFill>
                <a:latin typeface="Roboto Bold"/>
                <a:ea typeface="Roboto Bold"/>
                <a:cs typeface="Roboto Bold"/>
                <a:sym typeface="Roboto Bold"/>
              </a:rPr>
              <a:t>RESPONSE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38732" y="6238451"/>
            <a:ext cx="2907792" cy="1515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3"/>
              </a:lnSpc>
            </a:pPr>
            <a:r>
              <a:rPr lang="en-US" sz="219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Coordinate agencies and mobilize resources for rapid, effective emergency actions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327017" y="5336558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679942" y="5336558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032867" y="5336558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364867" y="7908308"/>
            <a:ext cx="4581525" cy="1076325"/>
          </a:xfrm>
          <a:custGeom>
            <a:avLst/>
            <a:gdLst/>
            <a:ahLst/>
            <a:cxnLst/>
            <a:rect r="r" b="b" t="t" l="l"/>
            <a:pathLst>
              <a:path h="1076325" w="4581525">
                <a:moveTo>
                  <a:pt x="0" y="0"/>
                </a:moveTo>
                <a:lnTo>
                  <a:pt x="4581525" y="0"/>
                </a:lnTo>
                <a:lnTo>
                  <a:pt x="4581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717792" y="7908308"/>
            <a:ext cx="228600" cy="1076325"/>
          </a:xfrm>
          <a:custGeom>
            <a:avLst/>
            <a:gdLst/>
            <a:ahLst/>
            <a:cxnLst/>
            <a:rect r="r" b="b" t="t" l="l"/>
            <a:pathLst>
              <a:path h="1076325" w="228600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289792" y="7908308"/>
            <a:ext cx="228600" cy="1076325"/>
          </a:xfrm>
          <a:custGeom>
            <a:avLst/>
            <a:gdLst/>
            <a:ahLst/>
            <a:cxnLst/>
            <a:rect r="r" b="b" t="t" l="l"/>
            <a:pathLst>
              <a:path h="1076325" w="228600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851642" y="7908308"/>
            <a:ext cx="5019675" cy="1076325"/>
          </a:xfrm>
          <a:custGeom>
            <a:avLst/>
            <a:gdLst/>
            <a:ahLst/>
            <a:cxnLst/>
            <a:rect r="r" b="b" t="t" l="l"/>
            <a:pathLst>
              <a:path h="1076325" w="5019675">
                <a:moveTo>
                  <a:pt x="0" y="0"/>
                </a:moveTo>
                <a:lnTo>
                  <a:pt x="5019675" y="0"/>
                </a:lnTo>
                <a:lnTo>
                  <a:pt x="5019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155942" y="8117858"/>
            <a:ext cx="3924300" cy="1504950"/>
          </a:xfrm>
          <a:custGeom>
            <a:avLst/>
            <a:gdLst/>
            <a:ahLst/>
            <a:cxnLst/>
            <a:rect r="r" b="b" t="t" l="l"/>
            <a:pathLst>
              <a:path h="1504950" w="3924300">
                <a:moveTo>
                  <a:pt x="0" y="0"/>
                </a:moveTo>
                <a:lnTo>
                  <a:pt x="3924300" y="0"/>
                </a:lnTo>
                <a:lnTo>
                  <a:pt x="39243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375017" y="8336933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478012" y="8563424"/>
            <a:ext cx="2304288" cy="696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265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EARLY ALERTS SAVE LIVES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36854" y="1870932"/>
            <a:ext cx="8650224" cy="44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integrated, AI-driven system for flood and landslide risk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36854" y="2334159"/>
            <a:ext cx="9326880" cy="45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Four components working together from prediction to response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36854" y="2811421"/>
            <a:ext cx="10369296" cy="45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58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Timely, explainable, inclusive alerts and prioritized actions for Sri Lanka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928" y="560878"/>
            <a:ext cx="14063472" cy="171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26"/>
              </a:lnSpc>
            </a:pPr>
            <a:r>
              <a:rPr lang="en-US" sz="6526" spc="-13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Component 1</a:t>
            </a:r>
          </a:p>
          <a:p>
            <a:pPr algn="l">
              <a:lnSpc>
                <a:spcPts val="6526"/>
              </a:lnSpc>
            </a:pPr>
            <a:r>
              <a:rPr lang="en-US" sz="6526" spc="-130" b="true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Flood Severity Assessment &amp; Mapping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6928" y="2744813"/>
            <a:ext cx="3401568" cy="27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b="true" sz="2017" spc="-40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MULTI-SOURCE DATA INPUTS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8625" y="3000375"/>
            <a:ext cx="4143375" cy="1285875"/>
          </a:xfrm>
          <a:custGeom>
            <a:avLst/>
            <a:gdLst/>
            <a:ahLst/>
            <a:cxnLst/>
            <a:rect r="r" b="b" t="t" l="l"/>
            <a:pathLst>
              <a:path h="1285875" w="4143375">
                <a:moveTo>
                  <a:pt x="0" y="0"/>
                </a:moveTo>
                <a:lnTo>
                  <a:pt x="4143375" y="0"/>
                </a:lnTo>
                <a:lnTo>
                  <a:pt x="4143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6384" y="3413570"/>
            <a:ext cx="82296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-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Rainfall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8625" y="4286250"/>
            <a:ext cx="4143375" cy="1285875"/>
          </a:xfrm>
          <a:custGeom>
            <a:avLst/>
            <a:gdLst/>
            <a:ahLst/>
            <a:cxnLst/>
            <a:rect r="r" b="b" t="t" l="l"/>
            <a:pathLst>
              <a:path h="1285875" w="4143375">
                <a:moveTo>
                  <a:pt x="0" y="0"/>
                </a:moveTo>
                <a:lnTo>
                  <a:pt x="4143375" y="0"/>
                </a:lnTo>
                <a:lnTo>
                  <a:pt x="4143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6384" y="4583049"/>
            <a:ext cx="64008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2088" spc="-4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River</a:t>
            </a:r>
          </a:p>
          <a:p>
            <a:pPr algn="l">
              <a:lnSpc>
                <a:spcPts val="2506"/>
              </a:lnSpc>
            </a:pPr>
            <a:r>
              <a:rPr lang="en-US" sz="2088" spc="-4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levels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8625" y="5353050"/>
            <a:ext cx="4143375" cy="1295400"/>
          </a:xfrm>
          <a:custGeom>
            <a:avLst/>
            <a:gdLst/>
            <a:ahLst/>
            <a:cxnLst/>
            <a:rect r="r" b="b" t="t" l="l"/>
            <a:pathLst>
              <a:path h="1295400" w="4143375">
                <a:moveTo>
                  <a:pt x="0" y="0"/>
                </a:moveTo>
                <a:lnTo>
                  <a:pt x="4143375" y="0"/>
                </a:lnTo>
                <a:lnTo>
                  <a:pt x="4143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86384" y="5714619"/>
            <a:ext cx="142646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-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Satellite observations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28625" y="6638925"/>
            <a:ext cx="4143375" cy="1295400"/>
          </a:xfrm>
          <a:custGeom>
            <a:avLst/>
            <a:gdLst/>
            <a:ahLst/>
            <a:cxnLst/>
            <a:rect r="r" b="b" t="t" l="l"/>
            <a:pathLst>
              <a:path h="1295400" w="4143375">
                <a:moveTo>
                  <a:pt x="0" y="0"/>
                </a:moveTo>
                <a:lnTo>
                  <a:pt x="4143375" y="0"/>
                </a:lnTo>
                <a:lnTo>
                  <a:pt x="4143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86384" y="6897624"/>
            <a:ext cx="102412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Terrain &amp;</a:t>
            </a:r>
          </a:p>
          <a:p>
            <a:pPr algn="l">
              <a:lnSpc>
                <a:spcPts val="2549"/>
              </a:lnSpc>
            </a:pPr>
            <a:r>
              <a:rPr lang="en-US" sz="2124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land use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28625" y="7715250"/>
            <a:ext cx="4143375" cy="1504950"/>
          </a:xfrm>
          <a:custGeom>
            <a:avLst/>
            <a:gdLst/>
            <a:ahLst/>
            <a:cxnLst/>
            <a:rect r="r" b="b" t="t" l="l"/>
            <a:pathLst>
              <a:path h="1504950" w="4143375">
                <a:moveTo>
                  <a:pt x="0" y="0"/>
                </a:moveTo>
                <a:lnTo>
                  <a:pt x="4143375" y="0"/>
                </a:lnTo>
                <a:lnTo>
                  <a:pt x="4143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86384" y="8059623"/>
            <a:ext cx="1170432" cy="85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2017" spc="-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Historical floods &amp; population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572000" y="3638550"/>
            <a:ext cx="657225" cy="4933950"/>
          </a:xfrm>
          <a:custGeom>
            <a:avLst/>
            <a:gdLst/>
            <a:ahLst/>
            <a:cxnLst/>
            <a:rect r="r" b="b" t="t" l="l"/>
            <a:pathLst>
              <a:path h="4933950" w="657225">
                <a:moveTo>
                  <a:pt x="0" y="0"/>
                </a:moveTo>
                <a:lnTo>
                  <a:pt x="657225" y="0"/>
                </a:lnTo>
                <a:lnTo>
                  <a:pt x="65722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572000" y="6000750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572000" y="7067550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000625" y="535305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596128" y="2754788"/>
            <a:ext cx="3072384" cy="26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b="true" sz="1982" spc="-39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PROCESSING &amp; ANALYTICS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5219700" y="3000375"/>
            <a:ext cx="3714750" cy="5791200"/>
          </a:xfrm>
          <a:custGeom>
            <a:avLst/>
            <a:gdLst/>
            <a:ahLst/>
            <a:cxnLst/>
            <a:rect r="r" b="b" t="t" l="l"/>
            <a:pathLst>
              <a:path h="5791200" w="3714750">
                <a:moveTo>
                  <a:pt x="0" y="0"/>
                </a:moveTo>
                <a:lnTo>
                  <a:pt x="3714750" y="0"/>
                </a:lnTo>
                <a:lnTo>
                  <a:pt x="371475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760720" y="3604260"/>
            <a:ext cx="226771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2053" spc="-4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Preprocess and fuse geospatial data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743700" y="4286250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657850" y="4495800"/>
            <a:ext cx="2838450" cy="219075"/>
          </a:xfrm>
          <a:custGeom>
            <a:avLst/>
            <a:gdLst/>
            <a:ahLst/>
            <a:cxnLst/>
            <a:rect r="r" b="b" t="t" l="l"/>
            <a:pathLst>
              <a:path h="219075" w="2838450">
                <a:moveTo>
                  <a:pt x="0" y="0"/>
                </a:moveTo>
                <a:lnTo>
                  <a:pt x="2838450" y="0"/>
                </a:lnTo>
                <a:lnTo>
                  <a:pt x="283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760720" y="4860798"/>
            <a:ext cx="254203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-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AI/ML models with explainable risk factors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743700" y="557212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657850" y="5572125"/>
            <a:ext cx="2838450" cy="428625"/>
          </a:xfrm>
          <a:custGeom>
            <a:avLst/>
            <a:gdLst/>
            <a:ahLst/>
            <a:cxnLst/>
            <a:rect r="r" b="b" t="t" l="l"/>
            <a:pathLst>
              <a:path h="428625" w="2838450">
                <a:moveTo>
                  <a:pt x="0" y="0"/>
                </a:moveTo>
                <a:lnTo>
                  <a:pt x="2838450" y="0"/>
                </a:lnTo>
                <a:lnTo>
                  <a:pt x="2838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760720" y="6074664"/>
            <a:ext cx="221284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Assess flood extent and severity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6743700" y="6858000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657850" y="6858000"/>
            <a:ext cx="2838450" cy="219075"/>
          </a:xfrm>
          <a:custGeom>
            <a:avLst/>
            <a:gdLst/>
            <a:ahLst/>
            <a:cxnLst/>
            <a:rect r="r" b="b" t="t" l="l"/>
            <a:pathLst>
              <a:path h="219075" w="2838450">
                <a:moveTo>
                  <a:pt x="0" y="0"/>
                </a:moveTo>
                <a:lnTo>
                  <a:pt x="2838450" y="0"/>
                </a:lnTo>
                <a:lnTo>
                  <a:pt x="283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760720" y="7341870"/>
            <a:ext cx="2267712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2017" spc="-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Estimate affected population, buildings and infrastructure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6962775" y="8572500"/>
            <a:ext cx="2619375" cy="857250"/>
          </a:xfrm>
          <a:custGeom>
            <a:avLst/>
            <a:gdLst/>
            <a:ahLst/>
            <a:cxnLst/>
            <a:rect r="r" b="b" t="t" l="l"/>
            <a:pathLst>
              <a:path h="857250" w="2619375">
                <a:moveTo>
                  <a:pt x="0" y="0"/>
                </a:moveTo>
                <a:lnTo>
                  <a:pt x="2619375" y="0"/>
                </a:lnTo>
                <a:lnTo>
                  <a:pt x="2619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777472" y="2754788"/>
            <a:ext cx="3694176" cy="26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b="true" sz="1982" spc="-39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DYNAMIC FLOOD SEVERITY MAP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9572625" y="3000375"/>
            <a:ext cx="8286750" cy="4933950"/>
          </a:xfrm>
          <a:custGeom>
            <a:avLst/>
            <a:gdLst/>
            <a:ahLst/>
            <a:cxnLst/>
            <a:rect r="r" b="b" t="t" l="l"/>
            <a:pathLst>
              <a:path h="4933950" w="8286750">
                <a:moveTo>
                  <a:pt x="0" y="0"/>
                </a:moveTo>
                <a:lnTo>
                  <a:pt x="8286750" y="0"/>
                </a:lnTo>
                <a:lnTo>
                  <a:pt x="828675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8924925" y="514350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572625" y="7924800"/>
            <a:ext cx="8286750" cy="1933575"/>
          </a:xfrm>
          <a:custGeom>
            <a:avLst/>
            <a:gdLst/>
            <a:ahLst/>
            <a:cxnLst/>
            <a:rect r="r" b="b" t="t" l="l"/>
            <a:pathLst>
              <a:path h="1933575" w="8286750">
                <a:moveTo>
                  <a:pt x="0" y="0"/>
                </a:moveTo>
                <a:lnTo>
                  <a:pt x="8286750" y="0"/>
                </a:lnTo>
                <a:lnTo>
                  <a:pt x="8286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0277856" y="8570214"/>
            <a:ext cx="2596896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620" spc="-52" b="true">
                <a:solidFill>
                  <a:srgbClr val="FF6B34"/>
                </a:solidFill>
                <a:latin typeface="Roboto Bold"/>
                <a:ea typeface="Roboto Bold"/>
                <a:cs typeface="Roboto Bold"/>
                <a:sym typeface="Roboto Bold"/>
              </a:rPr>
              <a:t>Actionable insight for response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3058775" y="8353425"/>
            <a:ext cx="228600" cy="1076325"/>
          </a:xfrm>
          <a:custGeom>
            <a:avLst/>
            <a:gdLst/>
            <a:ahLst/>
            <a:cxnLst/>
            <a:rect r="r" b="b" t="t" l="l"/>
            <a:pathLst>
              <a:path h="1076325" w="228600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3368528" y="8359258"/>
            <a:ext cx="3639312" cy="1052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1876" spc="-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Supports evacuation planning</a:t>
            </a:r>
          </a:p>
          <a:p>
            <a:pPr algn="l">
              <a:lnSpc>
                <a:spcPts val="2814"/>
              </a:lnSpc>
            </a:pPr>
            <a:r>
              <a:rPr lang="en-US" sz="1876" spc="-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Enables resource prioritization</a:t>
            </a:r>
          </a:p>
          <a:p>
            <a:pPr algn="l">
              <a:lnSpc>
                <a:spcPts val="2814"/>
              </a:lnSpc>
            </a:pPr>
            <a:r>
              <a:rPr lang="en-US" sz="1876" spc="-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Guides decision-making in real time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5887700" y="5572125"/>
            <a:ext cx="1752600" cy="1933575"/>
          </a:xfrm>
          <a:custGeom>
            <a:avLst/>
            <a:gdLst/>
            <a:ahLst/>
            <a:cxnLst/>
            <a:rect r="r" b="b" t="t" l="l"/>
            <a:pathLst>
              <a:path h="1933575" w="1752600">
                <a:moveTo>
                  <a:pt x="0" y="0"/>
                </a:moveTo>
                <a:lnTo>
                  <a:pt x="1752600" y="0"/>
                </a:lnTo>
                <a:lnTo>
                  <a:pt x="1752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6106775" y="5781675"/>
            <a:ext cx="447675" cy="647700"/>
          </a:xfrm>
          <a:custGeom>
            <a:avLst/>
            <a:gdLst/>
            <a:ahLst/>
            <a:cxnLst/>
            <a:rect r="r" b="b" t="t" l="l"/>
            <a:pathLst>
              <a:path h="647700" w="447675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6605504" y="6054662"/>
            <a:ext cx="36576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sz="1592" spc="-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Low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6106775" y="642937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6605504" y="6461379"/>
            <a:ext cx="82296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805" spc="-3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Medium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6106775" y="6858000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6605504" y="6897434"/>
            <a:ext cx="43891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1"/>
              </a:lnSpc>
            </a:pPr>
            <a:r>
              <a:rPr lang="en-US" sz="1734" spc="-3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High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5216" y="482014"/>
            <a:ext cx="1847088" cy="356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1C99A3"/>
                </a:solidFill>
                <a:latin typeface="Roboto"/>
                <a:ea typeface="Roboto"/>
                <a:cs typeface="Roboto"/>
                <a:sym typeface="Roboto"/>
              </a:rPr>
              <a:t>COMPONENT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6928" y="915888"/>
            <a:ext cx="10131552" cy="176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7"/>
              </a:lnSpc>
            </a:pPr>
            <a:r>
              <a:rPr lang="en-US" sz="6497" spc="-27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Probabilistic Landslide Assessment &amp; Forecasting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5216" y="2584213"/>
            <a:ext cx="7406640" cy="391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>
                <a:solidFill>
                  <a:srgbClr val="1C99A3"/>
                </a:solidFill>
                <a:latin typeface="Roboto"/>
                <a:ea typeface="Roboto"/>
                <a:cs typeface="Roboto"/>
                <a:sym typeface="Roboto"/>
              </a:rPr>
              <a:t>Machine learning and explainability with accessible alerts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5216" y="4009153"/>
            <a:ext cx="4023360" cy="8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2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Real-time landslide probability from provincial to village scale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8625" y="5143500"/>
            <a:ext cx="5238750" cy="219075"/>
          </a:xfrm>
          <a:custGeom>
            <a:avLst/>
            <a:gdLst/>
            <a:ahLst/>
            <a:cxnLst/>
            <a:rect r="r" b="b" t="t" l="l"/>
            <a:pathLst>
              <a:path h="219075" w="5238750">
                <a:moveTo>
                  <a:pt x="0" y="0"/>
                </a:moveTo>
                <a:lnTo>
                  <a:pt x="5238750" y="0"/>
                </a:lnTo>
                <a:lnTo>
                  <a:pt x="5238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5216" y="5356750"/>
            <a:ext cx="4279392" cy="8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2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Explainable AI reveals the key environmental and human drivers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8625" y="6429375"/>
            <a:ext cx="5238750" cy="219075"/>
          </a:xfrm>
          <a:custGeom>
            <a:avLst/>
            <a:gdLst/>
            <a:ahLst/>
            <a:cxnLst/>
            <a:rect r="r" b="b" t="t" l="l"/>
            <a:pathLst>
              <a:path h="219075" w="5238750">
                <a:moveTo>
                  <a:pt x="0" y="0"/>
                </a:moveTo>
                <a:lnTo>
                  <a:pt x="5238750" y="0"/>
                </a:lnTo>
                <a:lnTo>
                  <a:pt x="5238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5216" y="6807217"/>
            <a:ext cx="5120640" cy="8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2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Accessible Web-GIS and 3D maps with Sinhala/Tamil dual-language alerts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28625" y="7715250"/>
            <a:ext cx="5238750" cy="428625"/>
          </a:xfrm>
          <a:custGeom>
            <a:avLst/>
            <a:gdLst/>
            <a:ahLst/>
            <a:cxnLst/>
            <a:rect r="r" b="b" t="t" l="l"/>
            <a:pathLst>
              <a:path h="428625" w="5238750">
                <a:moveTo>
                  <a:pt x="0" y="0"/>
                </a:moveTo>
                <a:lnTo>
                  <a:pt x="5238750" y="0"/>
                </a:lnTo>
                <a:lnTo>
                  <a:pt x="523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85216" y="8134240"/>
            <a:ext cx="4919472" cy="8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230">
                <a:solidFill>
                  <a:srgbClr val="1C99A3"/>
                </a:solidFill>
                <a:latin typeface="Roboto"/>
                <a:ea typeface="Roboto"/>
                <a:cs typeface="Roboto"/>
                <a:sym typeface="Roboto"/>
              </a:rPr>
              <a:t>Powered by </a:t>
            </a:r>
            <a:r>
              <a:rPr lang="en-US" sz="22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Random Forest/XGBoost, PostGIS, Leaflet/MapLibre, WebGL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185772" y="2975229"/>
            <a:ext cx="4139670" cy="1072896"/>
          </a:xfrm>
          <a:custGeom>
            <a:avLst/>
            <a:gdLst/>
            <a:ahLst/>
            <a:cxnLst/>
            <a:rect r="r" b="b" t="t" l="l"/>
            <a:pathLst>
              <a:path h="1072896" w="4139670">
                <a:moveTo>
                  <a:pt x="0" y="0"/>
                </a:moveTo>
                <a:lnTo>
                  <a:pt x="4139669" y="0"/>
                </a:lnTo>
                <a:lnTo>
                  <a:pt x="4139669" y="1072896"/>
                </a:lnTo>
                <a:lnTo>
                  <a:pt x="0" y="10728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066511" y="3000375"/>
            <a:ext cx="4510864" cy="1076325"/>
          </a:xfrm>
          <a:custGeom>
            <a:avLst/>
            <a:gdLst/>
            <a:ahLst/>
            <a:cxnLst/>
            <a:rect r="r" b="b" t="t" l="l"/>
            <a:pathLst>
              <a:path h="1076325" w="4510864">
                <a:moveTo>
                  <a:pt x="0" y="0"/>
                </a:moveTo>
                <a:lnTo>
                  <a:pt x="4510864" y="0"/>
                </a:lnTo>
                <a:lnTo>
                  <a:pt x="4510864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701" r="0" b="-170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363700" y="3000375"/>
            <a:ext cx="3495675" cy="1076325"/>
          </a:xfrm>
          <a:custGeom>
            <a:avLst/>
            <a:gdLst/>
            <a:ahLst/>
            <a:cxnLst/>
            <a:rect r="r" b="b" t="t" l="l"/>
            <a:pathLst>
              <a:path h="1076325" w="3495675">
                <a:moveTo>
                  <a:pt x="0" y="0"/>
                </a:moveTo>
                <a:lnTo>
                  <a:pt x="3495675" y="0"/>
                </a:lnTo>
                <a:lnTo>
                  <a:pt x="3495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178850" y="3226127"/>
            <a:ext cx="1865376" cy="490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6"/>
              </a:lnSpc>
            </a:pPr>
            <a:r>
              <a:rPr lang="en-US" b="true" sz="283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HIGH RISK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72312" y="3322609"/>
            <a:ext cx="2139696" cy="31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Landslide Risk Alert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47679" y="3165446"/>
            <a:ext cx="2139696" cy="63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Landslide Severity Index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48462" y="9010650"/>
            <a:ext cx="3218688" cy="365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sz="21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Evacuation Immediatly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318780" y="4105275"/>
            <a:ext cx="11508350" cy="4340691"/>
          </a:xfrm>
          <a:custGeom>
            <a:avLst/>
            <a:gdLst/>
            <a:ahLst/>
            <a:cxnLst/>
            <a:rect r="r" b="b" t="t" l="l"/>
            <a:pathLst>
              <a:path h="4340691" w="11508350">
                <a:moveTo>
                  <a:pt x="0" y="0"/>
                </a:moveTo>
                <a:lnTo>
                  <a:pt x="11508351" y="0"/>
                </a:lnTo>
                <a:lnTo>
                  <a:pt x="11508351" y="4340691"/>
                </a:lnTo>
                <a:lnTo>
                  <a:pt x="0" y="43406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58658" r="0" b="-58658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083926" y="3980120"/>
            <a:ext cx="6236310" cy="4411973"/>
          </a:xfrm>
          <a:custGeom>
            <a:avLst/>
            <a:gdLst/>
            <a:ahLst/>
            <a:cxnLst/>
            <a:rect r="r" b="b" t="t" l="l"/>
            <a:pathLst>
              <a:path h="4411973" w="6236310">
                <a:moveTo>
                  <a:pt x="0" y="0"/>
                </a:moveTo>
                <a:lnTo>
                  <a:pt x="6236310" y="0"/>
                </a:lnTo>
                <a:lnTo>
                  <a:pt x="6236310" y="4411973"/>
                </a:lnTo>
                <a:lnTo>
                  <a:pt x="0" y="44119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32680" r="0" b="-49054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559848" y="7577828"/>
            <a:ext cx="3123396" cy="762032"/>
          </a:xfrm>
          <a:custGeom>
            <a:avLst/>
            <a:gdLst/>
            <a:ahLst/>
            <a:cxnLst/>
            <a:rect r="r" b="b" t="t" l="l"/>
            <a:pathLst>
              <a:path h="762032" w="3123396">
                <a:moveTo>
                  <a:pt x="0" y="0"/>
                </a:moveTo>
                <a:lnTo>
                  <a:pt x="3123396" y="0"/>
                </a:lnTo>
                <a:lnTo>
                  <a:pt x="3123396" y="762032"/>
                </a:lnTo>
                <a:lnTo>
                  <a:pt x="0" y="7620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58658" r="0" b="-58658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867995" y="7719480"/>
            <a:ext cx="2072761" cy="12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3"/>
              </a:lnSpc>
            </a:pPr>
            <a:r>
              <a:rPr lang="en-US" sz="75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Landscape probability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6800915" y="7900968"/>
            <a:ext cx="2641261" cy="221858"/>
          </a:xfrm>
          <a:custGeom>
            <a:avLst/>
            <a:gdLst/>
            <a:ahLst/>
            <a:cxnLst/>
            <a:rect r="r" b="b" t="t" l="l"/>
            <a:pathLst>
              <a:path h="221858" w="2641261">
                <a:moveTo>
                  <a:pt x="0" y="0"/>
                </a:moveTo>
                <a:lnTo>
                  <a:pt x="2641261" y="0"/>
                </a:lnTo>
                <a:lnTo>
                  <a:pt x="2641261" y="221857"/>
                </a:lnTo>
                <a:lnTo>
                  <a:pt x="0" y="22185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58658" r="0" b="-58658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698307" y="4996010"/>
            <a:ext cx="2213628" cy="12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"/>
              </a:lnSpc>
            </a:pPr>
            <a:r>
              <a:rPr lang="en-US" sz="73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Top factor contributions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98307" y="5215674"/>
            <a:ext cx="1569664" cy="12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3"/>
              </a:lnSpc>
            </a:pPr>
            <a:r>
              <a:rPr lang="en-US" sz="75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Rainfall intensity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577375" y="5225271"/>
            <a:ext cx="2159126" cy="221858"/>
          </a:xfrm>
          <a:custGeom>
            <a:avLst/>
            <a:gdLst/>
            <a:ahLst/>
            <a:cxnLst/>
            <a:rect r="r" b="b" t="t" l="l"/>
            <a:pathLst>
              <a:path h="221858" w="2159126">
                <a:moveTo>
                  <a:pt x="0" y="0"/>
                </a:moveTo>
                <a:lnTo>
                  <a:pt x="2159126" y="0"/>
                </a:lnTo>
                <a:lnTo>
                  <a:pt x="2159126" y="221857"/>
                </a:lnTo>
                <a:lnTo>
                  <a:pt x="0" y="22185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58658" r="0" b="-58658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6803581" y="5225199"/>
            <a:ext cx="523221" cy="12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"/>
              </a:lnSpc>
            </a:pPr>
            <a:r>
              <a:rPr lang="en-US" sz="73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+0.38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98307" y="5443970"/>
            <a:ext cx="1348301" cy="12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"/>
              </a:lnSpc>
            </a:pPr>
            <a:r>
              <a:rPr lang="en-US" sz="73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Soil saturation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4577375" y="5442305"/>
            <a:ext cx="1687472" cy="221858"/>
          </a:xfrm>
          <a:custGeom>
            <a:avLst/>
            <a:gdLst/>
            <a:ahLst/>
            <a:cxnLst/>
            <a:rect r="r" b="b" t="t" l="l"/>
            <a:pathLst>
              <a:path h="221858" w="1687472">
                <a:moveTo>
                  <a:pt x="0" y="0"/>
                </a:moveTo>
                <a:lnTo>
                  <a:pt x="1687472" y="0"/>
                </a:lnTo>
                <a:lnTo>
                  <a:pt x="1687472" y="221858"/>
                </a:lnTo>
                <a:lnTo>
                  <a:pt x="0" y="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58658" r="0" b="-58658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2698307" y="5660329"/>
            <a:ext cx="1388549" cy="12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"/>
              </a:lnSpc>
            </a:pPr>
            <a:r>
              <a:rPr lang="en-US" sz="77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Slope gradient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4577375" y="5659340"/>
            <a:ext cx="1205337" cy="221858"/>
          </a:xfrm>
          <a:custGeom>
            <a:avLst/>
            <a:gdLst/>
            <a:ahLst/>
            <a:cxnLst/>
            <a:rect r="r" b="b" t="t" l="l"/>
            <a:pathLst>
              <a:path h="221858" w="1205337">
                <a:moveTo>
                  <a:pt x="0" y="0"/>
                </a:moveTo>
                <a:lnTo>
                  <a:pt x="1205337" y="0"/>
                </a:lnTo>
                <a:lnTo>
                  <a:pt x="1205337" y="221857"/>
                </a:lnTo>
                <a:lnTo>
                  <a:pt x="0" y="22185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58658" r="0" b="-58658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290096" y="5876374"/>
            <a:ext cx="733684" cy="221858"/>
          </a:xfrm>
          <a:custGeom>
            <a:avLst/>
            <a:gdLst/>
            <a:ahLst/>
            <a:cxnLst/>
            <a:rect r="r" b="b" t="t" l="l"/>
            <a:pathLst>
              <a:path h="221858" w="733684">
                <a:moveTo>
                  <a:pt x="0" y="0"/>
                </a:moveTo>
                <a:lnTo>
                  <a:pt x="733684" y="0"/>
                </a:lnTo>
                <a:lnTo>
                  <a:pt x="733684" y="221858"/>
                </a:lnTo>
                <a:lnTo>
                  <a:pt x="0" y="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-58658" r="0" b="-58658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290096" y="6093409"/>
            <a:ext cx="733684" cy="221858"/>
          </a:xfrm>
          <a:custGeom>
            <a:avLst/>
            <a:gdLst/>
            <a:ahLst/>
            <a:cxnLst/>
            <a:rect r="r" b="b" t="t" l="l"/>
            <a:pathLst>
              <a:path h="221858" w="733684">
                <a:moveTo>
                  <a:pt x="0" y="0"/>
                </a:moveTo>
                <a:lnTo>
                  <a:pt x="733684" y="0"/>
                </a:lnTo>
                <a:lnTo>
                  <a:pt x="733684" y="221857"/>
                </a:lnTo>
                <a:lnTo>
                  <a:pt x="0" y="22185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-58658" r="0" b="-58658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531164" y="6310443"/>
            <a:ext cx="492616" cy="221858"/>
          </a:xfrm>
          <a:custGeom>
            <a:avLst/>
            <a:gdLst/>
            <a:ahLst/>
            <a:cxnLst/>
            <a:rect r="r" b="b" t="t" l="l"/>
            <a:pathLst>
              <a:path h="221858" w="492616">
                <a:moveTo>
                  <a:pt x="0" y="0"/>
                </a:moveTo>
                <a:lnTo>
                  <a:pt x="492616" y="0"/>
                </a:lnTo>
                <a:lnTo>
                  <a:pt x="492616" y="221858"/>
                </a:lnTo>
                <a:lnTo>
                  <a:pt x="0" y="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58658" r="0" b="-58658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2698307" y="4824505"/>
            <a:ext cx="2636230" cy="13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"/>
              </a:lnSpc>
            </a:pPr>
            <a:r>
              <a:rPr lang="en-US" sz="80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EXPLAINABILITY (SHAP)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803581" y="5443970"/>
            <a:ext cx="523221" cy="12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"/>
              </a:lnSpc>
            </a:pPr>
            <a:r>
              <a:rPr lang="en-US" sz="73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+0.27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803581" y="5662740"/>
            <a:ext cx="523221" cy="12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"/>
              </a:lnSpc>
            </a:pPr>
            <a:r>
              <a:rPr lang="en-US" sz="73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+0.19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698307" y="5894726"/>
            <a:ext cx="885451" cy="12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"/>
              </a:lnSpc>
            </a:pPr>
            <a:r>
              <a:rPr lang="en-US" sz="77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Elevation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710696" y="5894726"/>
            <a:ext cx="523221" cy="12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8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-0.12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698307" y="6123529"/>
            <a:ext cx="1730655" cy="115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"/>
              </a:lnSpc>
            </a:pPr>
            <a:r>
              <a:rPr lang="en-US" sz="71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Land cover (forest)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911935" y="6118706"/>
            <a:ext cx="523221" cy="12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8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-0.99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698307" y="6339888"/>
            <a:ext cx="1730655" cy="12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"/>
              </a:lnSpc>
            </a:pPr>
            <a:r>
              <a:rPr lang="en-US" sz="73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Drainage condition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911935" y="6337477"/>
            <a:ext cx="523221" cy="12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8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-0.77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698307" y="6549134"/>
            <a:ext cx="1247681" cy="12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3"/>
              </a:lnSpc>
            </a:pPr>
            <a:r>
              <a:rPr lang="en-US" sz="75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Slope cutting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911935" y="6556248"/>
            <a:ext cx="523221" cy="12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8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-0.06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698307" y="6939289"/>
            <a:ext cx="1086690" cy="13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"/>
              </a:lnSpc>
            </a:pPr>
            <a:r>
              <a:rPr lang="en-US" sz="80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Probability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509457" y="6939289"/>
            <a:ext cx="986071" cy="13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"/>
              </a:lnSpc>
            </a:pPr>
            <a:r>
              <a:rPr lang="en-US" sz="80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Risk level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698307" y="7066906"/>
            <a:ext cx="1046442" cy="263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D15322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0.78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509457" y="7076552"/>
            <a:ext cx="1086690" cy="24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0"/>
              </a:lnSpc>
            </a:pPr>
            <a:r>
              <a:rPr lang="en-US" sz="1542" b="true">
                <a:solidFill>
                  <a:srgbClr val="D15322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HIGH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905740" y="6939289"/>
            <a:ext cx="523221" cy="13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"/>
              </a:lnSpc>
            </a:pPr>
            <a:r>
              <a:rPr lang="en-US" sz="80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Time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805121" y="7171757"/>
            <a:ext cx="321982" cy="8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"/>
              </a:lnSpc>
            </a:pPr>
            <a:r>
              <a:rPr lang="en-US" sz="50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NOW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867995" y="8114844"/>
            <a:ext cx="422602" cy="13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"/>
              </a:lnSpc>
            </a:pPr>
            <a:r>
              <a:rPr lang="en-US" sz="80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Low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880384" y="8114844"/>
            <a:ext cx="523221" cy="13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"/>
              </a:lnSpc>
            </a:pPr>
            <a:r>
              <a:rPr lang="en-US" sz="80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High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437659" y="7067869"/>
            <a:ext cx="1428796" cy="13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"/>
              </a:lnSpc>
            </a:pPr>
            <a:r>
              <a:rPr lang="en-US" sz="80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Nawalapitiya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296791" y="6236000"/>
            <a:ext cx="965947" cy="16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0"/>
              </a:lnSpc>
            </a:pPr>
            <a:r>
              <a:rPr lang="en-US" sz="107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Nuwara Eliya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928" y="752550"/>
            <a:ext cx="5961888" cy="9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9"/>
              </a:lnSpc>
            </a:pPr>
            <a:r>
              <a:rPr lang="en-US" sz="6809" spc="-3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Component 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6928" y="1632028"/>
            <a:ext cx="7882128" cy="1698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9"/>
              </a:lnSpc>
            </a:pPr>
            <a:r>
              <a:rPr lang="en-US" sz="6509" spc="-325" b="true">
                <a:solidFill>
                  <a:srgbClr val="4196A6"/>
                </a:solidFill>
                <a:latin typeface="Roboto Bold"/>
                <a:ea typeface="Roboto Bold"/>
                <a:cs typeface="Roboto Bold"/>
                <a:sym typeface="Roboto Bold"/>
              </a:rPr>
              <a:t>Human Impact &amp; Decision Support.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1792" y="4030649"/>
            <a:ext cx="6291072" cy="78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Brings hazard data together with population and social vulnerability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8625" y="4924425"/>
            <a:ext cx="6324600" cy="219075"/>
          </a:xfrm>
          <a:custGeom>
            <a:avLst/>
            <a:gdLst/>
            <a:ahLst/>
            <a:cxnLst/>
            <a:rect r="r" b="b" t="t" l="l"/>
            <a:pathLst>
              <a:path h="219075" w="6324600">
                <a:moveTo>
                  <a:pt x="0" y="0"/>
                </a:moveTo>
                <a:lnTo>
                  <a:pt x="6324600" y="0"/>
                </a:lnTo>
                <a:lnTo>
                  <a:pt x="6324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1792" y="5203367"/>
            <a:ext cx="5742432" cy="78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Considers critical infrastructure, access, history, uncertainty, and temporal overlap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8625" y="6210300"/>
            <a:ext cx="6324600" cy="219075"/>
          </a:xfrm>
          <a:custGeom>
            <a:avLst/>
            <a:gdLst/>
            <a:ahLst/>
            <a:cxnLst/>
            <a:rect r="r" b="b" t="t" l="l"/>
            <a:pathLst>
              <a:path h="219075" w="6324600">
                <a:moveTo>
                  <a:pt x="0" y="0"/>
                </a:moveTo>
                <a:lnTo>
                  <a:pt x="6324600" y="0"/>
                </a:lnTo>
                <a:lnTo>
                  <a:pt x="6324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1792" y="6427520"/>
            <a:ext cx="4389120" cy="78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 joint and cascade risks for deeper insight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28625" y="7286625"/>
            <a:ext cx="6324600" cy="219075"/>
          </a:xfrm>
          <a:custGeom>
            <a:avLst/>
            <a:gdLst/>
            <a:ahLst/>
            <a:cxnLst/>
            <a:rect r="r" b="b" t="t" l="l"/>
            <a:pathLst>
              <a:path h="219075" w="6324600">
                <a:moveTo>
                  <a:pt x="0" y="0"/>
                </a:moveTo>
                <a:lnTo>
                  <a:pt x="6324600" y="0"/>
                </a:lnTo>
                <a:lnTo>
                  <a:pt x="6324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21792" y="7610525"/>
            <a:ext cx="4279392" cy="78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Produces clear priority scores for fair, explainable decisions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28625" y="8572500"/>
            <a:ext cx="6324600" cy="219075"/>
          </a:xfrm>
          <a:custGeom>
            <a:avLst/>
            <a:gdLst/>
            <a:ahLst/>
            <a:cxnLst/>
            <a:rect r="r" b="b" t="t" l="l"/>
            <a:pathLst>
              <a:path h="219075" w="6324600">
                <a:moveTo>
                  <a:pt x="0" y="0"/>
                </a:moveTo>
                <a:lnTo>
                  <a:pt x="6324600" y="0"/>
                </a:lnTo>
                <a:lnTo>
                  <a:pt x="6324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21792" y="8793530"/>
            <a:ext cx="4425696" cy="78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Delivers graded alerts, actions, and prioritized response zones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705850" y="428625"/>
            <a:ext cx="7082484" cy="6967537"/>
          </a:xfrm>
          <a:custGeom>
            <a:avLst/>
            <a:gdLst/>
            <a:ahLst/>
            <a:cxnLst/>
            <a:rect r="r" b="b" t="t" l="l"/>
            <a:pathLst>
              <a:path h="6967537" w="7082484">
                <a:moveTo>
                  <a:pt x="0" y="0"/>
                </a:moveTo>
                <a:lnTo>
                  <a:pt x="7082484" y="0"/>
                </a:lnTo>
                <a:lnTo>
                  <a:pt x="7082484" y="6967537"/>
                </a:lnTo>
                <a:lnTo>
                  <a:pt x="0" y="69675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716000" y="1495425"/>
            <a:ext cx="2400300" cy="219075"/>
          </a:xfrm>
          <a:custGeom>
            <a:avLst/>
            <a:gdLst/>
            <a:ahLst/>
            <a:cxnLst/>
            <a:rect r="r" b="b" t="t" l="l"/>
            <a:pathLst>
              <a:path h="219075" w="2400300">
                <a:moveTo>
                  <a:pt x="0" y="0"/>
                </a:moveTo>
                <a:lnTo>
                  <a:pt x="2400300" y="0"/>
                </a:lnTo>
                <a:lnTo>
                  <a:pt x="2400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312896" y="1169390"/>
            <a:ext cx="1682496" cy="71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spc="-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Flood and Landslide Risk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925550" y="2571750"/>
            <a:ext cx="2190750" cy="428625"/>
          </a:xfrm>
          <a:custGeom>
            <a:avLst/>
            <a:gdLst/>
            <a:ahLst/>
            <a:cxnLst/>
            <a:rect r="r" b="b" t="t" l="l"/>
            <a:pathLst>
              <a:path h="428625" w="2190750">
                <a:moveTo>
                  <a:pt x="0" y="0"/>
                </a:moveTo>
                <a:lnTo>
                  <a:pt x="2190750" y="0"/>
                </a:lnTo>
                <a:lnTo>
                  <a:pt x="2190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312896" y="2403830"/>
            <a:ext cx="1298448" cy="71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spc="-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Population Density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925550" y="3857625"/>
            <a:ext cx="2190750" cy="219075"/>
          </a:xfrm>
          <a:custGeom>
            <a:avLst/>
            <a:gdLst/>
            <a:ahLst/>
            <a:cxnLst/>
            <a:rect r="r" b="b" t="t" l="l"/>
            <a:pathLst>
              <a:path h="219075" w="2190750">
                <a:moveTo>
                  <a:pt x="0" y="0"/>
                </a:moveTo>
                <a:lnTo>
                  <a:pt x="2190750" y="0"/>
                </a:lnTo>
                <a:lnTo>
                  <a:pt x="219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312896" y="3576548"/>
            <a:ext cx="1444752" cy="71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spc="-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Vulnerability Factors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925550" y="4924425"/>
            <a:ext cx="2190750" cy="438150"/>
          </a:xfrm>
          <a:custGeom>
            <a:avLst/>
            <a:gdLst/>
            <a:ahLst/>
            <a:cxnLst/>
            <a:rect r="r" b="b" t="t" l="l"/>
            <a:pathLst>
              <a:path h="438150" w="2190750">
                <a:moveTo>
                  <a:pt x="0" y="0"/>
                </a:moveTo>
                <a:lnTo>
                  <a:pt x="2190750" y="0"/>
                </a:lnTo>
                <a:lnTo>
                  <a:pt x="2190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6312896" y="4810988"/>
            <a:ext cx="1609344" cy="71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spc="-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Infrastructure &amp; Access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839700" y="6429375"/>
            <a:ext cx="3276600" cy="219075"/>
          </a:xfrm>
          <a:custGeom>
            <a:avLst/>
            <a:gdLst/>
            <a:ahLst/>
            <a:cxnLst/>
            <a:rect r="r" b="b" t="t" l="l"/>
            <a:pathLst>
              <a:path h="219075" w="3276600">
                <a:moveTo>
                  <a:pt x="0" y="0"/>
                </a:moveTo>
                <a:lnTo>
                  <a:pt x="3276600" y="0"/>
                </a:lnTo>
                <a:lnTo>
                  <a:pt x="3276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6312896" y="6117437"/>
            <a:ext cx="1408176" cy="71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spc="-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Combined Risk Priority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8705850" y="7715250"/>
            <a:ext cx="2838450" cy="2362200"/>
          </a:xfrm>
          <a:custGeom>
            <a:avLst/>
            <a:gdLst/>
            <a:ahLst/>
            <a:cxnLst/>
            <a:rect r="r" b="b" t="t" l="l"/>
            <a:pathLst>
              <a:path h="2362200" w="2838450">
                <a:moveTo>
                  <a:pt x="0" y="0"/>
                </a:moveTo>
                <a:lnTo>
                  <a:pt x="2838450" y="0"/>
                </a:lnTo>
                <a:lnTo>
                  <a:pt x="2838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144000" y="7924139"/>
            <a:ext cx="1810512" cy="35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b="true" sz="2017" spc="-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HIGH PRIORITY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62288" y="8389406"/>
            <a:ext cx="1463040" cy="62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8"/>
              </a:lnSpc>
            </a:pPr>
            <a:r>
              <a:rPr lang="en-US" b="true" sz="3613" spc="-7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ALERT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15984" y="9079108"/>
            <a:ext cx="1920240" cy="58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1840" spc="-3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Immediate Action Recommended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1534775" y="7715250"/>
            <a:ext cx="3057525" cy="2362200"/>
          </a:xfrm>
          <a:custGeom>
            <a:avLst/>
            <a:gdLst/>
            <a:ahLst/>
            <a:cxnLst/>
            <a:rect r="r" b="b" t="t" l="l"/>
            <a:pathLst>
              <a:path h="2362200" w="3057525">
                <a:moveTo>
                  <a:pt x="0" y="0"/>
                </a:moveTo>
                <a:lnTo>
                  <a:pt x="3057525" y="0"/>
                </a:lnTo>
                <a:lnTo>
                  <a:pt x="30575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1923776" y="7924139"/>
            <a:ext cx="2157984" cy="35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b="true" sz="2017" spc="-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MEDIUM PRIORITY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79808" y="8389406"/>
            <a:ext cx="1463040" cy="62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8"/>
              </a:lnSpc>
            </a:pPr>
            <a:r>
              <a:rPr lang="en-US" b="true" sz="3613" spc="-7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ALERT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923776" y="9190671"/>
            <a:ext cx="2157984" cy="291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"/>
              </a:lnSpc>
            </a:pPr>
            <a:r>
              <a:rPr lang="en-US" sz="1769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Prepare and Monitor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4363700" y="7715250"/>
            <a:ext cx="3057525" cy="2362200"/>
          </a:xfrm>
          <a:custGeom>
            <a:avLst/>
            <a:gdLst/>
            <a:ahLst/>
            <a:cxnLst/>
            <a:rect r="r" b="b" t="t" l="l"/>
            <a:pathLst>
              <a:path h="2362200" w="3057525">
                <a:moveTo>
                  <a:pt x="0" y="0"/>
                </a:moveTo>
                <a:lnTo>
                  <a:pt x="3057525" y="0"/>
                </a:lnTo>
                <a:lnTo>
                  <a:pt x="30575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5124176" y="7924139"/>
            <a:ext cx="1700784" cy="35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b="true" sz="2017" spc="-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LOW PRIORITY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868144" y="8389406"/>
            <a:ext cx="2194560" cy="62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8"/>
              </a:lnSpc>
            </a:pPr>
            <a:r>
              <a:rPr lang="en-US" b="true" sz="3613" spc="-7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ADVISORY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124176" y="9190671"/>
            <a:ext cx="1517904" cy="291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"/>
              </a:lnSpc>
            </a:pPr>
            <a:r>
              <a:rPr lang="en-US" sz="1769" spc="-3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Stay Informed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5216" y="537517"/>
            <a:ext cx="9052560" cy="252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6580" spc="-13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Component 4 </a:t>
            </a:r>
            <a:r>
              <a:rPr lang="en-US" sz="6580" spc="-131" b="true">
                <a:solidFill>
                  <a:srgbClr val="2FA4B2"/>
                </a:solidFill>
                <a:latin typeface="Roboto Bold"/>
                <a:ea typeface="Roboto Bold"/>
                <a:cs typeface="Roboto Bold"/>
                <a:sym typeface="Roboto Bold"/>
              </a:rPr>
              <a:t>Emergency Response &amp; Resource Coordination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5216" y="3156594"/>
            <a:ext cx="8851392" cy="50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6"/>
              </a:lnSpc>
            </a:pPr>
            <a:r>
              <a:rPr lang="en-US" sz="2797" spc="-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Real-time resource-aware dispatch and routing innovations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716000" y="2781300"/>
            <a:ext cx="219075" cy="6867525"/>
          </a:xfrm>
          <a:custGeom>
            <a:avLst/>
            <a:gdLst/>
            <a:ahLst/>
            <a:cxnLst/>
            <a:rect r="r" b="b" t="t" l="l"/>
            <a:pathLst>
              <a:path h="6867525" w="219075">
                <a:moveTo>
                  <a:pt x="0" y="0"/>
                </a:moveTo>
                <a:lnTo>
                  <a:pt x="219075" y="0"/>
                </a:lnTo>
                <a:lnTo>
                  <a:pt x="219075" y="6867525"/>
                </a:lnTo>
                <a:lnTo>
                  <a:pt x="0" y="6867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410944" y="3495104"/>
            <a:ext cx="157276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b="true" sz="2159" spc="-43">
                <a:solidFill>
                  <a:srgbClr val="2FA4B2"/>
                </a:solidFill>
                <a:latin typeface="Roboto Bold"/>
                <a:ea typeface="Roboto Bold"/>
                <a:cs typeface="Roboto Bold"/>
                <a:sym typeface="Roboto Bold"/>
              </a:rPr>
              <a:t>INNOVATION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363700" y="5143500"/>
            <a:ext cx="3495675" cy="219075"/>
          </a:xfrm>
          <a:custGeom>
            <a:avLst/>
            <a:gdLst/>
            <a:ahLst/>
            <a:cxnLst/>
            <a:rect r="r" b="b" t="t" l="l"/>
            <a:pathLst>
              <a:path h="219075" w="3495675">
                <a:moveTo>
                  <a:pt x="0" y="0"/>
                </a:moveTo>
                <a:lnTo>
                  <a:pt x="3495675" y="0"/>
                </a:lnTo>
                <a:lnTo>
                  <a:pt x="3495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363700" y="6429375"/>
            <a:ext cx="3495675" cy="219075"/>
          </a:xfrm>
          <a:custGeom>
            <a:avLst/>
            <a:gdLst/>
            <a:ahLst/>
            <a:cxnLst/>
            <a:rect r="r" b="b" t="t" l="l"/>
            <a:pathLst>
              <a:path h="219075" w="3495675">
                <a:moveTo>
                  <a:pt x="0" y="0"/>
                </a:moveTo>
                <a:lnTo>
                  <a:pt x="3495675" y="0"/>
                </a:lnTo>
                <a:lnTo>
                  <a:pt x="3495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410944" y="6855143"/>
            <a:ext cx="192024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Scarcity-based </a:t>
            </a:r>
            <a:r>
              <a:rPr lang="en-US" sz="2407" spc="-48">
                <a:solidFill>
                  <a:srgbClr val="D15D35"/>
                </a:solidFill>
                <a:latin typeface="Roboto"/>
                <a:ea typeface="Roboto"/>
                <a:cs typeface="Roboto"/>
                <a:sym typeface="Roboto"/>
              </a:rPr>
              <a:t>queuing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363700" y="7715250"/>
            <a:ext cx="3495675" cy="219075"/>
          </a:xfrm>
          <a:custGeom>
            <a:avLst/>
            <a:gdLst/>
            <a:ahLst/>
            <a:cxnLst/>
            <a:rect r="r" b="b" t="t" l="l"/>
            <a:pathLst>
              <a:path h="219075" w="3495675">
                <a:moveTo>
                  <a:pt x="0" y="0"/>
                </a:moveTo>
                <a:lnTo>
                  <a:pt x="3495675" y="0"/>
                </a:lnTo>
                <a:lnTo>
                  <a:pt x="3495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28625" y="5572125"/>
            <a:ext cx="1533525" cy="2143125"/>
          </a:xfrm>
          <a:custGeom>
            <a:avLst/>
            <a:gdLst/>
            <a:ahLst/>
            <a:cxnLst/>
            <a:rect r="r" b="b" t="t" l="l"/>
            <a:pathLst>
              <a:path h="2143125" w="1533525">
                <a:moveTo>
                  <a:pt x="0" y="0"/>
                </a:moveTo>
                <a:lnTo>
                  <a:pt x="1533525" y="0"/>
                </a:lnTo>
                <a:lnTo>
                  <a:pt x="15335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77824" y="5979795"/>
            <a:ext cx="76809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3"/>
              </a:lnSpc>
            </a:pPr>
            <a:r>
              <a:rPr lang="en-US" b="true" sz="1911" spc="-3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Priority</a:t>
            </a:r>
          </a:p>
          <a:p>
            <a:pPr algn="ctr">
              <a:lnSpc>
                <a:spcPts val="2293"/>
              </a:lnSpc>
            </a:pPr>
            <a:r>
              <a:rPr lang="en-US" b="true" sz="1911" spc="-3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Alerts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4944" y="6692887"/>
            <a:ext cx="1170432" cy="452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2"/>
              </a:lnSpc>
            </a:pPr>
            <a:r>
              <a:rPr lang="en-US" sz="1308" spc="-2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via standardized API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952625" y="642937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171700" y="5572125"/>
            <a:ext cx="1752600" cy="2143125"/>
          </a:xfrm>
          <a:custGeom>
            <a:avLst/>
            <a:gdLst/>
            <a:ahLst/>
            <a:cxnLst/>
            <a:rect r="r" b="b" t="t" l="l"/>
            <a:pathLst>
              <a:path h="2143125" w="1752600">
                <a:moveTo>
                  <a:pt x="0" y="0"/>
                </a:moveTo>
                <a:lnTo>
                  <a:pt x="1752600" y="0"/>
                </a:lnTo>
                <a:lnTo>
                  <a:pt x="17526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468880" y="6017895"/>
            <a:ext cx="135331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1"/>
              </a:lnSpc>
            </a:pPr>
            <a:r>
              <a:rPr lang="en-US" b="true" sz="1734" spc="-3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Live Resource</a:t>
            </a:r>
          </a:p>
          <a:p>
            <a:pPr algn="ctr">
              <a:lnSpc>
                <a:spcPts val="2081"/>
              </a:lnSpc>
            </a:pPr>
            <a:r>
              <a:rPr lang="en-US" b="true" sz="1734" spc="-3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Check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96896" y="6701962"/>
            <a:ext cx="1097280" cy="434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sz="1273" spc="-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assets, shelters</a:t>
            </a:r>
          </a:p>
          <a:p>
            <a:pPr algn="ctr">
              <a:lnSpc>
                <a:spcPts val="1782"/>
              </a:lnSpc>
            </a:pPr>
            <a:r>
              <a:rPr lang="en-US" sz="1273" spc="-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and supplies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3914775" y="642937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133850" y="600075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352925" y="6210300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000625" y="5353050"/>
            <a:ext cx="2409825" cy="2581275"/>
          </a:xfrm>
          <a:custGeom>
            <a:avLst/>
            <a:gdLst/>
            <a:ahLst/>
            <a:cxnLst/>
            <a:rect r="r" b="b" t="t" l="l"/>
            <a:pathLst>
              <a:path h="2581275" w="2409825">
                <a:moveTo>
                  <a:pt x="0" y="0"/>
                </a:moveTo>
                <a:lnTo>
                  <a:pt x="2409825" y="0"/>
                </a:lnTo>
                <a:lnTo>
                  <a:pt x="240982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431536" y="5956554"/>
            <a:ext cx="142646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b="true" sz="2549" spc="-50">
                <a:solidFill>
                  <a:srgbClr val="2FA4B2"/>
                </a:solidFill>
                <a:latin typeface="Roboto Bold"/>
                <a:ea typeface="Roboto Bold"/>
                <a:cs typeface="Roboto Bold"/>
                <a:sym typeface="Roboto Bold"/>
              </a:rPr>
              <a:t>Resource Allocation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58384" y="6807256"/>
            <a:ext cx="1481328" cy="470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2"/>
              </a:lnSpc>
            </a:pPr>
            <a:r>
              <a:rPr lang="en-US" sz="1344" spc="-2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inventory +</a:t>
            </a:r>
          </a:p>
          <a:p>
            <a:pPr algn="ctr">
              <a:lnSpc>
                <a:spcPts val="1882"/>
              </a:lnSpc>
            </a:pPr>
            <a:r>
              <a:rPr lang="en-US" sz="1344" spc="-2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dispatch constraints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5657850" y="449580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657850" y="471487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524625" y="4924425"/>
            <a:ext cx="1095375" cy="1295400"/>
          </a:xfrm>
          <a:custGeom>
            <a:avLst/>
            <a:gdLst/>
            <a:ahLst/>
            <a:cxnLst/>
            <a:rect r="r" b="b" t="t" l="l"/>
            <a:pathLst>
              <a:path h="1295400" w="1095375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181850" y="600075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400925" y="62103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7735824" y="7098411"/>
            <a:ext cx="111556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3"/>
              </a:lnSpc>
            </a:pPr>
            <a:r>
              <a:rPr lang="en-US" b="true" sz="1628" spc="-3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Ambulances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6524625" y="7067550"/>
            <a:ext cx="1095375" cy="1295400"/>
          </a:xfrm>
          <a:custGeom>
            <a:avLst/>
            <a:gdLst/>
            <a:ahLst/>
            <a:cxnLst/>
            <a:rect r="r" b="b" t="t" l="l"/>
            <a:pathLst>
              <a:path h="1295400" w="1095375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657850" y="771525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657850" y="792480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5742432" y="8822245"/>
            <a:ext cx="82296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b="true" sz="1805" spc="-3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Shelters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4572000" y="7067550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4572000" y="4924425"/>
            <a:ext cx="1095375" cy="1295400"/>
          </a:xfrm>
          <a:custGeom>
            <a:avLst/>
            <a:gdLst/>
            <a:ahLst/>
            <a:cxnLst/>
            <a:rect r="r" b="b" t="t" l="l"/>
            <a:pathLst>
              <a:path h="1295400" w="1095375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8924925" y="5572125"/>
            <a:ext cx="2181225" cy="2143125"/>
          </a:xfrm>
          <a:custGeom>
            <a:avLst/>
            <a:gdLst/>
            <a:ahLst/>
            <a:cxnLst/>
            <a:rect r="r" b="b" t="t" l="l"/>
            <a:pathLst>
              <a:path h="2143125" w="2181225">
                <a:moveTo>
                  <a:pt x="0" y="0"/>
                </a:moveTo>
                <a:lnTo>
                  <a:pt x="2181225" y="0"/>
                </a:lnTo>
                <a:lnTo>
                  <a:pt x="21812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345168" y="6027420"/>
            <a:ext cx="129844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6"/>
              </a:lnSpc>
            </a:pPr>
            <a:r>
              <a:rPr lang="en-US" b="true" sz="1663" spc="-3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Hazard-aware Routing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36608" y="6704386"/>
            <a:ext cx="1133856" cy="470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2"/>
              </a:lnSpc>
            </a:pPr>
            <a:r>
              <a:rPr lang="en-US" sz="1344" spc="-2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evacuation and rescue routes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0877550" y="642937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096625" y="5353050"/>
            <a:ext cx="2190750" cy="2581275"/>
          </a:xfrm>
          <a:custGeom>
            <a:avLst/>
            <a:gdLst/>
            <a:ahLst/>
            <a:cxnLst/>
            <a:rect r="r" b="b" t="t" l="l"/>
            <a:pathLst>
              <a:path h="2581275" w="2190750">
                <a:moveTo>
                  <a:pt x="0" y="0"/>
                </a:moveTo>
                <a:lnTo>
                  <a:pt x="2190750" y="0"/>
                </a:lnTo>
                <a:lnTo>
                  <a:pt x="219075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1631168" y="5846826"/>
            <a:ext cx="117043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b="true" sz="1982" spc="-3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Dispatch &amp; Tracking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631168" y="6525264"/>
            <a:ext cx="1170432" cy="983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415" spc="-2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multi-channel alerts, arrivals, occupancy, resource use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8048625" y="6429375"/>
            <a:ext cx="1095375" cy="428625"/>
          </a:xfrm>
          <a:custGeom>
            <a:avLst/>
            <a:gdLst/>
            <a:ahLst/>
            <a:cxnLst/>
            <a:rect r="r" b="b" t="t" l="l"/>
            <a:pathLst>
              <a:path h="428625" w="109537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5852160" y="4193095"/>
            <a:ext cx="56692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3"/>
              </a:lnSpc>
            </a:pPr>
            <a:r>
              <a:rPr lang="en-US" b="true" sz="1769" spc="-3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Boats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114800" y="7658291"/>
            <a:ext cx="74980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8"/>
              </a:lnSpc>
            </a:pPr>
            <a:r>
              <a:rPr lang="en-US" b="true" sz="1557" spc="-3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Supplies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410944" y="4114609"/>
            <a:ext cx="122529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Real-time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410944" y="4540377"/>
            <a:ext cx="299923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2195" spc="-43" b="true">
                <a:solidFill>
                  <a:srgbClr val="D15D35"/>
                </a:solidFill>
                <a:latin typeface="Roboto Bold"/>
                <a:ea typeface="Roboto Bold"/>
                <a:cs typeface="Roboto Bold"/>
                <a:sym typeface="Roboto Bold"/>
              </a:rPr>
              <a:t>resource-aware dispatch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410944" y="5482781"/>
            <a:ext cx="135331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Dual-route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410944" y="5903785"/>
            <a:ext cx="155448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2266" spc="-45" b="true">
                <a:solidFill>
                  <a:srgbClr val="D15D35"/>
                </a:solidFill>
                <a:latin typeface="Roboto Bold"/>
                <a:ea typeface="Roboto Bold"/>
                <a:cs typeface="Roboto Bold"/>
                <a:sym typeface="Roboto Bold"/>
              </a:rPr>
              <a:t>optimization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410944" y="8214360"/>
            <a:ext cx="171907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spc="-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Multi-channel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410944" y="8640127"/>
            <a:ext cx="226771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2266" spc="-45" b="true">
                <a:solidFill>
                  <a:srgbClr val="D15D35"/>
                </a:solidFill>
                <a:latin typeface="Roboto Bold"/>
                <a:ea typeface="Roboto Bold"/>
                <a:cs typeface="Roboto Bold"/>
                <a:sym typeface="Roboto Bold"/>
              </a:rPr>
              <a:t>localized dispatch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8828" y="575938"/>
            <a:ext cx="9491472" cy="9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9"/>
              </a:lnSpc>
            </a:pPr>
            <a:r>
              <a:rPr lang="en-US" sz="7399" spc="-22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System Architecture.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2064" y="1678273"/>
            <a:ext cx="10570464" cy="550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sz="4051" spc="-121" b="true">
                <a:solidFill>
                  <a:srgbClr val="4AC0C4"/>
                </a:solidFill>
                <a:latin typeface="Roboto Bold"/>
                <a:ea typeface="Roboto Bold"/>
                <a:cs typeface="Roboto Bold"/>
                <a:sym typeface="Roboto Bold"/>
              </a:rPr>
              <a:t>One Integrated Workflow. End-to-End Impact.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8625" y="3000375"/>
            <a:ext cx="2409825" cy="2790825"/>
          </a:xfrm>
          <a:custGeom>
            <a:avLst/>
            <a:gdLst/>
            <a:ahLst/>
            <a:cxnLst/>
            <a:rect r="r" b="b" t="t" l="l"/>
            <a:pathLst>
              <a:path h="2790825" w="2409825">
                <a:moveTo>
                  <a:pt x="0" y="0"/>
                </a:moveTo>
                <a:lnTo>
                  <a:pt x="2409825" y="0"/>
                </a:lnTo>
                <a:lnTo>
                  <a:pt x="240982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77824" y="3485165"/>
            <a:ext cx="1517904" cy="26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2"/>
              </a:lnSpc>
            </a:pPr>
            <a:r>
              <a:rPr lang="en-US" b="true" sz="1982" spc="-59">
                <a:solidFill>
                  <a:srgbClr val="4AC0C4"/>
                </a:solidFill>
                <a:latin typeface="Roboto Bold"/>
                <a:ea typeface="Roboto Bold"/>
                <a:cs typeface="Roboto Bold"/>
                <a:sym typeface="Roboto Bold"/>
              </a:rPr>
              <a:t>DATA INPUTS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7824" y="3890836"/>
            <a:ext cx="1517904" cy="118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Multi-source data &amp; live telemetry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609850" y="406717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48000" y="3000375"/>
            <a:ext cx="2838450" cy="2790825"/>
          </a:xfrm>
          <a:custGeom>
            <a:avLst/>
            <a:gdLst/>
            <a:ahLst/>
            <a:cxnLst/>
            <a:rect r="r" b="b" t="t" l="l"/>
            <a:pathLst>
              <a:path h="2790825" w="2838450">
                <a:moveTo>
                  <a:pt x="0" y="0"/>
                </a:moveTo>
                <a:lnTo>
                  <a:pt x="2838450" y="0"/>
                </a:lnTo>
                <a:lnTo>
                  <a:pt x="28384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38144" y="3455099"/>
            <a:ext cx="217627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6"/>
              </a:lnSpc>
            </a:pPr>
            <a:r>
              <a:rPr lang="en-US" b="true" sz="1947" spc="-5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INTEGRATION &amp; GIS LAYERS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23360" y="4335066"/>
            <a:ext cx="987552" cy="103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173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Ingest Process GIS layers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352925" y="5572125"/>
            <a:ext cx="219075" cy="857250"/>
          </a:xfrm>
          <a:custGeom>
            <a:avLst/>
            <a:gdLst/>
            <a:ahLst/>
            <a:cxnLst/>
            <a:rect r="r" b="b" t="t" l="l"/>
            <a:pathLst>
              <a:path h="857250" w="219075">
                <a:moveTo>
                  <a:pt x="0" y="0"/>
                </a:moveTo>
                <a:lnTo>
                  <a:pt x="219075" y="0"/>
                </a:lnTo>
                <a:lnTo>
                  <a:pt x="2190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096000" y="2571750"/>
            <a:ext cx="3486150" cy="3429000"/>
          </a:xfrm>
          <a:custGeom>
            <a:avLst/>
            <a:gdLst/>
            <a:ahLst/>
            <a:cxnLst/>
            <a:rect r="r" b="b" t="t" l="l"/>
            <a:pathLst>
              <a:path h="3429000" w="3486150">
                <a:moveTo>
                  <a:pt x="0" y="0"/>
                </a:moveTo>
                <a:lnTo>
                  <a:pt x="3486150" y="0"/>
                </a:lnTo>
                <a:lnTo>
                  <a:pt x="348615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305550" y="2781300"/>
            <a:ext cx="3057525" cy="1504950"/>
          </a:xfrm>
          <a:custGeom>
            <a:avLst/>
            <a:gdLst/>
            <a:ahLst/>
            <a:cxnLst/>
            <a:rect r="r" b="b" t="t" l="l"/>
            <a:pathLst>
              <a:path h="1504950" w="3057525">
                <a:moveTo>
                  <a:pt x="0" y="0"/>
                </a:moveTo>
                <a:lnTo>
                  <a:pt x="3057525" y="0"/>
                </a:lnTo>
                <a:lnTo>
                  <a:pt x="3057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05550" y="4286250"/>
            <a:ext cx="3057525" cy="1504950"/>
          </a:xfrm>
          <a:custGeom>
            <a:avLst/>
            <a:gdLst/>
            <a:ahLst/>
            <a:cxnLst/>
            <a:rect r="r" b="b" t="t" l="l"/>
            <a:pathLst>
              <a:path h="1504950" w="3057525">
                <a:moveTo>
                  <a:pt x="0" y="0"/>
                </a:moveTo>
                <a:lnTo>
                  <a:pt x="3057525" y="0"/>
                </a:lnTo>
                <a:lnTo>
                  <a:pt x="3057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657850" y="406717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144000" y="3429000"/>
            <a:ext cx="876300" cy="1076325"/>
          </a:xfrm>
          <a:custGeom>
            <a:avLst/>
            <a:gdLst/>
            <a:ahLst/>
            <a:cxnLst/>
            <a:rect r="r" b="b" t="t" l="l"/>
            <a:pathLst>
              <a:path h="1076325" w="876300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791700" y="3000375"/>
            <a:ext cx="2838450" cy="2790825"/>
          </a:xfrm>
          <a:custGeom>
            <a:avLst/>
            <a:gdLst/>
            <a:ahLst/>
            <a:cxnLst/>
            <a:rect r="r" b="b" t="t" l="l"/>
            <a:pathLst>
              <a:path h="2790825" w="2838450">
                <a:moveTo>
                  <a:pt x="0" y="0"/>
                </a:moveTo>
                <a:lnTo>
                  <a:pt x="2838450" y="0"/>
                </a:lnTo>
                <a:lnTo>
                  <a:pt x="28384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985248" y="3436048"/>
            <a:ext cx="245059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1"/>
              </a:lnSpc>
            </a:pPr>
            <a:r>
              <a:rPr lang="en-US" b="true" sz="2017" spc="-6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JOINT RISK &amp; IMPACT PRIORITIZATION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77856" y="4204746"/>
            <a:ext cx="1883664" cy="113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1"/>
              </a:lnSpc>
            </a:pPr>
            <a:r>
              <a:rPr lang="en-US" sz="18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Combine hazards Assess impact Prioritize areas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1096625" y="5572125"/>
            <a:ext cx="228600" cy="857250"/>
          </a:xfrm>
          <a:custGeom>
            <a:avLst/>
            <a:gdLst/>
            <a:ahLst/>
            <a:cxnLst/>
            <a:rect r="r" b="b" t="t" l="l"/>
            <a:pathLst>
              <a:path h="857250" w="228600">
                <a:moveTo>
                  <a:pt x="0" y="0"/>
                </a:moveTo>
                <a:lnTo>
                  <a:pt x="228600" y="0"/>
                </a:lnTo>
                <a:lnTo>
                  <a:pt x="228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401550" y="406717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839700" y="3000375"/>
            <a:ext cx="2400300" cy="2790825"/>
          </a:xfrm>
          <a:custGeom>
            <a:avLst/>
            <a:gdLst/>
            <a:ahLst/>
            <a:cxnLst/>
            <a:rect r="r" b="b" t="t" l="l"/>
            <a:pathLst>
              <a:path h="2790825" w="2400300">
                <a:moveTo>
                  <a:pt x="0" y="0"/>
                </a:moveTo>
                <a:lnTo>
                  <a:pt x="2400300" y="0"/>
                </a:lnTo>
                <a:lnTo>
                  <a:pt x="24003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295376" y="3798988"/>
            <a:ext cx="1517904" cy="25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7"/>
              </a:lnSpc>
            </a:pPr>
            <a:r>
              <a:rPr lang="en-US" b="true" sz="1947" spc="-5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API GATEWAY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331952" y="4272153"/>
            <a:ext cx="146304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3"/>
              </a:lnSpc>
            </a:pPr>
            <a:r>
              <a:rPr lang="en-US" sz="191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Secure APIs Data services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3925550" y="5572125"/>
            <a:ext cx="228600" cy="857250"/>
          </a:xfrm>
          <a:custGeom>
            <a:avLst/>
            <a:gdLst/>
            <a:ahLst/>
            <a:cxnLst/>
            <a:rect r="r" b="b" t="t" l="l"/>
            <a:pathLst>
              <a:path h="857250" w="228600">
                <a:moveTo>
                  <a:pt x="0" y="0"/>
                </a:moveTo>
                <a:lnTo>
                  <a:pt x="228600" y="0"/>
                </a:lnTo>
                <a:lnTo>
                  <a:pt x="228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449550" y="3000375"/>
            <a:ext cx="2190750" cy="2790825"/>
          </a:xfrm>
          <a:custGeom>
            <a:avLst/>
            <a:gdLst/>
            <a:ahLst/>
            <a:cxnLst/>
            <a:rect r="r" b="b" t="t" l="l"/>
            <a:pathLst>
              <a:path h="2790825" w="2190750">
                <a:moveTo>
                  <a:pt x="0" y="0"/>
                </a:moveTo>
                <a:lnTo>
                  <a:pt x="2190750" y="0"/>
                </a:lnTo>
                <a:lnTo>
                  <a:pt x="21907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6056864" y="3485165"/>
            <a:ext cx="1097280" cy="26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2"/>
              </a:lnSpc>
            </a:pPr>
            <a:r>
              <a:rPr lang="en-US" b="true" sz="1982" spc="-59">
                <a:solidFill>
                  <a:srgbClr val="4AC0C4"/>
                </a:solidFill>
                <a:latin typeface="Roboto Bold"/>
                <a:ea typeface="Roboto Bold"/>
                <a:cs typeface="Roboto Bold"/>
                <a:sym typeface="Roboto Bold"/>
              </a:rPr>
              <a:t>OUTPUTS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965424" y="3854417"/>
            <a:ext cx="1316736" cy="1441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7"/>
              </a:lnSpc>
            </a:pPr>
            <a:r>
              <a:rPr lang="en-US" sz="191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Dashboards Web-GIS Alerts Reports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5020925" y="406717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524000" y="5572125"/>
            <a:ext cx="15240000" cy="857250"/>
          </a:xfrm>
          <a:custGeom>
            <a:avLst/>
            <a:gdLst/>
            <a:ahLst/>
            <a:cxnLst/>
            <a:rect r="r" b="b" t="t" l="l"/>
            <a:pathLst>
              <a:path h="857250" w="15240000">
                <a:moveTo>
                  <a:pt x="0" y="0"/>
                </a:moveTo>
                <a:lnTo>
                  <a:pt x="15240000" y="0"/>
                </a:lnTo>
                <a:lnTo>
                  <a:pt x="152400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486775" y="621030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5657850" y="6429375"/>
            <a:ext cx="6324600" cy="1076325"/>
          </a:xfrm>
          <a:custGeom>
            <a:avLst/>
            <a:gdLst/>
            <a:ahLst/>
            <a:cxnLst/>
            <a:rect r="r" b="b" t="t" l="l"/>
            <a:pathLst>
              <a:path h="1076325" w="6324600">
                <a:moveTo>
                  <a:pt x="0" y="0"/>
                </a:moveTo>
                <a:lnTo>
                  <a:pt x="6324600" y="0"/>
                </a:lnTo>
                <a:lnTo>
                  <a:pt x="6324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4133850" y="7286625"/>
            <a:ext cx="9582150" cy="857250"/>
          </a:xfrm>
          <a:custGeom>
            <a:avLst/>
            <a:gdLst/>
            <a:ahLst/>
            <a:cxnLst/>
            <a:rect r="r" b="b" t="t" l="l"/>
            <a:pathLst>
              <a:path h="857250" w="9582150">
                <a:moveTo>
                  <a:pt x="0" y="0"/>
                </a:moveTo>
                <a:lnTo>
                  <a:pt x="9582150" y="0"/>
                </a:lnTo>
                <a:lnTo>
                  <a:pt x="9582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2390775" y="7924800"/>
            <a:ext cx="3705225" cy="1933575"/>
          </a:xfrm>
          <a:custGeom>
            <a:avLst/>
            <a:gdLst/>
            <a:ahLst/>
            <a:cxnLst/>
            <a:rect r="r" b="b" t="t" l="l"/>
            <a:pathLst>
              <a:path h="1933575" w="3705225">
                <a:moveTo>
                  <a:pt x="0" y="0"/>
                </a:moveTo>
                <a:lnTo>
                  <a:pt x="3705225" y="0"/>
                </a:lnTo>
                <a:lnTo>
                  <a:pt x="3705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3712464" y="8279219"/>
            <a:ext cx="1078992" cy="27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b="true" sz="2017" spc="-60">
                <a:solidFill>
                  <a:srgbClr val="4AC0C4"/>
                </a:solidFill>
                <a:latin typeface="Roboto Bold"/>
                <a:ea typeface="Roboto Bold"/>
                <a:cs typeface="Roboto Bold"/>
                <a:sym typeface="Roboto Bold"/>
              </a:rPr>
              <a:t>CITIZENS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57600" y="8587008"/>
            <a:ext cx="1243584" cy="113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1"/>
              </a:lnSpc>
            </a:pPr>
            <a:r>
              <a:rPr lang="en-US" sz="18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Information Alerts Guidance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6305550" y="7924800"/>
            <a:ext cx="4581525" cy="1933575"/>
          </a:xfrm>
          <a:custGeom>
            <a:avLst/>
            <a:gdLst/>
            <a:ahLst/>
            <a:cxnLst/>
            <a:rect r="r" b="b" t="t" l="l"/>
            <a:pathLst>
              <a:path h="1933575" w="4581525">
                <a:moveTo>
                  <a:pt x="0" y="0"/>
                </a:moveTo>
                <a:lnTo>
                  <a:pt x="4581525" y="0"/>
                </a:lnTo>
                <a:lnTo>
                  <a:pt x="4581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7498080" y="8279219"/>
            <a:ext cx="2395728" cy="27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b="true" sz="2017" spc="-60">
                <a:solidFill>
                  <a:srgbClr val="4AC0C4"/>
                </a:solidFill>
                <a:latin typeface="Roboto Bold"/>
                <a:ea typeface="Roboto Bold"/>
                <a:cs typeface="Roboto Bold"/>
                <a:sym typeface="Roboto Bold"/>
              </a:rPr>
              <a:t>DMC &amp; AUTHORITIES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498080" y="8561134"/>
            <a:ext cx="2395728" cy="118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Situational awareness Decision support Coordination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1096625" y="7924800"/>
            <a:ext cx="4581525" cy="1933575"/>
          </a:xfrm>
          <a:custGeom>
            <a:avLst/>
            <a:gdLst/>
            <a:ahLst/>
            <a:cxnLst/>
            <a:rect r="r" b="b" t="t" l="l"/>
            <a:pathLst>
              <a:path h="1933575" w="4581525">
                <a:moveTo>
                  <a:pt x="0" y="0"/>
                </a:moveTo>
                <a:lnTo>
                  <a:pt x="4581525" y="0"/>
                </a:lnTo>
                <a:lnTo>
                  <a:pt x="4581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1905488" y="8289194"/>
            <a:ext cx="3017520" cy="26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2"/>
              </a:lnSpc>
            </a:pPr>
            <a:r>
              <a:rPr lang="en-US" b="true" sz="1982" spc="-59">
                <a:solidFill>
                  <a:srgbClr val="4AC0C4"/>
                </a:solidFill>
                <a:latin typeface="Roboto Bold"/>
                <a:ea typeface="Roboto Bold"/>
                <a:cs typeface="Roboto Bold"/>
                <a:sym typeface="Roboto Bold"/>
              </a:rPr>
              <a:t>RESPONDERS &amp; PARTNERS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582144" y="8587008"/>
            <a:ext cx="1719072" cy="113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1"/>
              </a:lnSpc>
            </a:pPr>
            <a:r>
              <a:rPr lang="en-US" sz="18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Tasking Dispatch</a:t>
            </a:r>
          </a:p>
          <a:p>
            <a:pPr algn="ctr">
              <a:lnSpc>
                <a:spcPts val="3001"/>
              </a:lnSpc>
            </a:pPr>
            <a:r>
              <a:rPr lang="en-US" sz="18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Field operations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931152" y="3125432"/>
            <a:ext cx="1792224" cy="27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b="true" sz="2017" spc="-6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FLOOD MODULE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894576" y="3480816"/>
            <a:ext cx="177393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 &amp; assess flood risk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693408" y="4657883"/>
            <a:ext cx="2267712" cy="26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2"/>
              </a:lnSpc>
            </a:pPr>
            <a:r>
              <a:rPr lang="en-US" b="true" sz="1982" spc="-5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LANDSLIDE MODULE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894576" y="5003292"/>
            <a:ext cx="177393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 &amp; assess landslide risk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150608" y="6664160"/>
            <a:ext cx="3072384" cy="27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b="true" sz="2017" spc="-6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RESOURCE COORDINATION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894576" y="6981635"/>
            <a:ext cx="363931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3"/>
              </a:lnSpc>
            </a:pPr>
            <a:r>
              <a:rPr lang="en-US" sz="191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Routing • Dispatch • Field updates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1792" y="685419"/>
            <a:ext cx="9912096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8"/>
              </a:lnSpc>
            </a:pPr>
            <a:r>
              <a:rPr lang="en-US" sz="7673" spc="-23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Team and Supervisors.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1792" y="2352294"/>
            <a:ext cx="31821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sz="2585" b="true">
                <a:solidFill>
                  <a:srgbClr val="48C2CB"/>
                </a:solidFill>
                <a:latin typeface="Roboto Bold"/>
                <a:ea typeface="Roboto Bold"/>
                <a:cs typeface="Roboto Bold"/>
                <a:sym typeface="Roboto Bold"/>
              </a:rPr>
              <a:t>OUR PROJECT TEAM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8625" y="3000375"/>
            <a:ext cx="447675" cy="1076325"/>
          </a:xfrm>
          <a:custGeom>
            <a:avLst/>
            <a:gdLst/>
            <a:ahLst/>
            <a:cxnLst/>
            <a:rect r="r" b="b" t="t" l="l"/>
            <a:pathLst>
              <a:path h="1076325" w="44767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87552" y="3099435"/>
            <a:ext cx="482803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Sinhalagoda S.A.U.R.A.V </a:t>
            </a:r>
            <a:r>
              <a:rPr lang="en-US" sz="2124" b="true">
                <a:solidFill>
                  <a:srgbClr val="48C2CB"/>
                </a:solidFill>
                <a:latin typeface="Roboto Bold"/>
                <a:ea typeface="Roboto Bold"/>
                <a:cs typeface="Roboto Bold"/>
                <a:sym typeface="Roboto Bold"/>
              </a:rPr>
              <a:t>(IT23280892)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7552" y="3510153"/>
            <a:ext cx="356616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>
                <a:solidFill>
                  <a:srgbClr val="48C2CB"/>
                </a:solidFill>
                <a:latin typeface="Roboto"/>
                <a:ea typeface="Roboto"/>
                <a:cs typeface="Roboto"/>
                <a:sym typeface="Roboto"/>
              </a:rPr>
              <a:t>Flood risk prediction &amp; mapping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8625" y="4067175"/>
            <a:ext cx="447675" cy="1076325"/>
          </a:xfrm>
          <a:custGeom>
            <a:avLst/>
            <a:gdLst/>
            <a:ahLst/>
            <a:cxnLst/>
            <a:rect r="r" b="b" t="t" l="l"/>
            <a:pathLst>
              <a:path h="1076325" w="44767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87552" y="4180332"/>
            <a:ext cx="340156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219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Bagya R M S </a:t>
            </a:r>
            <a:r>
              <a:rPr lang="en-US" sz="2195" b="true">
                <a:solidFill>
                  <a:srgbClr val="48C2CB"/>
                </a:solidFill>
                <a:latin typeface="Roboto Bold"/>
                <a:ea typeface="Roboto Bold"/>
                <a:cs typeface="Roboto Bold"/>
                <a:sym typeface="Roboto Bold"/>
              </a:rPr>
              <a:t>(IT23394124)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7552" y="4600575"/>
            <a:ext cx="272491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947">
                <a:solidFill>
                  <a:srgbClr val="48C2CB"/>
                </a:solidFill>
                <a:latin typeface="Roboto"/>
                <a:ea typeface="Roboto"/>
                <a:cs typeface="Roboto"/>
                <a:sym typeface="Roboto"/>
              </a:rPr>
              <a:t>ML landslide forecasting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28625" y="5143500"/>
            <a:ext cx="447675" cy="1076325"/>
          </a:xfrm>
          <a:custGeom>
            <a:avLst/>
            <a:gdLst/>
            <a:ahLst/>
            <a:cxnLst/>
            <a:rect r="r" b="b" t="t" l="l"/>
            <a:pathLst>
              <a:path h="1076325" w="44767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87552" y="5291328"/>
            <a:ext cx="422452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219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Prathibhani Y.L.O.L </a:t>
            </a:r>
            <a:r>
              <a:rPr lang="en-US" sz="2195" b="true">
                <a:solidFill>
                  <a:srgbClr val="48C2CB"/>
                </a:solidFill>
                <a:latin typeface="Roboto Bold"/>
                <a:ea typeface="Roboto Bold"/>
                <a:cs typeface="Roboto Bold"/>
                <a:sym typeface="Roboto Bold"/>
              </a:rPr>
              <a:t>(IT23317512)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7552" y="5711571"/>
            <a:ext cx="378561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947">
                <a:solidFill>
                  <a:srgbClr val="48C2CB"/>
                </a:solidFill>
                <a:latin typeface="Roboto"/>
                <a:ea typeface="Roboto"/>
                <a:cs typeface="Roboto"/>
                <a:sym typeface="Roboto"/>
              </a:rPr>
              <a:t>Human impact &amp; decision support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28625" y="6210300"/>
            <a:ext cx="447675" cy="1076325"/>
          </a:xfrm>
          <a:custGeom>
            <a:avLst/>
            <a:gdLst/>
            <a:ahLst/>
            <a:cxnLst/>
            <a:rect r="r" b="b" t="t" l="l"/>
            <a:pathLst>
              <a:path h="1076325" w="44767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87552" y="6406324"/>
            <a:ext cx="345643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5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Palihena M.B </a:t>
            </a:r>
            <a:r>
              <a:rPr lang="en-US" sz="2159" b="true">
                <a:solidFill>
                  <a:srgbClr val="48C2CB"/>
                </a:solidFill>
                <a:latin typeface="Roboto Bold"/>
                <a:ea typeface="Roboto Bold"/>
                <a:cs typeface="Roboto Bold"/>
                <a:sym typeface="Roboto Bold"/>
              </a:rPr>
              <a:t>(IT23411562)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29984" y="2342769"/>
            <a:ext cx="347472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691" b="true">
                <a:solidFill>
                  <a:srgbClr val="48C2CB"/>
                </a:solidFill>
                <a:latin typeface="Roboto Bold"/>
                <a:ea typeface="Roboto Bold"/>
                <a:cs typeface="Roboto Bold"/>
                <a:sym typeface="Roboto Bold"/>
              </a:rPr>
              <a:t>ACADEMIC GUIDANCE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524625" y="3000375"/>
            <a:ext cx="4581525" cy="4286250"/>
          </a:xfrm>
          <a:custGeom>
            <a:avLst/>
            <a:gdLst/>
            <a:ahLst/>
            <a:cxnLst/>
            <a:rect r="r" b="b" t="t" l="l"/>
            <a:pathLst>
              <a:path h="4286250" w="4581525">
                <a:moveTo>
                  <a:pt x="0" y="0"/>
                </a:moveTo>
                <a:lnTo>
                  <a:pt x="4581525" y="0"/>
                </a:lnTo>
                <a:lnTo>
                  <a:pt x="4581525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059168" y="3811524"/>
            <a:ext cx="307238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Dr. Kapila Dissanayaka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59168" y="4305300"/>
            <a:ext cx="144475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b="true">
                <a:solidFill>
                  <a:srgbClr val="FF8D65"/>
                </a:solidFill>
                <a:latin typeface="Roboto Bold"/>
                <a:ea typeface="Roboto Bold"/>
                <a:cs typeface="Roboto Bold"/>
                <a:sym typeface="Roboto Bold"/>
              </a:rPr>
              <a:t>Supervisor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962775" y="4924425"/>
            <a:ext cx="3705225" cy="219075"/>
          </a:xfrm>
          <a:custGeom>
            <a:avLst/>
            <a:gdLst/>
            <a:ahLst/>
            <a:cxnLst/>
            <a:rect r="r" b="b" t="t" l="l"/>
            <a:pathLst>
              <a:path h="219075" w="3705225">
                <a:moveTo>
                  <a:pt x="0" y="0"/>
                </a:moveTo>
                <a:lnTo>
                  <a:pt x="3705225" y="0"/>
                </a:lnTo>
                <a:lnTo>
                  <a:pt x="3705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059168" y="5421059"/>
            <a:ext cx="362102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Mr. Uchira Wickramarthne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59168" y="5919597"/>
            <a:ext cx="197510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372" b="true">
                <a:solidFill>
                  <a:srgbClr val="FF8D65"/>
                </a:solidFill>
                <a:latin typeface="Roboto Bold"/>
                <a:ea typeface="Roboto Bold"/>
                <a:cs typeface="Roboto Bold"/>
                <a:sym typeface="Roboto Bold"/>
              </a:rPr>
              <a:t>Co-Supervisor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28625" y="7715250"/>
            <a:ext cx="10677525" cy="2143125"/>
          </a:xfrm>
          <a:custGeom>
            <a:avLst/>
            <a:gdLst/>
            <a:ahLst/>
            <a:cxnLst/>
            <a:rect r="r" b="b" t="t" l="l"/>
            <a:pathLst>
              <a:path h="2143125" w="10677525">
                <a:moveTo>
                  <a:pt x="0" y="0"/>
                </a:moveTo>
                <a:lnTo>
                  <a:pt x="10677525" y="0"/>
                </a:lnTo>
                <a:lnTo>
                  <a:pt x="106775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87552" y="8076819"/>
            <a:ext cx="131673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 b="true">
                <a:solidFill>
                  <a:srgbClr val="48C2CB"/>
                </a:solidFill>
                <a:latin typeface="Roboto Bold"/>
                <a:ea typeface="Roboto Bold"/>
                <a:cs typeface="Roboto Bold"/>
                <a:sym typeface="Roboto Bold"/>
              </a:rPr>
              <a:t>PROJECT ID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7552" y="8524494"/>
            <a:ext cx="179222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</a:pPr>
            <a:r>
              <a:rPr lang="en-US" sz="2726" b="true">
                <a:solidFill>
                  <a:srgbClr val="FF8D65"/>
                </a:solidFill>
                <a:latin typeface="Roboto Bold"/>
                <a:ea typeface="Roboto Bold"/>
                <a:cs typeface="Roboto Bold"/>
                <a:sym typeface="Roboto Bold"/>
              </a:rPr>
              <a:t>J26-IT-334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3695700" y="7924800"/>
            <a:ext cx="228600" cy="1504950"/>
          </a:xfrm>
          <a:custGeom>
            <a:avLst/>
            <a:gdLst/>
            <a:ahLst/>
            <a:cxnLst/>
            <a:rect r="r" b="b" t="t" l="l"/>
            <a:pathLst>
              <a:path h="1504950" w="22860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4334256" y="8072057"/>
            <a:ext cx="175564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48C2CB"/>
                </a:solidFill>
                <a:latin typeface="Roboto Bold"/>
                <a:ea typeface="Roboto Bold"/>
                <a:cs typeface="Roboto Bold"/>
                <a:sym typeface="Roboto Bold"/>
              </a:rPr>
              <a:t>PROJECT TITLE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0877550" y="3000375"/>
            <a:ext cx="7410450" cy="5572125"/>
          </a:xfrm>
          <a:custGeom>
            <a:avLst/>
            <a:gdLst/>
            <a:ahLst/>
            <a:cxnLst/>
            <a:rect r="r" b="b" t="t" l="l"/>
            <a:pathLst>
              <a:path h="5572125" w="7410450">
                <a:moveTo>
                  <a:pt x="0" y="0"/>
                </a:moveTo>
                <a:lnTo>
                  <a:pt x="7410450" y="0"/>
                </a:lnTo>
                <a:lnTo>
                  <a:pt x="7410450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87552" y="6821805"/>
            <a:ext cx="47548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>
                <a:solidFill>
                  <a:srgbClr val="48C2CB"/>
                </a:solidFill>
                <a:latin typeface="Roboto"/>
                <a:ea typeface="Roboto"/>
                <a:cs typeface="Roboto"/>
                <a:sym typeface="Roboto"/>
              </a:rPr>
              <a:t>Emergency response &amp; resource coordination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334256" y="8502601"/>
            <a:ext cx="5303520" cy="78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230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IDMERS: Integrated Disaster Management and Early Warning System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4944" y="4400815"/>
            <a:ext cx="5852160" cy="1634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3"/>
              </a:lnSpc>
            </a:pPr>
            <a:r>
              <a:rPr lang="en-US" sz="318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Strengthening communities</a:t>
            </a:r>
          </a:p>
          <a:p>
            <a:pPr algn="l">
              <a:lnSpc>
                <a:spcPts val="4303"/>
              </a:lnSpc>
            </a:pPr>
            <a:r>
              <a:rPr lang="en-US" sz="318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with trusted risk intelligence and</a:t>
            </a:r>
          </a:p>
          <a:p>
            <a:pPr algn="l">
              <a:lnSpc>
                <a:spcPts val="4303"/>
              </a:lnSpc>
            </a:pPr>
            <a:r>
              <a:rPr lang="en-US" sz="318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coordinated action.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6429375"/>
            <a:ext cx="6105525" cy="219075"/>
          </a:xfrm>
          <a:custGeom>
            <a:avLst/>
            <a:gdLst/>
            <a:ahLst/>
            <a:cxnLst/>
            <a:rect r="r" b="b" t="t" l="l"/>
            <a:pathLst>
              <a:path h="219075" w="6105525">
                <a:moveTo>
                  <a:pt x="0" y="0"/>
                </a:moveTo>
                <a:lnTo>
                  <a:pt x="6105525" y="0"/>
                </a:lnTo>
                <a:lnTo>
                  <a:pt x="6105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4944" y="6717598"/>
            <a:ext cx="3291840" cy="4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8"/>
              </a:lnSpc>
            </a:pPr>
            <a:r>
              <a:rPr lang="en-US" sz="2939" b="true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Let’s work together.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4944" y="7232425"/>
            <a:ext cx="5833872" cy="85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5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Connect with us to explore partnerships,</a:t>
            </a:r>
          </a:p>
          <a:p>
            <a:pPr algn="l">
              <a:lnSpc>
                <a:spcPts val="3442"/>
              </a:lnSpc>
            </a:pPr>
            <a:r>
              <a:rPr lang="en-US" sz="25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 data, and build a safer Sri Lanka.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7700" y="8479253"/>
            <a:ext cx="16992600" cy="312322"/>
          </a:xfrm>
          <a:custGeom>
            <a:avLst/>
            <a:gdLst/>
            <a:ahLst/>
            <a:cxnLst/>
            <a:rect r="r" b="b" t="t" l="l"/>
            <a:pathLst>
              <a:path h="312322" w="16992600">
                <a:moveTo>
                  <a:pt x="0" y="0"/>
                </a:moveTo>
                <a:lnTo>
                  <a:pt x="16992600" y="0"/>
                </a:lnTo>
                <a:lnTo>
                  <a:pt x="16992600" y="312322"/>
                </a:lnTo>
                <a:lnTo>
                  <a:pt x="0" y="312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281" t="0" r="-2128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4944" y="8868048"/>
            <a:ext cx="13825728" cy="78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1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NBRO LIRIS  |  ReliefWeb/OCHA Sri Lanka floods &amp; landslides  |  Dept. Meteorology Sri Lanka  |  DMC flood warning</a:t>
            </a:r>
          </a:p>
          <a:p>
            <a:pPr algn="l">
              <a:lnSpc>
                <a:spcPts val="3186"/>
              </a:lnSpc>
            </a:pPr>
            <a:r>
              <a:rPr lang="en-US" sz="21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UNDRR Sendai Framework  |  Palliyaguru et al. (ICTer 2020)  |  Atthanayake et al. (SLAAI-ICAI 2025)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4944" y="1051179"/>
            <a:ext cx="12161520" cy="273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89"/>
              </a:lnSpc>
            </a:pPr>
            <a:r>
              <a:rPr lang="en-US" sz="8991" spc="-26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  <a:p>
            <a:pPr algn="l">
              <a:lnSpc>
                <a:spcPts val="10789"/>
              </a:lnSpc>
            </a:pPr>
            <a:r>
              <a:rPr lang="en-US" sz="8991" spc="-269" b="true">
                <a:solidFill>
                  <a:srgbClr val="0097B2"/>
                </a:solidFill>
                <a:latin typeface="Roboto Bold"/>
                <a:ea typeface="Roboto Bold"/>
                <a:cs typeface="Roboto Bold"/>
                <a:sym typeface="Roboto Bold"/>
              </a:rPr>
              <a:t>Predict. Warn. </a:t>
            </a:r>
            <a:r>
              <a:rPr lang="en-US" sz="8991" spc="-269" b="true">
                <a:solidFill>
                  <a:srgbClr val="D86331"/>
                </a:solidFill>
                <a:latin typeface="Roboto Bold"/>
                <a:ea typeface="Roboto Bold"/>
                <a:cs typeface="Roboto Bold"/>
                <a:sym typeface="Roboto Bold"/>
              </a:rPr>
              <a:t>Respond.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DAHT102-L-A</dc:identifier>
  <dcterms:modified xsi:type="dcterms:W3CDTF">2011-08-01T06:04:30Z</dcterms:modified>
  <cp:revision>1</cp:revision>
  <dc:title>Integrated Flood and Landslide Risk Assessment and Response System for Sri Lanka</dc:title>
</cp:coreProperties>
</file>