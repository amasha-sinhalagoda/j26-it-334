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15" Target="../media/image45.png" Type="http://schemas.openxmlformats.org/officeDocument/2006/relationships/image"/><Relationship Id="rId16" Target="../media/image46.png" Type="http://schemas.openxmlformats.org/officeDocument/2006/relationships/image"/><Relationship Id="rId17" Target="../media/image47.png" Type="http://schemas.openxmlformats.org/officeDocument/2006/relationships/image"/><Relationship Id="rId18" Target="../media/image48.png" Type="http://schemas.openxmlformats.org/officeDocument/2006/relationships/image"/><Relationship Id="rId19" Target="../media/image49.png" Type="http://schemas.openxmlformats.org/officeDocument/2006/relationships/image"/><Relationship Id="rId2" Target="../media/image32.png" Type="http://schemas.openxmlformats.org/officeDocument/2006/relationships/image"/><Relationship Id="rId20" Target="../media/image50.png" Type="http://schemas.openxmlformats.org/officeDocument/2006/relationships/image"/><Relationship Id="rId21" Target="../media/image51.png" Type="http://schemas.openxmlformats.org/officeDocument/2006/relationships/image"/><Relationship Id="rId22" Target="../media/image52.png" Type="http://schemas.openxmlformats.org/officeDocument/2006/relationships/image"/><Relationship Id="rId23" Target="../media/image53.png" Type="http://schemas.openxmlformats.org/officeDocument/2006/relationships/image"/><Relationship Id="rId24" Target="../media/image54.png" Type="http://schemas.openxmlformats.org/officeDocument/2006/relationships/image"/><Relationship Id="rId25" Target="../media/image55.png" Type="http://schemas.openxmlformats.org/officeDocument/2006/relationships/image"/><Relationship Id="rId26" Target="../media/image56.png" Type="http://schemas.openxmlformats.org/officeDocument/2006/relationships/image"/><Relationship Id="rId27" Target="../media/image57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17" Target="../media/image73.png" Type="http://schemas.openxmlformats.org/officeDocument/2006/relationships/image"/><Relationship Id="rId18" Target="../media/image74.png" Type="http://schemas.openxmlformats.org/officeDocument/2006/relationships/image"/><Relationship Id="rId19" Target="../media/image75.png" Type="http://schemas.openxmlformats.org/officeDocument/2006/relationships/image"/><Relationship Id="rId2" Target="../media/image58.png" Type="http://schemas.openxmlformats.org/officeDocument/2006/relationships/image"/><Relationship Id="rId20" Target="../media/image76.png" Type="http://schemas.openxmlformats.org/officeDocument/2006/relationships/image"/><Relationship Id="rId21" Target="../media/image77.png" Type="http://schemas.openxmlformats.org/officeDocument/2006/relationships/image"/><Relationship Id="rId22" Target="../media/image78.png" Type="http://schemas.openxmlformats.org/officeDocument/2006/relationships/image"/><Relationship Id="rId23" Target="../media/image79.png" Type="http://schemas.openxmlformats.org/officeDocument/2006/relationships/image"/><Relationship Id="rId24" Target="../media/image80.png" Type="http://schemas.openxmlformats.org/officeDocument/2006/relationships/image"/><Relationship Id="rId25" Target="../media/image81.png" Type="http://schemas.openxmlformats.org/officeDocument/2006/relationships/image"/><Relationship Id="rId26" Target="../media/image82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14" Target="../media/image95.png" Type="http://schemas.openxmlformats.org/officeDocument/2006/relationships/image"/><Relationship Id="rId15" Target="../media/image96.png" Type="http://schemas.openxmlformats.org/officeDocument/2006/relationships/image"/><Relationship Id="rId2" Target="../media/image83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109.png" Type="http://schemas.openxmlformats.org/officeDocument/2006/relationships/image"/><Relationship Id="rId15" Target="../media/image110.png" Type="http://schemas.openxmlformats.org/officeDocument/2006/relationships/image"/><Relationship Id="rId16" Target="../media/image111.png" Type="http://schemas.openxmlformats.org/officeDocument/2006/relationships/image"/><Relationship Id="rId17" Target="../media/image112.png" Type="http://schemas.openxmlformats.org/officeDocument/2006/relationships/image"/><Relationship Id="rId18" Target="../media/image113.png" Type="http://schemas.openxmlformats.org/officeDocument/2006/relationships/image"/><Relationship Id="rId19" Target="../media/image114.png" Type="http://schemas.openxmlformats.org/officeDocument/2006/relationships/image"/><Relationship Id="rId2" Target="../media/image97.png" Type="http://schemas.openxmlformats.org/officeDocument/2006/relationships/image"/><Relationship Id="rId20" Target="../media/image115.png" Type="http://schemas.openxmlformats.org/officeDocument/2006/relationships/image"/><Relationship Id="rId21" Target="../media/image116.png" Type="http://schemas.openxmlformats.org/officeDocument/2006/relationships/image"/><Relationship Id="rId22" Target="../media/image117.png" Type="http://schemas.openxmlformats.org/officeDocument/2006/relationships/image"/><Relationship Id="rId23" Target="../media/image118.png" Type="http://schemas.openxmlformats.org/officeDocument/2006/relationships/image"/><Relationship Id="rId24" Target="../media/image119.png" Type="http://schemas.openxmlformats.org/officeDocument/2006/relationships/image"/><Relationship Id="rId25" Target="../media/image120.png" Type="http://schemas.openxmlformats.org/officeDocument/2006/relationships/image"/><Relationship Id="rId26" Target="../media/image121.png" Type="http://schemas.openxmlformats.org/officeDocument/2006/relationships/image"/><Relationship Id="rId27" Target="../media/image122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png" Type="http://schemas.openxmlformats.org/officeDocument/2006/relationships/image"/><Relationship Id="rId12" Target="../media/image133.png" Type="http://schemas.openxmlformats.org/officeDocument/2006/relationships/image"/><Relationship Id="rId13" Target="../media/image134.png" Type="http://schemas.openxmlformats.org/officeDocument/2006/relationships/image"/><Relationship Id="rId14" Target="../media/image135.png" Type="http://schemas.openxmlformats.org/officeDocument/2006/relationships/image"/><Relationship Id="rId15" Target="../media/image136.png" Type="http://schemas.openxmlformats.org/officeDocument/2006/relationships/image"/><Relationship Id="rId16" Target="../media/image137.png" Type="http://schemas.openxmlformats.org/officeDocument/2006/relationships/image"/><Relationship Id="rId17" Target="../media/image138.png" Type="http://schemas.openxmlformats.org/officeDocument/2006/relationships/image"/><Relationship Id="rId18" Target="../media/image139.png" Type="http://schemas.openxmlformats.org/officeDocument/2006/relationships/image"/><Relationship Id="rId19" Target="../media/image140.png" Type="http://schemas.openxmlformats.org/officeDocument/2006/relationships/image"/><Relationship Id="rId2" Target="../media/image123.png" Type="http://schemas.openxmlformats.org/officeDocument/2006/relationships/image"/><Relationship Id="rId20" Target="../media/image141.png" Type="http://schemas.openxmlformats.org/officeDocument/2006/relationships/image"/><Relationship Id="rId21" Target="../media/image142.png" Type="http://schemas.openxmlformats.org/officeDocument/2006/relationships/image"/><Relationship Id="rId22" Target="../media/image143.png" Type="http://schemas.openxmlformats.org/officeDocument/2006/relationships/image"/><Relationship Id="rId23" Target="../media/image144.png" Type="http://schemas.openxmlformats.org/officeDocument/2006/relationships/image"/><Relationship Id="rId24" Target="../media/image145.png" Type="http://schemas.openxmlformats.org/officeDocument/2006/relationships/image"/><Relationship Id="rId25" Target="../media/image146.png" Type="http://schemas.openxmlformats.org/officeDocument/2006/relationships/image"/><Relationship Id="rId3" Target="../media/image124.png" Type="http://schemas.openxmlformats.org/officeDocument/2006/relationships/image"/><Relationship Id="rId4" Target="../media/image125.png" Type="http://schemas.openxmlformats.org/officeDocument/2006/relationships/image"/><Relationship Id="rId5" Target="../media/image126.png" Type="http://schemas.openxmlformats.org/officeDocument/2006/relationships/image"/><Relationship Id="rId6" Target="../media/image127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5.png" Type="http://schemas.openxmlformats.org/officeDocument/2006/relationships/image"/><Relationship Id="rId11" Target="../media/image156.png" Type="http://schemas.openxmlformats.org/officeDocument/2006/relationships/image"/><Relationship Id="rId2" Target="../media/image147.png" Type="http://schemas.openxmlformats.org/officeDocument/2006/relationships/image"/><Relationship Id="rId3" Target="../media/image148.png" Type="http://schemas.openxmlformats.org/officeDocument/2006/relationships/image"/><Relationship Id="rId4" Target="../media/image149.png" Type="http://schemas.openxmlformats.org/officeDocument/2006/relationships/image"/><Relationship Id="rId5" Target="../media/image150.png" Type="http://schemas.openxmlformats.org/officeDocument/2006/relationships/image"/><Relationship Id="rId6" Target="../media/image151.png" Type="http://schemas.openxmlformats.org/officeDocument/2006/relationships/image"/><Relationship Id="rId7" Target="../media/image152.png" Type="http://schemas.openxmlformats.org/officeDocument/2006/relationships/image"/><Relationship Id="rId8" Target="../media/image153.png" Type="http://schemas.openxmlformats.org/officeDocument/2006/relationships/image"/><Relationship Id="rId9" Target="../media/image1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7.png" Type="http://schemas.openxmlformats.org/officeDocument/2006/relationships/image"/><Relationship Id="rId3" Target="../media/image158.png" Type="http://schemas.openxmlformats.org/officeDocument/2006/relationships/image"/><Relationship Id="rId4" Target="../media/image1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700" y="0"/>
            <a:ext cx="10020300" cy="10287000"/>
          </a:xfrm>
          <a:custGeom>
            <a:avLst/>
            <a:gdLst/>
            <a:ahLst/>
            <a:cxnLst/>
            <a:rect r="r" b="b" t="t" l="l"/>
            <a:pathLst>
              <a:path h="10287000" w="10020300">
                <a:moveTo>
                  <a:pt x="0" y="0"/>
                </a:moveTo>
                <a:lnTo>
                  <a:pt x="10020300" y="0"/>
                </a:lnTo>
                <a:lnTo>
                  <a:pt x="10020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6625" y="638175"/>
            <a:ext cx="5457825" cy="8791575"/>
          </a:xfrm>
          <a:custGeom>
            <a:avLst/>
            <a:gdLst/>
            <a:ahLst/>
            <a:cxnLst/>
            <a:rect r="r" b="b" t="t" l="l"/>
            <a:pathLst>
              <a:path h="8791575" w="5457825">
                <a:moveTo>
                  <a:pt x="0" y="0"/>
                </a:moveTo>
                <a:lnTo>
                  <a:pt x="5457825" y="0"/>
                </a:lnTo>
                <a:lnTo>
                  <a:pt x="5457825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7824" y="938522"/>
            <a:ext cx="7680960" cy="427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3"/>
              </a:lnSpc>
            </a:pPr>
            <a:r>
              <a:rPr lang="en-US" sz="61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Integrated Flood and Landslide Risk Assessment and Response System for Sri Lanka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7824" y="5902699"/>
            <a:ext cx="7059168" cy="72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4"/>
              </a:lnSpc>
            </a:pPr>
            <a:r>
              <a:rPr lang="en-US" sz="5031" b="true">
                <a:solidFill>
                  <a:srgbClr val="E64813"/>
                </a:solidFill>
                <a:latin typeface="Roboto Bold"/>
                <a:ea typeface="Roboto Bold"/>
                <a:cs typeface="Roboto Bold"/>
                <a:sym typeface="Roboto Bold"/>
              </a:rPr>
              <a:t>Predict. Warn. Respond.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824" y="7127987"/>
            <a:ext cx="7607808" cy="87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Integrated Flood and Landslide</a:t>
            </a:r>
          </a:p>
          <a:p>
            <a:pPr algn="l">
              <a:lnSpc>
                <a:spcPts val="3470"/>
              </a:lnSpc>
            </a:pPr>
            <a:r>
              <a:rPr lang="en-US" sz="247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 Assessment and Response System for Sri Lanka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8353425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7824" y="8593070"/>
            <a:ext cx="1883664" cy="44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TEAM NAME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7824" y="9035411"/>
            <a:ext cx="3675888" cy="44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PROJECT ID: J26-IT-334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8925" y="209550"/>
            <a:ext cx="5229225" cy="9220200"/>
          </a:xfrm>
          <a:custGeom>
            <a:avLst/>
            <a:gdLst/>
            <a:ahLst/>
            <a:cxnLst/>
            <a:rect r="r" b="b" t="t" l="l"/>
            <a:pathLst>
              <a:path h="9220200" w="5229225">
                <a:moveTo>
                  <a:pt x="0" y="0"/>
                </a:moveTo>
                <a:lnTo>
                  <a:pt x="5229225" y="0"/>
                </a:lnTo>
                <a:lnTo>
                  <a:pt x="522922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640" y="489566"/>
            <a:ext cx="8339328" cy="236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1"/>
              </a:lnSpc>
            </a:pPr>
            <a:r>
              <a:rPr lang="en-US" sz="9001" spc="-1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Recurring Risks. </a:t>
            </a:r>
            <a:r>
              <a:rPr lang="en-US" sz="9001" spc="-180" b="true">
                <a:solidFill>
                  <a:srgbClr val="7CD8D9"/>
                </a:solidFill>
                <a:latin typeface="Roboto Bold"/>
                <a:ea typeface="Roboto Bold"/>
                <a:cs typeface="Roboto Bold"/>
                <a:sym typeface="Roboto Bold"/>
              </a:rPr>
              <a:t>Real Impact.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640" y="2906649"/>
            <a:ext cx="7205472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975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Floods and landslides continue to devastate communities across Sri Lanka.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4269486"/>
            <a:ext cx="519379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Loss of life, </a:t>
            </a:r>
            <a:r>
              <a:rPr lang="en-US" sz="2797" spc="-55" b="true">
                <a:solidFill>
                  <a:srgbClr val="D15D3C"/>
                </a:solidFill>
                <a:latin typeface="Roboto Bold"/>
                <a:ea typeface="Roboto Bold"/>
                <a:cs typeface="Roboto Bold"/>
                <a:sym typeface="Roboto Bold"/>
              </a:rPr>
              <a:t>infrastructure damage</a:t>
            </a: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797" spc="-55" b="true">
                <a:solidFill>
                  <a:srgbClr val="D15D3C"/>
                </a:solidFill>
                <a:latin typeface="Roboto Bold"/>
                <a:ea typeface="Roboto Bold"/>
                <a:cs typeface="Roboto Bold"/>
                <a:sym typeface="Roboto Bold"/>
              </a:rPr>
              <a:t>transport disruption</a:t>
            </a: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and significant </a:t>
            </a:r>
            <a:r>
              <a:rPr lang="en-US" sz="2797" spc="-55" b="true">
                <a:solidFill>
                  <a:srgbClr val="D15D3C"/>
                </a:solidFill>
                <a:latin typeface="Roboto Bold"/>
                <a:ea typeface="Roboto Bold"/>
                <a:cs typeface="Roboto Bold"/>
                <a:sym typeface="Roboto Bold"/>
              </a:rPr>
              <a:t>economic losses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5572125"/>
            <a:ext cx="6543675" cy="219075"/>
          </a:xfrm>
          <a:custGeom>
            <a:avLst/>
            <a:gdLst/>
            <a:ahLst/>
            <a:cxnLst/>
            <a:rect r="r" b="b" t="t" l="l"/>
            <a:pathLst>
              <a:path h="219075" w="6543675">
                <a:moveTo>
                  <a:pt x="0" y="0"/>
                </a:moveTo>
                <a:lnTo>
                  <a:pt x="6543675" y="0"/>
                </a:lnTo>
                <a:lnTo>
                  <a:pt x="6543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4944" y="5867781"/>
            <a:ext cx="552297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High-risk areas: </a:t>
            </a:r>
            <a:r>
              <a:rPr lang="en-US" sz="2797" spc="-55" b="true">
                <a:solidFill>
                  <a:srgbClr val="7CD8D9"/>
                </a:solidFill>
                <a:latin typeface="Roboto Bold"/>
                <a:ea typeface="Roboto Bold"/>
                <a:cs typeface="Roboto Bold"/>
                <a:sym typeface="Roboto Bold"/>
              </a:rPr>
              <a:t>Ratnapura, Kegalle, Badulla, Nuwara Eliya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6858000"/>
            <a:ext cx="6543675" cy="219075"/>
          </a:xfrm>
          <a:custGeom>
            <a:avLst/>
            <a:gdLst/>
            <a:ahLst/>
            <a:cxnLst/>
            <a:rect r="r" b="b" t="t" l="l"/>
            <a:pathLst>
              <a:path h="219075" w="6543675">
                <a:moveTo>
                  <a:pt x="0" y="0"/>
                </a:moveTo>
                <a:lnTo>
                  <a:pt x="6543675" y="0"/>
                </a:lnTo>
                <a:lnTo>
                  <a:pt x="6543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4944" y="7057263"/>
            <a:ext cx="614476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Driven by monsoon rainfall, urbanization, deforestation, land use changes, and climate variability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8353425"/>
            <a:ext cx="6543675" cy="219075"/>
          </a:xfrm>
          <a:custGeom>
            <a:avLst/>
            <a:gdLst/>
            <a:ahLst/>
            <a:cxnLst/>
            <a:rect r="r" b="b" t="t" l="l"/>
            <a:pathLst>
              <a:path h="219075" w="6543675">
                <a:moveTo>
                  <a:pt x="0" y="0"/>
                </a:moveTo>
                <a:lnTo>
                  <a:pt x="6543675" y="0"/>
                </a:lnTo>
                <a:lnTo>
                  <a:pt x="6543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4944" y="8840343"/>
            <a:ext cx="58521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Current warning systems are separate, hazard-specific, and reactive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7696" y="4122420"/>
            <a:ext cx="10972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b="true" sz="2691" spc="-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Kegalle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29850" y="4495800"/>
            <a:ext cx="1752600" cy="866775"/>
          </a:xfrm>
          <a:custGeom>
            <a:avLst/>
            <a:gdLst/>
            <a:ahLst/>
            <a:cxnLst/>
            <a:rect r="r" b="b" t="t" l="l"/>
            <a:pathLst>
              <a:path h="866775" w="1752600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91104" y="4943475"/>
            <a:ext cx="179222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b="true" sz="2514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Nuwara Eliya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39700" y="5353050"/>
            <a:ext cx="4362450" cy="1295400"/>
          </a:xfrm>
          <a:custGeom>
            <a:avLst/>
            <a:gdLst/>
            <a:ahLst/>
            <a:cxnLst/>
            <a:rect r="r" b="b" t="t" l="l"/>
            <a:pathLst>
              <a:path h="1295400" w="4362450">
                <a:moveTo>
                  <a:pt x="0" y="0"/>
                </a:moveTo>
                <a:lnTo>
                  <a:pt x="4362450" y="0"/>
                </a:lnTo>
                <a:lnTo>
                  <a:pt x="4362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23376" y="7166610"/>
            <a:ext cx="15544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b="true" sz="2726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Ratnapura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29850" y="7286625"/>
            <a:ext cx="1752600" cy="428625"/>
          </a:xfrm>
          <a:custGeom>
            <a:avLst/>
            <a:gdLst/>
            <a:ahLst/>
            <a:cxnLst/>
            <a:rect r="r" b="b" t="t" l="l"/>
            <a:pathLst>
              <a:path h="428625" w="1752600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691104" y="7068503"/>
            <a:ext cx="10972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2656" spc="-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Badulla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925550" y="6638925"/>
            <a:ext cx="1752600" cy="1076325"/>
          </a:xfrm>
          <a:custGeom>
            <a:avLst/>
            <a:gdLst/>
            <a:ahLst/>
            <a:cxnLst/>
            <a:rect r="r" b="b" t="t" l="l"/>
            <a:pathLst>
              <a:path h="1076325" w="1752600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331872"/>
            <a:ext cx="5687568" cy="134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4"/>
              </a:lnSpc>
            </a:pPr>
            <a:r>
              <a:rPr lang="en-US" sz="783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One System.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1352484"/>
            <a:ext cx="8449056" cy="131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5"/>
              </a:lnSpc>
            </a:pPr>
            <a:r>
              <a:rPr lang="en-US" sz="7689" b="true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Smarter Response.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4495800"/>
            <a:ext cx="3714750" cy="4295775"/>
          </a:xfrm>
          <a:custGeom>
            <a:avLst/>
            <a:gdLst/>
            <a:ahLst/>
            <a:cxnLst/>
            <a:rect r="r" b="b" t="t" l="l"/>
            <a:pathLst>
              <a:path h="4295775" w="3714750">
                <a:moveTo>
                  <a:pt x="0" y="0"/>
                </a:moveTo>
                <a:lnTo>
                  <a:pt x="3714750" y="0"/>
                </a:lnTo>
                <a:lnTo>
                  <a:pt x="37147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4000" y="4924425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8176" y="6290739"/>
            <a:ext cx="2103120" cy="49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112" y="6902643"/>
            <a:ext cx="3218688" cy="151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AI-driven models forecast heavy rainfall and assess flood and landslide risk across Sri Lanka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00625" y="4495800"/>
            <a:ext cx="3714750" cy="4295775"/>
          </a:xfrm>
          <a:custGeom>
            <a:avLst/>
            <a:gdLst/>
            <a:ahLst/>
            <a:cxnLst/>
            <a:rect r="r" b="b" t="t" l="l"/>
            <a:pathLst>
              <a:path h="4295775" w="3714750">
                <a:moveTo>
                  <a:pt x="0" y="0"/>
                </a:moveTo>
                <a:lnTo>
                  <a:pt x="3714750" y="0"/>
                </a:lnTo>
                <a:lnTo>
                  <a:pt x="37147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76925" y="4714875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632704" y="6290739"/>
            <a:ext cx="2359152" cy="49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ASSESSMENT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41264" y="6874518"/>
            <a:ext cx="2395728" cy="156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 potential impacts on people, infrastructure, and livelihoods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53550" y="4495800"/>
            <a:ext cx="3933825" cy="4295775"/>
          </a:xfrm>
          <a:custGeom>
            <a:avLst/>
            <a:gdLst/>
            <a:ahLst/>
            <a:cxnLst/>
            <a:rect r="r" b="b" t="t" l="l"/>
            <a:pathLst>
              <a:path h="4295775" w="3933825">
                <a:moveTo>
                  <a:pt x="0" y="0"/>
                </a:moveTo>
                <a:lnTo>
                  <a:pt x="3933825" y="0"/>
                </a:lnTo>
                <a:lnTo>
                  <a:pt x="393382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9850" y="4924425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74352" y="6285076"/>
            <a:ext cx="3273552" cy="50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b="true" sz="2797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DECISION SUPPORT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57232" y="6874518"/>
            <a:ext cx="2670048" cy="156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 explainable risk insights and prioritized response recommendations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716000" y="4495800"/>
            <a:ext cx="3924300" cy="4295775"/>
          </a:xfrm>
          <a:custGeom>
            <a:avLst/>
            <a:gdLst/>
            <a:ahLst/>
            <a:cxnLst/>
            <a:rect r="r" b="b" t="t" l="l"/>
            <a:pathLst>
              <a:path h="4295775" w="3924300">
                <a:moveTo>
                  <a:pt x="0" y="0"/>
                </a:moveTo>
                <a:lnTo>
                  <a:pt x="3924300" y="0"/>
                </a:lnTo>
                <a:lnTo>
                  <a:pt x="392430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582775" y="4714875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740128" y="6286426"/>
            <a:ext cx="1865376" cy="50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5"/>
              </a:lnSpc>
            </a:pPr>
            <a:r>
              <a:rPr lang="en-US" b="true" sz="2904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RESPONSE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64640" y="6902643"/>
            <a:ext cx="2907792" cy="151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Coordinate agencies and mobilize resources for rapid, effective emergency actions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352925" y="60007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05850" y="60007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58775" y="60007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90775" y="8572500"/>
            <a:ext cx="4581525" cy="1076325"/>
          </a:xfrm>
          <a:custGeom>
            <a:avLst/>
            <a:gdLst/>
            <a:ahLst/>
            <a:cxnLst/>
            <a:rect r="r" b="b" t="t" l="l"/>
            <a:pathLst>
              <a:path h="1076325" w="45815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743700" y="85725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315700" y="85725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77550" y="8572500"/>
            <a:ext cx="5019675" cy="1076325"/>
          </a:xfrm>
          <a:custGeom>
            <a:avLst/>
            <a:gdLst/>
            <a:ahLst/>
            <a:cxnLst/>
            <a:rect r="r" b="b" t="t" l="l"/>
            <a:pathLst>
              <a:path h="1076325" w="501967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1850" y="8782050"/>
            <a:ext cx="3924300" cy="1504950"/>
          </a:xfrm>
          <a:custGeom>
            <a:avLst/>
            <a:gdLst/>
            <a:ahLst/>
            <a:cxnLst/>
            <a:rect r="r" b="b" t="t" l="l"/>
            <a:pathLst>
              <a:path h="1504950" w="3924300">
                <a:moveTo>
                  <a:pt x="0" y="0"/>
                </a:moveTo>
                <a:lnTo>
                  <a:pt x="3924300" y="0"/>
                </a:lnTo>
                <a:lnTo>
                  <a:pt x="3924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400925" y="90011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503920" y="9227616"/>
            <a:ext cx="2304288" cy="69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65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EARLY ALERTS SAVE LIVES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1792" y="2735905"/>
            <a:ext cx="8650224" cy="44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integrated, AI-driven system for flood and landslide risk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1792" y="3199132"/>
            <a:ext cx="9326880" cy="45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Four components working together from prediction to response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1792" y="3672334"/>
            <a:ext cx="10369296" cy="45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Timely, explainable, inclusive alerts and prioritized actions for Sri Lanka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570403"/>
            <a:ext cx="14063472" cy="173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6626" spc="-13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1</a:t>
            </a:r>
          </a:p>
          <a:p>
            <a:pPr algn="l">
              <a:lnSpc>
                <a:spcPts val="6626"/>
              </a:lnSpc>
            </a:pPr>
            <a:r>
              <a:rPr lang="en-US" sz="6626" spc="-132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Flood Severity Assessment &amp; Mapping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2744813"/>
            <a:ext cx="3401568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b="true" sz="2017" spc="-40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MULTI-SOURCE DATA INPUTS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000375"/>
            <a:ext cx="4143375" cy="1285875"/>
          </a:xfrm>
          <a:custGeom>
            <a:avLst/>
            <a:gdLst/>
            <a:ahLst/>
            <a:cxnLst/>
            <a:rect r="r" b="b" t="t" l="l"/>
            <a:pathLst>
              <a:path h="1285875" w="4143375">
                <a:moveTo>
                  <a:pt x="0" y="0"/>
                </a:moveTo>
                <a:lnTo>
                  <a:pt x="4143375" y="0"/>
                </a:lnTo>
                <a:lnTo>
                  <a:pt x="4143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6384" y="3413570"/>
            <a:ext cx="8229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Rainfall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4286250"/>
            <a:ext cx="4143375" cy="1285875"/>
          </a:xfrm>
          <a:custGeom>
            <a:avLst/>
            <a:gdLst/>
            <a:ahLst/>
            <a:cxnLst/>
            <a:rect r="r" b="b" t="t" l="l"/>
            <a:pathLst>
              <a:path h="1285875" w="4143375">
                <a:moveTo>
                  <a:pt x="0" y="0"/>
                </a:moveTo>
                <a:lnTo>
                  <a:pt x="4143375" y="0"/>
                </a:lnTo>
                <a:lnTo>
                  <a:pt x="4143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384" y="4583049"/>
            <a:ext cx="64008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River</a:t>
            </a:r>
          </a:p>
          <a:p>
            <a:pPr algn="l">
              <a:lnSpc>
                <a:spcPts val="2506"/>
              </a:lnSpc>
            </a:pPr>
            <a:r>
              <a:rPr lang="en-US" sz="2088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levels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5353050"/>
            <a:ext cx="4143375" cy="1295400"/>
          </a:xfrm>
          <a:custGeom>
            <a:avLst/>
            <a:gdLst/>
            <a:ahLst/>
            <a:cxnLst/>
            <a:rect r="r" b="b" t="t" l="l"/>
            <a:pathLst>
              <a:path h="1295400" w="4143375">
                <a:moveTo>
                  <a:pt x="0" y="0"/>
                </a:moveTo>
                <a:lnTo>
                  <a:pt x="4143375" y="0"/>
                </a:lnTo>
                <a:lnTo>
                  <a:pt x="4143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6384" y="5714619"/>
            <a:ext cx="14264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Satellite observations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6638925"/>
            <a:ext cx="4143375" cy="1295400"/>
          </a:xfrm>
          <a:custGeom>
            <a:avLst/>
            <a:gdLst/>
            <a:ahLst/>
            <a:cxnLst/>
            <a:rect r="r" b="b" t="t" l="l"/>
            <a:pathLst>
              <a:path h="1295400" w="4143375">
                <a:moveTo>
                  <a:pt x="0" y="0"/>
                </a:moveTo>
                <a:lnTo>
                  <a:pt x="4143375" y="0"/>
                </a:lnTo>
                <a:lnTo>
                  <a:pt x="4143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6384" y="6897624"/>
            <a:ext cx="10241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Terrain &amp;</a:t>
            </a:r>
          </a:p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 use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715250"/>
            <a:ext cx="4143375" cy="1504950"/>
          </a:xfrm>
          <a:custGeom>
            <a:avLst/>
            <a:gdLst/>
            <a:ahLst/>
            <a:cxnLst/>
            <a:rect r="r" b="b" t="t" l="l"/>
            <a:pathLst>
              <a:path h="1504950" w="4143375">
                <a:moveTo>
                  <a:pt x="0" y="0"/>
                </a:moveTo>
                <a:lnTo>
                  <a:pt x="4143375" y="0"/>
                </a:lnTo>
                <a:lnTo>
                  <a:pt x="4143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6384" y="8059623"/>
            <a:ext cx="1170432" cy="85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Historical floods &amp; population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572000" y="3638550"/>
            <a:ext cx="657225" cy="4933950"/>
          </a:xfrm>
          <a:custGeom>
            <a:avLst/>
            <a:gdLst/>
            <a:ahLst/>
            <a:cxnLst/>
            <a:rect r="r" b="b" t="t" l="l"/>
            <a:pathLst>
              <a:path h="4933950" w="657225">
                <a:moveTo>
                  <a:pt x="0" y="0"/>
                </a:moveTo>
                <a:lnTo>
                  <a:pt x="657225" y="0"/>
                </a:lnTo>
                <a:lnTo>
                  <a:pt x="657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72000" y="60007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72000" y="70675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00625" y="5353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596128" y="2754788"/>
            <a:ext cx="3072384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b="true" sz="1982" spc="-39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PROCESSING &amp; ANALYTICS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219700" y="3000375"/>
            <a:ext cx="3714750" cy="5791200"/>
          </a:xfrm>
          <a:custGeom>
            <a:avLst/>
            <a:gdLst/>
            <a:ahLst/>
            <a:cxnLst/>
            <a:rect r="r" b="b" t="t" l="l"/>
            <a:pathLst>
              <a:path h="5791200" w="3714750">
                <a:moveTo>
                  <a:pt x="0" y="0"/>
                </a:moveTo>
                <a:lnTo>
                  <a:pt x="3714750" y="0"/>
                </a:lnTo>
                <a:lnTo>
                  <a:pt x="37147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760720" y="3604260"/>
            <a:ext cx="22677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Preprocess and fuse geospatial data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743700" y="42862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57850" y="44958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60720" y="4860798"/>
            <a:ext cx="254203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AI/ML models with explainable risk factors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43700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657850" y="5572125"/>
            <a:ext cx="2838450" cy="428625"/>
          </a:xfrm>
          <a:custGeom>
            <a:avLst/>
            <a:gdLst/>
            <a:ahLst/>
            <a:cxnLst/>
            <a:rect r="r" b="b" t="t" l="l"/>
            <a:pathLst>
              <a:path h="428625" w="2838450">
                <a:moveTo>
                  <a:pt x="0" y="0"/>
                </a:moveTo>
                <a:lnTo>
                  <a:pt x="2838450" y="0"/>
                </a:lnTo>
                <a:lnTo>
                  <a:pt x="2838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760720" y="6074664"/>
            <a:ext cx="221284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Assess flood extent and severity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743700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657850" y="68580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760720" y="7341870"/>
            <a:ext cx="226771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 affected population, buildings and infrastructure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962775" y="8572500"/>
            <a:ext cx="2619375" cy="857250"/>
          </a:xfrm>
          <a:custGeom>
            <a:avLst/>
            <a:gdLst/>
            <a:ahLst/>
            <a:cxnLst/>
            <a:rect r="r" b="b" t="t" l="l"/>
            <a:pathLst>
              <a:path h="857250" w="2619375">
                <a:moveTo>
                  <a:pt x="0" y="0"/>
                </a:moveTo>
                <a:lnTo>
                  <a:pt x="2619375" y="0"/>
                </a:lnTo>
                <a:lnTo>
                  <a:pt x="261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777472" y="2754788"/>
            <a:ext cx="3694176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b="true" sz="1982" spc="-39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DYNAMIC FLOOD SEVERITY MAP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572625" y="3000375"/>
            <a:ext cx="8286750" cy="4933950"/>
          </a:xfrm>
          <a:custGeom>
            <a:avLst/>
            <a:gdLst/>
            <a:ahLst/>
            <a:cxnLst/>
            <a:rect r="r" b="b" t="t" l="l"/>
            <a:pathLst>
              <a:path h="4933950" w="8286750">
                <a:moveTo>
                  <a:pt x="0" y="0"/>
                </a:moveTo>
                <a:lnTo>
                  <a:pt x="8286750" y="0"/>
                </a:lnTo>
                <a:lnTo>
                  <a:pt x="8286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924925" y="51435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572625" y="7924800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277856" y="8570214"/>
            <a:ext cx="259689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 b="true">
                <a:solidFill>
                  <a:srgbClr val="FF6B34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insight for response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058775" y="8353425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368528" y="8359258"/>
            <a:ext cx="3639312" cy="105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1876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Supports evacuation planning</a:t>
            </a:r>
          </a:p>
          <a:p>
            <a:pPr algn="l">
              <a:lnSpc>
                <a:spcPts val="2814"/>
              </a:lnSpc>
            </a:pPr>
            <a:r>
              <a:rPr lang="en-US" sz="1876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Enables resource prioritization</a:t>
            </a:r>
          </a:p>
          <a:p>
            <a:pPr algn="l">
              <a:lnSpc>
                <a:spcPts val="2814"/>
              </a:lnSpc>
            </a:pPr>
            <a:r>
              <a:rPr lang="en-US" sz="1876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Guides decision-making in real time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5887700" y="5572125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106775" y="57816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605504" y="6054662"/>
            <a:ext cx="3657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spc="-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10677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6605504" y="6461379"/>
            <a:ext cx="8229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Medium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6106775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6605504" y="6897434"/>
            <a:ext cx="4389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734" spc="-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482014"/>
            <a:ext cx="1847088" cy="35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1C99A3"/>
                </a:solidFill>
                <a:latin typeface="Roboto"/>
                <a:ea typeface="Roboto"/>
                <a:cs typeface="Roboto"/>
                <a:sym typeface="Roboto"/>
              </a:rPr>
              <a:t>COMPONENT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925413"/>
            <a:ext cx="10131552" cy="179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5"/>
              </a:lnSpc>
            </a:pPr>
            <a:r>
              <a:rPr lang="en-US" sz="6697" spc="-28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Probabilistic Landslide Assessment &amp;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928" y="2779721"/>
            <a:ext cx="7406640" cy="39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C99A3"/>
                </a:solidFill>
                <a:latin typeface="Roboto"/>
                <a:ea typeface="Roboto"/>
                <a:cs typeface="Roboto"/>
                <a:sym typeface="Roboto"/>
              </a:rPr>
              <a:t>Machine learning and explainability with accessible alerts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216" y="4009153"/>
            <a:ext cx="4023360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landslide probability from provincial to village scale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5143500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216" y="5356750"/>
            <a:ext cx="4279392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Explainable AI reveals the key environmental and human drivers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6429375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5216" y="6807217"/>
            <a:ext cx="5120640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Accessible Web-GIS and 3D maps with Sinhala/Tamil dual-language alerts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7715250"/>
            <a:ext cx="5238750" cy="428625"/>
          </a:xfrm>
          <a:custGeom>
            <a:avLst/>
            <a:gdLst/>
            <a:ahLst/>
            <a:cxnLst/>
            <a:rect r="r" b="b" t="t" l="l"/>
            <a:pathLst>
              <a:path h="428625" w="5238750">
                <a:moveTo>
                  <a:pt x="0" y="0"/>
                </a:moveTo>
                <a:lnTo>
                  <a:pt x="5238750" y="0"/>
                </a:lnTo>
                <a:lnTo>
                  <a:pt x="523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5216" y="8134240"/>
            <a:ext cx="4919472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1C99A3"/>
                </a:solidFill>
                <a:latin typeface="Roboto"/>
                <a:ea typeface="Roboto"/>
                <a:cs typeface="Roboto"/>
                <a:sym typeface="Roboto"/>
              </a:rPr>
              <a:t>Powered by </a:t>
            </a: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Forest/XGBoost, PostGIS, Leaflet/MapLibre, WebGL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05550" y="3000375"/>
            <a:ext cx="4152900" cy="1076325"/>
          </a:xfrm>
          <a:custGeom>
            <a:avLst/>
            <a:gdLst/>
            <a:ahLst/>
            <a:cxnLst/>
            <a:rect r="r" b="b" t="t" l="l"/>
            <a:pathLst>
              <a:path h="1076325" w="4152900">
                <a:moveTo>
                  <a:pt x="0" y="0"/>
                </a:moveTo>
                <a:lnTo>
                  <a:pt x="4152900" y="0"/>
                </a:lnTo>
                <a:lnTo>
                  <a:pt x="4152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9850" y="3000375"/>
            <a:ext cx="4362450" cy="1076325"/>
          </a:xfrm>
          <a:custGeom>
            <a:avLst/>
            <a:gdLst/>
            <a:ahLst/>
            <a:cxnLst/>
            <a:rect r="r" b="b" t="t" l="l"/>
            <a:pathLst>
              <a:path h="1076325" w="4362450">
                <a:moveTo>
                  <a:pt x="0" y="0"/>
                </a:moveTo>
                <a:lnTo>
                  <a:pt x="4362450" y="0"/>
                </a:lnTo>
                <a:lnTo>
                  <a:pt x="4362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63700" y="3000375"/>
            <a:ext cx="3495675" cy="1076325"/>
          </a:xfrm>
          <a:custGeom>
            <a:avLst/>
            <a:gdLst/>
            <a:ahLst/>
            <a:cxnLst/>
            <a:rect r="r" b="b" t="t" l="l"/>
            <a:pathLst>
              <a:path h="1076325" w="3495675">
                <a:moveTo>
                  <a:pt x="0" y="0"/>
                </a:moveTo>
                <a:lnTo>
                  <a:pt x="3495675" y="0"/>
                </a:lnTo>
                <a:lnTo>
                  <a:pt x="3495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105888" y="3121511"/>
            <a:ext cx="1865376" cy="49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b="true" sz="28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RISK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096000" y="4067175"/>
            <a:ext cx="7191375" cy="4295775"/>
          </a:xfrm>
          <a:custGeom>
            <a:avLst/>
            <a:gdLst/>
            <a:ahLst/>
            <a:cxnLst/>
            <a:rect r="r" b="b" t="t" l="l"/>
            <a:pathLst>
              <a:path h="4295775" w="7191375">
                <a:moveTo>
                  <a:pt x="0" y="0"/>
                </a:moveTo>
                <a:lnTo>
                  <a:pt x="7191375" y="0"/>
                </a:lnTo>
                <a:lnTo>
                  <a:pt x="7191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05550" y="4286250"/>
            <a:ext cx="1533525" cy="3000375"/>
          </a:xfrm>
          <a:custGeom>
            <a:avLst/>
            <a:gdLst/>
            <a:ahLst/>
            <a:cxnLst/>
            <a:rect r="r" b="b" t="t" l="l"/>
            <a:pathLst>
              <a:path h="3000375" w="1533525">
                <a:moveTo>
                  <a:pt x="0" y="0"/>
                </a:moveTo>
                <a:lnTo>
                  <a:pt x="1533525" y="0"/>
                </a:lnTo>
                <a:lnTo>
                  <a:pt x="15335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24625" y="51435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24625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524625" y="57816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24625" y="6210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24625" y="64293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486775" y="44958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29850" y="471487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229850" y="47148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91700" y="6210300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753850" y="7286625"/>
            <a:ext cx="228600" cy="219075"/>
          </a:xfrm>
          <a:custGeom>
            <a:avLst/>
            <a:gdLst/>
            <a:ahLst/>
            <a:cxnLst/>
            <a:rect r="r" b="b" t="t" l="l"/>
            <a:pathLst>
              <a:path h="219075" w="228600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753850" y="7715250"/>
            <a:ext cx="228600" cy="219075"/>
          </a:xfrm>
          <a:custGeom>
            <a:avLst/>
            <a:gdLst/>
            <a:ahLst/>
            <a:cxnLst/>
            <a:rect r="r" b="b" t="t" l="l"/>
            <a:pathLst>
              <a:path h="219075" w="228600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01550" y="4286250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01550" y="535305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401550" y="57816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401550" y="62103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058775" y="4067175"/>
            <a:ext cx="4800600" cy="4295775"/>
          </a:xfrm>
          <a:custGeom>
            <a:avLst/>
            <a:gdLst/>
            <a:ahLst/>
            <a:cxnLst/>
            <a:rect r="r" b="b" t="t" l="l"/>
            <a:pathLst>
              <a:path h="4295775" w="4800600">
                <a:moveTo>
                  <a:pt x="0" y="0"/>
                </a:moveTo>
                <a:lnTo>
                  <a:pt x="4800600" y="0"/>
                </a:lnTo>
                <a:lnTo>
                  <a:pt x="480060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986016" y="3171701"/>
            <a:ext cx="2724912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ของพลี สิงห์สุขสิข สุขะสุขิติ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94576" y="3480311"/>
            <a:ext cx="2139696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Landslide Risk Alert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71632" y="3189401"/>
            <a:ext cx="3163824" cy="29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โฟล์คกิโมมู สนาบัน ตัวค้าโดนสาร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16768" y="3480311"/>
            <a:ext cx="2139696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Landslide Risk Alert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087600" y="3600605"/>
            <a:ext cx="1901952" cy="20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16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สายออกให้เข้ | ตรงกันในอาห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551408" y="4242468"/>
            <a:ext cx="2395728" cy="28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EXPLAINABLE AI (SHAP)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51408" y="4567652"/>
            <a:ext cx="2322576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 factors contributing to risk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551408" y="4937984"/>
            <a:ext cx="102412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Rainfall (24h)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910560" y="4937984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+0.28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51408" y="5287742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Slope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910560" y="5287742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+0.21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51408" y="5596352"/>
            <a:ext cx="694944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Soil Type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910560" y="5596352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+0.16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551408" y="5946110"/>
            <a:ext cx="102412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Soil Saturation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910560" y="5946110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+0.12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51408" y="6254720"/>
            <a:ext cx="694944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Elevation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910560" y="6254720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+0.08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551408" y="6563330"/>
            <a:ext cx="102412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Slope Cutting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910560" y="6563330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-0.09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551408" y="6871940"/>
            <a:ext cx="102412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Deforestation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910560" y="6871940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-0.11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51408" y="7180550"/>
            <a:ext cx="731520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Drainage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910560" y="7180550"/>
            <a:ext cx="438912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-0.13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83696" y="7386290"/>
            <a:ext cx="1335024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Mahiyanganaya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923008" y="8013797"/>
            <a:ext cx="1133856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Impact on Risk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08608" y="7746335"/>
            <a:ext cx="694944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-0.2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30400" y="7746335"/>
            <a:ext cx="694944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-0.1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252192" y="7746335"/>
            <a:ext cx="182880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727680" y="7758371"/>
            <a:ext cx="182880" cy="18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5"/>
              </a:lnSpc>
            </a:pPr>
            <a:r>
              <a:rPr lang="en-US" sz="10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349472" y="7758371"/>
            <a:ext cx="182880" cy="18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5"/>
              </a:lnSpc>
            </a:pPr>
            <a:r>
              <a:rPr lang="en-US" sz="10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971264" y="7758371"/>
            <a:ext cx="182880" cy="18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5"/>
              </a:lnSpc>
            </a:pPr>
            <a:r>
              <a:rPr lang="en-US" sz="10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282928" y="8931089"/>
            <a:ext cx="2761488" cy="18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"/>
              </a:lnSpc>
            </a:pPr>
            <a:r>
              <a:rPr lang="en-US" sz="10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อุปวาทย์ มีเด็ก อิทิวิเคม. ชาวสามารถ อิเวร์เซลล์.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209776" y="9427272"/>
            <a:ext cx="3035808" cy="24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เขตมา ชั้นดวง มยุรฉัน มีภูมาร อนุภาพ.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986016" y="8645008"/>
            <a:ext cx="3218688" cy="73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สุขสันต์วัน ดูตัว ดูตัวเมื่อ.</a:t>
            </a:r>
          </a:p>
          <a:p>
            <a:pPr algn="ctr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สะตุ้งสติโอไซต์ วิชัวร์.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606185"/>
            <a:ext cx="5961888" cy="10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spc="-4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1670128"/>
            <a:ext cx="7882128" cy="207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spc="-400" b="true">
                <a:solidFill>
                  <a:srgbClr val="4196A6"/>
                </a:solidFill>
                <a:latin typeface="Roboto Bold"/>
                <a:ea typeface="Roboto Bold"/>
                <a:cs typeface="Roboto Bold"/>
                <a:sym typeface="Roboto Bold"/>
              </a:rPr>
              <a:t>Human Impact &amp; Decision Support.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92" y="4030649"/>
            <a:ext cx="6291072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Brings hazard data together with population and social vulnerability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492442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1792" y="5203367"/>
            <a:ext cx="5742432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Considers critical infrastructure, access, history, uncertainty, and temporal overlap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6210300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1792" y="6427520"/>
            <a:ext cx="4389120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joint and cascade risks for deeper insight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625" y="728662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1792" y="7610525"/>
            <a:ext cx="4279392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Produces clear priority scores for fair, explainable decisions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8572500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1792" y="8793530"/>
            <a:ext cx="4425696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Delivers graded alerts, actions, and prioritized response zones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5850" y="428625"/>
            <a:ext cx="7629525" cy="7505700"/>
          </a:xfrm>
          <a:custGeom>
            <a:avLst/>
            <a:gdLst/>
            <a:ahLst/>
            <a:cxnLst/>
            <a:rect r="r" b="b" t="t" l="l"/>
            <a:pathLst>
              <a:path h="7505700" w="7629525">
                <a:moveTo>
                  <a:pt x="0" y="0"/>
                </a:moveTo>
                <a:lnTo>
                  <a:pt x="7629525" y="0"/>
                </a:lnTo>
                <a:lnTo>
                  <a:pt x="762952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716000" y="1495425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312896" y="1169390"/>
            <a:ext cx="1682496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Flood and Landslide Risk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925550" y="2571750"/>
            <a:ext cx="2190750" cy="428625"/>
          </a:xfrm>
          <a:custGeom>
            <a:avLst/>
            <a:gdLst/>
            <a:ahLst/>
            <a:cxnLst/>
            <a:rect r="r" b="b" t="t" l="l"/>
            <a:pathLst>
              <a:path h="428625" w="2190750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12896" y="2403830"/>
            <a:ext cx="1298448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Population Density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925550" y="3857625"/>
            <a:ext cx="2190750" cy="219075"/>
          </a:xfrm>
          <a:custGeom>
            <a:avLst/>
            <a:gdLst/>
            <a:ahLst/>
            <a:cxnLst/>
            <a:rect r="r" b="b" t="t" l="l"/>
            <a:pathLst>
              <a:path h="219075" w="2190750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312896" y="3576548"/>
            <a:ext cx="1444752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Vulnerability Factors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925550" y="4924425"/>
            <a:ext cx="2190750" cy="438150"/>
          </a:xfrm>
          <a:custGeom>
            <a:avLst/>
            <a:gdLst/>
            <a:ahLst/>
            <a:cxnLst/>
            <a:rect r="r" b="b" t="t" l="l"/>
            <a:pathLst>
              <a:path h="438150" w="21907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312896" y="4810988"/>
            <a:ext cx="1609344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Infrastructure &amp; Access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839700" y="6429375"/>
            <a:ext cx="3276600" cy="219075"/>
          </a:xfrm>
          <a:custGeom>
            <a:avLst/>
            <a:gdLst/>
            <a:ahLst/>
            <a:cxnLst/>
            <a:rect r="r" b="b" t="t" l="l"/>
            <a:pathLst>
              <a:path h="219075" w="3276600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312896" y="6117437"/>
            <a:ext cx="1408176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Combined Risk Priority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705850" y="7715250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144000" y="7924139"/>
            <a:ext cx="1810512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PRIORITY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62288" y="8389406"/>
            <a:ext cx="1463040" cy="6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8"/>
              </a:lnSpc>
            </a:pPr>
            <a:r>
              <a:rPr lang="en-US" b="true" sz="3613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5984" y="9079108"/>
            <a:ext cx="1920240" cy="58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1840" spc="-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Immediate Action Recommended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534775" y="7715250"/>
            <a:ext cx="3057525" cy="2362200"/>
          </a:xfrm>
          <a:custGeom>
            <a:avLst/>
            <a:gdLst/>
            <a:ahLst/>
            <a:cxnLst/>
            <a:rect r="r" b="b" t="t" l="l"/>
            <a:pathLst>
              <a:path h="2362200" w="3057525">
                <a:moveTo>
                  <a:pt x="0" y="0"/>
                </a:moveTo>
                <a:lnTo>
                  <a:pt x="3057525" y="0"/>
                </a:lnTo>
                <a:lnTo>
                  <a:pt x="305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923776" y="7924139"/>
            <a:ext cx="2157984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MEDIUM PRIORITY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79808" y="8389406"/>
            <a:ext cx="1463040" cy="6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8"/>
              </a:lnSpc>
            </a:pPr>
            <a:r>
              <a:rPr lang="en-US" b="true" sz="3613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23776" y="9190671"/>
            <a:ext cx="2157984" cy="29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769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Prepare and Monitor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363700" y="7715250"/>
            <a:ext cx="3057525" cy="2362200"/>
          </a:xfrm>
          <a:custGeom>
            <a:avLst/>
            <a:gdLst/>
            <a:ahLst/>
            <a:cxnLst/>
            <a:rect r="r" b="b" t="t" l="l"/>
            <a:pathLst>
              <a:path h="2362200" w="3057525">
                <a:moveTo>
                  <a:pt x="0" y="0"/>
                </a:moveTo>
                <a:lnTo>
                  <a:pt x="3057525" y="0"/>
                </a:lnTo>
                <a:lnTo>
                  <a:pt x="305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124176" y="7924139"/>
            <a:ext cx="1700784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LOW PRIORITY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68144" y="8389406"/>
            <a:ext cx="2194560" cy="6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8"/>
              </a:lnSpc>
            </a:pPr>
            <a:r>
              <a:rPr lang="en-US" b="true" sz="3613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ADVISORY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24176" y="9190671"/>
            <a:ext cx="1517904" cy="29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769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Stay Informed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537517"/>
            <a:ext cx="9052560" cy="271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6980" spc="-13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4 </a:t>
            </a:r>
            <a:r>
              <a:rPr lang="en-US" sz="6980" spc="-139" b="true">
                <a:solidFill>
                  <a:srgbClr val="2FA4B2"/>
                </a:solidFill>
                <a:latin typeface="Roboto Bold"/>
                <a:ea typeface="Roboto Bold"/>
                <a:cs typeface="Roboto Bold"/>
                <a:sym typeface="Roboto Bold"/>
              </a:rPr>
              <a:t>Emergency Response &amp; Resource Coordination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216" y="3317276"/>
            <a:ext cx="8851392" cy="50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resource-aware dispatch and routing innovations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716000" y="2781300"/>
            <a:ext cx="219075" cy="6867525"/>
          </a:xfrm>
          <a:custGeom>
            <a:avLst/>
            <a:gdLst/>
            <a:ahLst/>
            <a:cxnLst/>
            <a:rect r="r" b="b" t="t" l="l"/>
            <a:pathLst>
              <a:path h="6867525" w="219075">
                <a:moveTo>
                  <a:pt x="0" y="0"/>
                </a:moveTo>
                <a:lnTo>
                  <a:pt x="219075" y="0"/>
                </a:lnTo>
                <a:lnTo>
                  <a:pt x="2190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10944" y="3495104"/>
            <a:ext cx="157276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b="true" sz="2159" spc="-43">
                <a:solidFill>
                  <a:srgbClr val="2FA4B2"/>
                </a:solidFill>
                <a:latin typeface="Roboto Bold"/>
                <a:ea typeface="Roboto Bold"/>
                <a:cs typeface="Roboto Bold"/>
                <a:sym typeface="Roboto Bold"/>
              </a:rPr>
              <a:t>INNOVATION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63700" y="5143500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63700" y="6429375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10944" y="6855143"/>
            <a:ext cx="19202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Scarcity-based </a:t>
            </a:r>
            <a:r>
              <a:rPr lang="en-US" sz="2407" spc="-48">
                <a:solidFill>
                  <a:srgbClr val="D15D35"/>
                </a:solidFill>
                <a:latin typeface="Roboto"/>
                <a:ea typeface="Roboto"/>
                <a:cs typeface="Roboto"/>
                <a:sym typeface="Roboto"/>
              </a:rPr>
              <a:t>queuing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63700" y="7715250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25" y="5572125"/>
            <a:ext cx="1533525" cy="2143125"/>
          </a:xfrm>
          <a:custGeom>
            <a:avLst/>
            <a:gdLst/>
            <a:ahLst/>
            <a:cxnLst/>
            <a:rect r="r" b="b" t="t" l="l"/>
            <a:pathLst>
              <a:path h="2143125" w="1533525">
                <a:moveTo>
                  <a:pt x="0" y="0"/>
                </a:moveTo>
                <a:lnTo>
                  <a:pt x="1533525" y="0"/>
                </a:lnTo>
                <a:lnTo>
                  <a:pt x="1533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7824" y="5979795"/>
            <a:ext cx="76809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Priority</a:t>
            </a:r>
          </a:p>
          <a:p>
            <a:pPr algn="ctr">
              <a:lnSpc>
                <a:spcPts val="2293"/>
              </a:lnSpc>
            </a:pPr>
            <a:r>
              <a:rPr lang="en-US" b="true" sz="1911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944" y="6692887"/>
            <a:ext cx="1170432" cy="452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via standardized API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5262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71700" y="5572125"/>
            <a:ext cx="1752600" cy="2143125"/>
          </a:xfrm>
          <a:custGeom>
            <a:avLst/>
            <a:gdLst/>
            <a:ahLst/>
            <a:cxnLst/>
            <a:rect r="r" b="b" t="t" l="l"/>
            <a:pathLst>
              <a:path h="2143125" w="1752600">
                <a:moveTo>
                  <a:pt x="0" y="0"/>
                </a:moveTo>
                <a:lnTo>
                  <a:pt x="1752600" y="0"/>
                </a:lnTo>
                <a:lnTo>
                  <a:pt x="175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68880" y="6017895"/>
            <a:ext cx="13533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1"/>
              </a:lnSpc>
            </a:pPr>
            <a:r>
              <a:rPr lang="en-US" b="true" sz="1734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Live Resource</a:t>
            </a:r>
          </a:p>
          <a:p>
            <a:pPr algn="ctr">
              <a:lnSpc>
                <a:spcPts val="2081"/>
              </a:lnSpc>
            </a:pPr>
            <a:r>
              <a:rPr lang="en-US" b="true" sz="1734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Check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96896" y="6701962"/>
            <a:ext cx="1097280" cy="43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 spc="-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assets, shelters</a:t>
            </a:r>
          </a:p>
          <a:p>
            <a:pPr algn="ctr">
              <a:lnSpc>
                <a:spcPts val="1782"/>
              </a:lnSpc>
            </a:pPr>
            <a:r>
              <a:rPr lang="en-US" sz="1273" spc="-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supplies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91477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33850" y="60007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352925" y="621030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00625" y="5353050"/>
            <a:ext cx="2409825" cy="2581275"/>
          </a:xfrm>
          <a:custGeom>
            <a:avLst/>
            <a:gdLst/>
            <a:ahLst/>
            <a:cxnLst/>
            <a:rect r="r" b="b" t="t" l="l"/>
            <a:pathLst>
              <a:path h="2581275" w="2409825">
                <a:moveTo>
                  <a:pt x="0" y="0"/>
                </a:moveTo>
                <a:lnTo>
                  <a:pt x="2409825" y="0"/>
                </a:lnTo>
                <a:lnTo>
                  <a:pt x="24098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31536" y="5956554"/>
            <a:ext cx="142646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b="true" sz="2549" spc="-50">
                <a:solidFill>
                  <a:srgbClr val="2FA4B2"/>
                </a:solidFill>
                <a:latin typeface="Roboto Bold"/>
                <a:ea typeface="Roboto Bold"/>
                <a:cs typeface="Roboto Bold"/>
                <a:sym typeface="Roboto Bold"/>
              </a:rPr>
              <a:t>Resource Allocation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384" y="6807256"/>
            <a:ext cx="1481328" cy="47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inventory +</a:t>
            </a:r>
          </a:p>
          <a:p>
            <a:pPr algn="ctr">
              <a:lnSpc>
                <a:spcPts val="1882"/>
              </a:lnSpc>
            </a:pPr>
            <a:r>
              <a:rPr lang="en-US" sz="1344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dispatch constraints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657850" y="44958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57850" y="47148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24625" y="492442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1850" y="60007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00925" y="6210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735824" y="7098411"/>
            <a:ext cx="111556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b="true" sz="1628" spc="-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Ambulances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524625" y="7067550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657850" y="77152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657850" y="79248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742432" y="8822245"/>
            <a:ext cx="8229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 spc="-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Shelters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572000" y="70675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572000" y="492442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924925" y="5572125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345168" y="6027420"/>
            <a:ext cx="129844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b="true" sz="1663" spc="-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Hazard-aware Routing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36608" y="6704386"/>
            <a:ext cx="1133856" cy="47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evacuation and rescue routes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877550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096625" y="5353050"/>
            <a:ext cx="2190750" cy="2581275"/>
          </a:xfrm>
          <a:custGeom>
            <a:avLst/>
            <a:gdLst/>
            <a:ahLst/>
            <a:cxnLst/>
            <a:rect r="r" b="b" t="t" l="l"/>
            <a:pathLst>
              <a:path h="2581275" w="2190750">
                <a:moveTo>
                  <a:pt x="0" y="0"/>
                </a:moveTo>
                <a:lnTo>
                  <a:pt x="2190750" y="0"/>
                </a:lnTo>
                <a:lnTo>
                  <a:pt x="21907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631168" y="5846826"/>
            <a:ext cx="117043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982" spc="-3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Dispatch &amp; Tracking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31168" y="6525264"/>
            <a:ext cx="1170432" cy="98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415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multi-channel alerts, arrivals, occupancy, resource use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8048625" y="642937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5852160" y="4193095"/>
            <a:ext cx="5669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 spc="-3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Boats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114800" y="7658291"/>
            <a:ext cx="74980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b="true" sz="1557" spc="-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Supplies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10944" y="4114609"/>
            <a:ext cx="12252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10944" y="4540377"/>
            <a:ext cx="29992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spc="-43" b="true">
                <a:solidFill>
                  <a:srgbClr val="D15D35"/>
                </a:solidFill>
                <a:latin typeface="Roboto Bold"/>
                <a:ea typeface="Roboto Bold"/>
                <a:cs typeface="Roboto Bold"/>
                <a:sym typeface="Roboto Bold"/>
              </a:rPr>
              <a:t>resource-aware dispatch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10944" y="5482781"/>
            <a:ext cx="13533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Dual-route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410944" y="5903785"/>
            <a:ext cx="15544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spc="-45" b="true">
                <a:solidFill>
                  <a:srgbClr val="D15D35"/>
                </a:solidFill>
                <a:latin typeface="Roboto Bold"/>
                <a:ea typeface="Roboto Bold"/>
                <a:cs typeface="Roboto Bold"/>
                <a:sym typeface="Roboto Bold"/>
              </a:rPr>
              <a:t>optimization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10944" y="8214360"/>
            <a:ext cx="171907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spc="-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Multi-channel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10944" y="8640127"/>
            <a:ext cx="22677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spc="-45" b="true">
                <a:solidFill>
                  <a:srgbClr val="D15D35"/>
                </a:solidFill>
                <a:latin typeface="Roboto Bold"/>
                <a:ea typeface="Roboto Bold"/>
                <a:cs typeface="Roboto Bold"/>
                <a:sym typeface="Roboto Bold"/>
              </a:rPr>
              <a:t>localized dispatch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064" y="499506"/>
            <a:ext cx="9491472" cy="111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8"/>
              </a:lnSpc>
            </a:pPr>
            <a:r>
              <a:rPr lang="en-US" sz="8398" spc="-25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064" y="1720326"/>
            <a:ext cx="10570464" cy="56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4251" spc="-127" b="true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One Integrated Workflow. End-to-End Impact.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000375"/>
            <a:ext cx="2409825" cy="2790825"/>
          </a:xfrm>
          <a:custGeom>
            <a:avLst/>
            <a:gdLst/>
            <a:ahLst/>
            <a:cxnLst/>
            <a:rect r="r" b="b" t="t" l="l"/>
            <a:pathLst>
              <a:path h="2790825" w="2409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7824" y="3485165"/>
            <a:ext cx="1517904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DATA INPUTS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824" y="3890836"/>
            <a:ext cx="1517904" cy="118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Multi-source data &amp; live telemetry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9850" y="4067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8000" y="3000375"/>
            <a:ext cx="2838450" cy="2790825"/>
          </a:xfrm>
          <a:custGeom>
            <a:avLst/>
            <a:gdLst/>
            <a:ahLst/>
            <a:cxnLst/>
            <a:rect r="r" b="b" t="t" l="l"/>
            <a:pathLst>
              <a:path h="2790825" w="2838450">
                <a:moveTo>
                  <a:pt x="0" y="0"/>
                </a:moveTo>
                <a:lnTo>
                  <a:pt x="2838450" y="0"/>
                </a:lnTo>
                <a:lnTo>
                  <a:pt x="2838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38144" y="3455099"/>
            <a:ext cx="217627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b="true" sz="1947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INTEGRATION &amp; GIS LAYERS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3360" y="4335066"/>
            <a:ext cx="987552" cy="103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7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Ingest Process GIS layers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52925" y="5572125"/>
            <a:ext cx="219075" cy="857250"/>
          </a:xfrm>
          <a:custGeom>
            <a:avLst/>
            <a:gdLst/>
            <a:ahLst/>
            <a:cxnLst/>
            <a:rect r="r" b="b" t="t" l="l"/>
            <a:pathLst>
              <a:path h="857250" w="219075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96000" y="2571750"/>
            <a:ext cx="3486150" cy="3429000"/>
          </a:xfrm>
          <a:custGeom>
            <a:avLst/>
            <a:gdLst/>
            <a:ahLst/>
            <a:cxnLst/>
            <a:rect r="r" b="b" t="t" l="l"/>
            <a:pathLst>
              <a:path h="3429000" w="3486150">
                <a:moveTo>
                  <a:pt x="0" y="0"/>
                </a:moveTo>
                <a:lnTo>
                  <a:pt x="3486150" y="0"/>
                </a:lnTo>
                <a:lnTo>
                  <a:pt x="34861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05550" y="2781300"/>
            <a:ext cx="3057525" cy="1504950"/>
          </a:xfrm>
          <a:custGeom>
            <a:avLst/>
            <a:gdLst/>
            <a:ahLst/>
            <a:cxnLst/>
            <a:rect r="r" b="b" t="t" l="l"/>
            <a:pathLst>
              <a:path h="1504950" w="3057525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05550" y="4286250"/>
            <a:ext cx="3057525" cy="1504950"/>
          </a:xfrm>
          <a:custGeom>
            <a:avLst/>
            <a:gdLst/>
            <a:ahLst/>
            <a:cxnLst/>
            <a:rect r="r" b="b" t="t" l="l"/>
            <a:pathLst>
              <a:path h="1504950" w="3057525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57850" y="4067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342900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91700" y="3000375"/>
            <a:ext cx="2838450" cy="2790825"/>
          </a:xfrm>
          <a:custGeom>
            <a:avLst/>
            <a:gdLst/>
            <a:ahLst/>
            <a:cxnLst/>
            <a:rect r="r" b="b" t="t" l="l"/>
            <a:pathLst>
              <a:path h="2790825" w="2838450">
                <a:moveTo>
                  <a:pt x="0" y="0"/>
                </a:moveTo>
                <a:lnTo>
                  <a:pt x="2838450" y="0"/>
                </a:lnTo>
                <a:lnTo>
                  <a:pt x="2838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985248" y="3436048"/>
            <a:ext cx="245059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b="true" sz="2017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JOINT RISK &amp; IMPACT PRIORITIZATION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7856" y="4204746"/>
            <a:ext cx="1883664" cy="11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Combine hazards Assess impact Prioritize areas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096625" y="5572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01550" y="40671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839700" y="3000375"/>
            <a:ext cx="2400300" cy="2790825"/>
          </a:xfrm>
          <a:custGeom>
            <a:avLst/>
            <a:gdLst/>
            <a:ahLst/>
            <a:cxnLst/>
            <a:rect r="r" b="b" t="t" l="l"/>
            <a:pathLst>
              <a:path h="2790825" w="2400300">
                <a:moveTo>
                  <a:pt x="0" y="0"/>
                </a:moveTo>
                <a:lnTo>
                  <a:pt x="2400300" y="0"/>
                </a:lnTo>
                <a:lnTo>
                  <a:pt x="2400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295376" y="3798988"/>
            <a:ext cx="1517904" cy="25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b="true" sz="1947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GATEWAY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31952" y="4272153"/>
            <a:ext cx="14630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APIs Data services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925550" y="5572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449550" y="3000375"/>
            <a:ext cx="2190750" cy="2790825"/>
          </a:xfrm>
          <a:custGeom>
            <a:avLst/>
            <a:gdLst/>
            <a:ahLst/>
            <a:cxnLst/>
            <a:rect r="r" b="b" t="t" l="l"/>
            <a:pathLst>
              <a:path h="2790825" w="2190750">
                <a:moveTo>
                  <a:pt x="0" y="0"/>
                </a:moveTo>
                <a:lnTo>
                  <a:pt x="2190750" y="0"/>
                </a:lnTo>
                <a:lnTo>
                  <a:pt x="2190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056864" y="3485165"/>
            <a:ext cx="1097280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OUTPUTS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65424" y="3854417"/>
            <a:ext cx="1316736" cy="144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Dashboards Web-GIS Alerts Reports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020925" y="4067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4000" y="5572125"/>
            <a:ext cx="15240000" cy="857250"/>
          </a:xfrm>
          <a:custGeom>
            <a:avLst/>
            <a:gdLst/>
            <a:ahLst/>
            <a:cxnLst/>
            <a:rect r="r" b="b" t="t" l="l"/>
            <a:pathLst>
              <a:path h="857250" w="15240000">
                <a:moveTo>
                  <a:pt x="0" y="0"/>
                </a:moveTo>
                <a:lnTo>
                  <a:pt x="15240000" y="0"/>
                </a:lnTo>
                <a:lnTo>
                  <a:pt x="152400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486775" y="6210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57850" y="6429375"/>
            <a:ext cx="6324600" cy="1076325"/>
          </a:xfrm>
          <a:custGeom>
            <a:avLst/>
            <a:gdLst/>
            <a:ahLst/>
            <a:cxnLst/>
            <a:rect r="r" b="b" t="t" l="l"/>
            <a:pathLst>
              <a:path h="1076325" w="6324600">
                <a:moveTo>
                  <a:pt x="0" y="0"/>
                </a:moveTo>
                <a:lnTo>
                  <a:pt x="6324600" y="0"/>
                </a:lnTo>
                <a:lnTo>
                  <a:pt x="6324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133850" y="7286625"/>
            <a:ext cx="9582150" cy="857250"/>
          </a:xfrm>
          <a:custGeom>
            <a:avLst/>
            <a:gdLst/>
            <a:ahLst/>
            <a:cxnLst/>
            <a:rect r="r" b="b" t="t" l="l"/>
            <a:pathLst>
              <a:path h="857250" w="9582150">
                <a:moveTo>
                  <a:pt x="0" y="0"/>
                </a:moveTo>
                <a:lnTo>
                  <a:pt x="9582150" y="0"/>
                </a:lnTo>
                <a:lnTo>
                  <a:pt x="9582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390775" y="7924800"/>
            <a:ext cx="3705225" cy="1933575"/>
          </a:xfrm>
          <a:custGeom>
            <a:avLst/>
            <a:gdLst/>
            <a:ahLst/>
            <a:cxnLst/>
            <a:rect r="r" b="b" t="t" l="l"/>
            <a:pathLst>
              <a:path h="1933575" w="3705225">
                <a:moveTo>
                  <a:pt x="0" y="0"/>
                </a:moveTo>
                <a:lnTo>
                  <a:pt x="3705225" y="0"/>
                </a:lnTo>
                <a:lnTo>
                  <a:pt x="3705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712464" y="8279219"/>
            <a:ext cx="1078992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CITIZENS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57600" y="8587008"/>
            <a:ext cx="1243584" cy="11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Information Alerts Guidance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305550" y="7924800"/>
            <a:ext cx="4581525" cy="1933575"/>
          </a:xfrm>
          <a:custGeom>
            <a:avLst/>
            <a:gdLst/>
            <a:ahLst/>
            <a:cxnLst/>
            <a:rect r="r" b="b" t="t" l="l"/>
            <a:pathLst>
              <a:path h="1933575" w="4581525">
                <a:moveTo>
                  <a:pt x="0" y="0"/>
                </a:moveTo>
                <a:lnTo>
                  <a:pt x="4581525" y="0"/>
                </a:lnTo>
                <a:lnTo>
                  <a:pt x="4581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498080" y="8279219"/>
            <a:ext cx="2395728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DMC &amp; AUTHORITIES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98080" y="8561134"/>
            <a:ext cx="2395728" cy="118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Situational awareness Decision support Coordination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096625" y="7924800"/>
            <a:ext cx="4581525" cy="1933575"/>
          </a:xfrm>
          <a:custGeom>
            <a:avLst/>
            <a:gdLst/>
            <a:ahLst/>
            <a:cxnLst/>
            <a:rect r="r" b="b" t="t" l="l"/>
            <a:pathLst>
              <a:path h="1933575" w="4581525">
                <a:moveTo>
                  <a:pt x="0" y="0"/>
                </a:moveTo>
                <a:lnTo>
                  <a:pt x="4581525" y="0"/>
                </a:lnTo>
                <a:lnTo>
                  <a:pt x="4581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905488" y="8289194"/>
            <a:ext cx="3017520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RESPONDERS &amp; PARTNERS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82144" y="8587008"/>
            <a:ext cx="1719072" cy="11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Tasking Dispatch</a:t>
            </a:r>
          </a:p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Field operations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31152" y="3125432"/>
            <a:ext cx="1792224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FLOOD MODULE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94576" y="3480816"/>
            <a:ext cx="17739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&amp; assess flood risk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93408" y="4657883"/>
            <a:ext cx="2267712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LANDSLIDE MODULE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94576" y="5003292"/>
            <a:ext cx="17739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&amp; assess landslide risk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50608" y="6664160"/>
            <a:ext cx="3072384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RESOURCE COORDINATION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94576" y="6981635"/>
            <a:ext cx="363931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Routing • Dispatch • Field updates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409194"/>
            <a:ext cx="991209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spc="-23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and Supervisors.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2352294"/>
            <a:ext cx="31821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OUR PROJECT TEAM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0003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7552" y="3099435"/>
            <a:ext cx="48280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Sinhalagoda S.A.U.R.A.V </a:t>
            </a:r>
            <a:r>
              <a:rPr lang="en-US" sz="2124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(IT23280892)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7552" y="3510153"/>
            <a:ext cx="35661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Flood risk prediction &amp; mapping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40671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7552" y="4180332"/>
            <a:ext cx="34015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Bagya R M S </a:t>
            </a:r>
            <a:r>
              <a:rPr lang="en-US" sz="2195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(IT23394124)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552" y="4600575"/>
            <a:ext cx="27249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ML landslide forecasting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514350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7552" y="5291328"/>
            <a:ext cx="422452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Prathibhani Y.L.O.L </a:t>
            </a:r>
            <a:r>
              <a:rPr lang="en-US" sz="2195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(IT23317512)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" y="5711571"/>
            <a:ext cx="37856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Human impact &amp; decision support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8625" y="621030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7552" y="6406324"/>
            <a:ext cx="34564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Palihena M.B </a:t>
            </a:r>
            <a:r>
              <a:rPr lang="en-US" sz="2159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(IT23411562)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29984" y="2342769"/>
            <a:ext cx="34747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ACADEMIC GUIDANCE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24625" y="3000375"/>
            <a:ext cx="4581525" cy="4286250"/>
          </a:xfrm>
          <a:custGeom>
            <a:avLst/>
            <a:gdLst/>
            <a:ahLst/>
            <a:cxnLst/>
            <a:rect r="r" b="b" t="t" l="l"/>
            <a:pathLst>
              <a:path h="4286250" w="4581525">
                <a:moveTo>
                  <a:pt x="0" y="0"/>
                </a:moveTo>
                <a:lnTo>
                  <a:pt x="4581525" y="0"/>
                </a:lnTo>
                <a:lnTo>
                  <a:pt x="458152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59168" y="3811524"/>
            <a:ext cx="30723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Dr. Kapila Dissanayaka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59168" y="4305300"/>
            <a:ext cx="14447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FF8D65"/>
                </a:solidFill>
                <a:latin typeface="Roboto Bold"/>
                <a:ea typeface="Roboto Bold"/>
                <a:cs typeface="Roboto Bold"/>
                <a:sym typeface="Roboto Bold"/>
              </a:rPr>
              <a:t>Supervisor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962775" y="4924425"/>
            <a:ext cx="3705225" cy="219075"/>
          </a:xfrm>
          <a:custGeom>
            <a:avLst/>
            <a:gdLst/>
            <a:ahLst/>
            <a:cxnLst/>
            <a:rect r="r" b="b" t="t" l="l"/>
            <a:pathLst>
              <a:path h="219075" w="3705225">
                <a:moveTo>
                  <a:pt x="0" y="0"/>
                </a:moveTo>
                <a:lnTo>
                  <a:pt x="3705225" y="0"/>
                </a:lnTo>
                <a:lnTo>
                  <a:pt x="3705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059168" y="5421059"/>
            <a:ext cx="36210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Mr. Uchira Wickramarthne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59168" y="5919597"/>
            <a:ext cx="197510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b="true">
                <a:solidFill>
                  <a:srgbClr val="FF8D65"/>
                </a:solidFill>
                <a:latin typeface="Roboto Bold"/>
                <a:ea typeface="Roboto Bold"/>
                <a:cs typeface="Roboto Bold"/>
                <a:sym typeface="Roboto Bold"/>
              </a:rPr>
              <a:t>Co-Supervisor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28625" y="7715250"/>
            <a:ext cx="10677525" cy="2143125"/>
          </a:xfrm>
          <a:custGeom>
            <a:avLst/>
            <a:gdLst/>
            <a:ahLst/>
            <a:cxnLst/>
            <a:rect r="r" b="b" t="t" l="l"/>
            <a:pathLst>
              <a:path h="2143125" w="10677525">
                <a:moveTo>
                  <a:pt x="0" y="0"/>
                </a:moveTo>
                <a:lnTo>
                  <a:pt x="10677525" y="0"/>
                </a:lnTo>
                <a:lnTo>
                  <a:pt x="1067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7552" y="8076819"/>
            <a:ext cx="13167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PROJECT 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8524494"/>
            <a:ext cx="17922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726" b="true">
                <a:solidFill>
                  <a:srgbClr val="FF8D65"/>
                </a:solidFill>
                <a:latin typeface="Roboto Bold"/>
                <a:ea typeface="Roboto Bold"/>
                <a:cs typeface="Roboto Bold"/>
                <a:sym typeface="Roboto Bold"/>
              </a:rPr>
              <a:t>J26-IT-334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695700" y="7924800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334256" y="8072057"/>
            <a:ext cx="175564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PROJECT TITLE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877550" y="3000375"/>
            <a:ext cx="7410450" cy="5572125"/>
          </a:xfrm>
          <a:custGeom>
            <a:avLst/>
            <a:gdLst/>
            <a:ahLst/>
            <a:cxnLst/>
            <a:rect r="r" b="b" t="t" l="l"/>
            <a:pathLst>
              <a:path h="5572125" w="7410450">
                <a:moveTo>
                  <a:pt x="0" y="0"/>
                </a:moveTo>
                <a:lnTo>
                  <a:pt x="7410450" y="0"/>
                </a:lnTo>
                <a:lnTo>
                  <a:pt x="74104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87552" y="6821805"/>
            <a:ext cx="47548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Emergency response &amp; resource coordination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34256" y="8502601"/>
            <a:ext cx="5303520" cy="78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30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IDMERS: Integrated Disaster Management and Early Warning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4400815"/>
            <a:ext cx="5852160" cy="16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Strengthening communities</a:t>
            </a:r>
          </a:p>
          <a:p>
            <a:pPr algn="l">
              <a:lnSpc>
                <a:spcPts val="4303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trusted risk intelligence and</a:t>
            </a:r>
          </a:p>
          <a:p>
            <a:pPr algn="l">
              <a:lnSpc>
                <a:spcPts val="4303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coordinated action.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6429375"/>
            <a:ext cx="6105525" cy="219075"/>
          </a:xfrm>
          <a:custGeom>
            <a:avLst/>
            <a:gdLst/>
            <a:ahLst/>
            <a:cxnLst/>
            <a:rect r="r" b="b" t="t" l="l"/>
            <a:pathLst>
              <a:path h="219075" w="6105525">
                <a:moveTo>
                  <a:pt x="0" y="0"/>
                </a:moveTo>
                <a:lnTo>
                  <a:pt x="6105525" y="0"/>
                </a:lnTo>
                <a:lnTo>
                  <a:pt x="6105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4944" y="6717598"/>
            <a:ext cx="3291840" cy="4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293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Let’s work together.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7232425"/>
            <a:ext cx="5833872" cy="85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Connect with us to explore partnerships,</a:t>
            </a:r>
          </a:p>
          <a:p>
            <a:pPr algn="l">
              <a:lnSpc>
                <a:spcPts val="3442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 data, and build a safer Sri Lanka.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8572500"/>
            <a:ext cx="16992600" cy="219075"/>
          </a:xfrm>
          <a:custGeom>
            <a:avLst/>
            <a:gdLst/>
            <a:ahLst/>
            <a:cxnLst/>
            <a:rect r="r" b="b" t="t" l="l"/>
            <a:pathLst>
              <a:path h="219075" w="16992600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4944" y="8868048"/>
            <a:ext cx="13825728" cy="7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NBRO LIRIS  |  ReliefWeb/OCHA Sri Lanka floods &amp; landslides  |  Dept. Meteorology Sri Lanka  |  DMC flood warning</a:t>
            </a:r>
          </a:p>
          <a:p>
            <a:pPr algn="l">
              <a:lnSpc>
                <a:spcPts val="3186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UNDRR Sendai Framework  |  Palliyaguru et al. (ICTer 2020)  |  Atthanayake et al. (SLAAI-ICAI 2025)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944" y="1051179"/>
            <a:ext cx="12161520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9"/>
              </a:lnSpc>
            </a:pPr>
            <a:r>
              <a:rPr lang="en-US" sz="9391" spc="-28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  <a:p>
            <a:pPr algn="l">
              <a:lnSpc>
                <a:spcPts val="11269"/>
              </a:lnSpc>
            </a:pPr>
            <a:r>
              <a:rPr lang="en-US" sz="9391" spc="-281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Predict. Warn. </a:t>
            </a:r>
            <a:r>
              <a:rPr lang="en-US" sz="9391" spc="-281" b="true">
                <a:solidFill>
                  <a:srgbClr val="D86331"/>
                </a:solidFill>
                <a:latin typeface="Roboto Bold"/>
                <a:ea typeface="Roboto Bold"/>
                <a:cs typeface="Roboto Bold"/>
                <a:sym typeface="Roboto Bold"/>
              </a:rPr>
              <a:t>Respond.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DAHT1130gNw</dc:identifier>
  <dcterms:modified xsi:type="dcterms:W3CDTF">2011-08-01T06:04:30Z</dcterms:modified>
  <cp:revision>1</cp:revision>
  <dc:title>Integrated Flood and Landslide Risk Assessment and Response System for Sri Lanka</dc:title>
</cp:coreProperties>
</file>