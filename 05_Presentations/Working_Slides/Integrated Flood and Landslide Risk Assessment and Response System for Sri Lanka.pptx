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Roboto" charset="1" panose="02000000000000000000"/>
      <p:regular r:id="rId17"/>
    </p:embeddedFont>
    <p:embeddedFont>
      <p:font typeface="Roboto Bold" charset="1" panose="02000000000000000000"/>
      <p:regular r:id="rId18"/>
    </p:embeddedFont>
    <p:embeddedFont>
      <p:font typeface="Inter Medium" charset="1" panose="02000503000000020004"/>
      <p:regular r:id="rId19"/>
    </p:embeddedFont>
    <p:embeddedFont>
      <p:font typeface="Inter" charset="1" panose="020B0502030000000004"/>
      <p:regular r:id="rId20"/>
    </p:embeddedFont>
    <p:embeddedFont>
      <p:font typeface="Roboto Bold Italics" charset="1" panose="02000000000000000000"/>
      <p:regular r:id="rId21"/>
    </p:embeddedFont>
    <p:embeddedFont>
      <p:font typeface="Inter Ultra-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16" Target="../media/image74.png" Type="http://schemas.openxmlformats.org/officeDocument/2006/relationships/image"/><Relationship Id="rId17" Target="../media/image75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60.pn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17" Target="../media/image96.png" Type="http://schemas.openxmlformats.org/officeDocument/2006/relationships/image"/><Relationship Id="rId18" Target="../media/image97.png" Type="http://schemas.openxmlformats.org/officeDocument/2006/relationships/image"/><Relationship Id="rId19" Target="../media/image98.png" Type="http://schemas.openxmlformats.org/officeDocument/2006/relationships/image"/><Relationship Id="rId2" Target="../media/image81.png" Type="http://schemas.openxmlformats.org/officeDocument/2006/relationships/image"/><Relationship Id="rId20" Target="../media/image99.png" Type="http://schemas.openxmlformats.org/officeDocument/2006/relationships/image"/><Relationship Id="rId21" Target="../media/image100.png" Type="http://schemas.openxmlformats.org/officeDocument/2006/relationships/image"/><Relationship Id="rId22" Target="../media/image101.png" Type="http://schemas.openxmlformats.org/officeDocument/2006/relationships/image"/><Relationship Id="rId23" Target="../media/image102.png" Type="http://schemas.openxmlformats.org/officeDocument/2006/relationships/image"/><Relationship Id="rId24" Target="../media/image103.png" Type="http://schemas.openxmlformats.org/officeDocument/2006/relationships/image"/><Relationship Id="rId25" Target="../media/image104.png" Type="http://schemas.openxmlformats.org/officeDocument/2006/relationships/image"/><Relationship Id="rId26" Target="../media/image105.png" Type="http://schemas.openxmlformats.org/officeDocument/2006/relationships/image"/><Relationship Id="rId27" Target="../media/image106.png" Type="http://schemas.openxmlformats.org/officeDocument/2006/relationships/image"/><Relationship Id="rId28" Target="../media/image107.png" Type="http://schemas.openxmlformats.org/officeDocument/2006/relationships/image"/><Relationship Id="rId29" Target="../media/image108.png" Type="http://schemas.openxmlformats.org/officeDocument/2006/relationships/image"/><Relationship Id="rId3" Target="../media/image82.png" Type="http://schemas.openxmlformats.org/officeDocument/2006/relationships/image"/><Relationship Id="rId30" Target="../media/image109.png" Type="http://schemas.openxmlformats.org/officeDocument/2006/relationships/image"/><Relationship Id="rId31" Target="../media/image110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png" Type="http://schemas.openxmlformats.org/officeDocument/2006/relationships/image"/><Relationship Id="rId12" Target="../media/image121.png" Type="http://schemas.openxmlformats.org/officeDocument/2006/relationships/image"/><Relationship Id="rId13" Target="../media/image122.png" Type="http://schemas.openxmlformats.org/officeDocument/2006/relationships/image"/><Relationship Id="rId14" Target="../media/image123.png" Type="http://schemas.openxmlformats.org/officeDocument/2006/relationships/image"/><Relationship Id="rId15" Target="../media/image124.png" Type="http://schemas.openxmlformats.org/officeDocument/2006/relationships/image"/><Relationship Id="rId16" Target="../media/image125.png" Type="http://schemas.openxmlformats.org/officeDocument/2006/relationships/image"/><Relationship Id="rId17" Target="../media/image126.png" Type="http://schemas.openxmlformats.org/officeDocument/2006/relationships/image"/><Relationship Id="rId18" Target="../media/image127.png" Type="http://schemas.openxmlformats.org/officeDocument/2006/relationships/image"/><Relationship Id="rId19" Target="../media/image128.png" Type="http://schemas.openxmlformats.org/officeDocument/2006/relationships/image"/><Relationship Id="rId2" Target="../media/image111.png" Type="http://schemas.openxmlformats.org/officeDocument/2006/relationships/image"/><Relationship Id="rId20" Target="../media/image129.png" Type="http://schemas.openxmlformats.org/officeDocument/2006/relationships/image"/><Relationship Id="rId21" Target="../media/image130.png" Type="http://schemas.openxmlformats.org/officeDocument/2006/relationships/image"/><Relationship Id="rId22" Target="../media/image131.png" Type="http://schemas.openxmlformats.org/officeDocument/2006/relationships/image"/><Relationship Id="rId23" Target="../media/image132.png" Type="http://schemas.openxmlformats.org/officeDocument/2006/relationships/image"/><Relationship Id="rId24" Target="../media/image133.png" Type="http://schemas.openxmlformats.org/officeDocument/2006/relationships/image"/><Relationship Id="rId25" Target="../media/image134.png" Type="http://schemas.openxmlformats.org/officeDocument/2006/relationships/image"/><Relationship Id="rId26" Target="../media/image135.png" Type="http://schemas.openxmlformats.org/officeDocument/2006/relationships/image"/><Relationship Id="rId27" Target="../media/image136.png" Type="http://schemas.openxmlformats.org/officeDocument/2006/relationships/image"/><Relationship Id="rId28" Target="../media/image137.png" Type="http://schemas.openxmlformats.org/officeDocument/2006/relationships/image"/><Relationship Id="rId29" Target="../media/image138.png" Type="http://schemas.openxmlformats.org/officeDocument/2006/relationships/image"/><Relationship Id="rId3" Target="../media/image112.png" Type="http://schemas.openxmlformats.org/officeDocument/2006/relationships/image"/><Relationship Id="rId30" Target="../media/image139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8.png" Type="http://schemas.openxmlformats.org/officeDocument/2006/relationships/image"/><Relationship Id="rId2" Target="../media/image140.png" Type="http://schemas.openxmlformats.org/officeDocument/2006/relationships/image"/><Relationship Id="rId3" Target="../media/image141.png" Type="http://schemas.openxmlformats.org/officeDocument/2006/relationships/image"/><Relationship Id="rId4" Target="../media/image142.png" Type="http://schemas.openxmlformats.org/officeDocument/2006/relationships/image"/><Relationship Id="rId5" Target="../media/image143.png" Type="http://schemas.openxmlformats.org/officeDocument/2006/relationships/image"/><Relationship Id="rId6" Target="../media/image144.png" Type="http://schemas.openxmlformats.org/officeDocument/2006/relationships/image"/><Relationship Id="rId7" Target="../media/image145.png" Type="http://schemas.openxmlformats.org/officeDocument/2006/relationships/image"/><Relationship Id="rId8" Target="../media/image146.png" Type="http://schemas.openxmlformats.org/officeDocument/2006/relationships/image"/><Relationship Id="rId9" Target="../media/image1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7.png" Type="http://schemas.openxmlformats.org/officeDocument/2006/relationships/image"/><Relationship Id="rId11" Target="../media/image158.png" Type="http://schemas.openxmlformats.org/officeDocument/2006/relationships/image"/><Relationship Id="rId2" Target="../media/image149.png" Type="http://schemas.openxmlformats.org/officeDocument/2006/relationships/image"/><Relationship Id="rId3" Target="../media/image150.png" Type="http://schemas.openxmlformats.org/officeDocument/2006/relationships/image"/><Relationship Id="rId4" Target="../media/image151.png" Type="http://schemas.openxmlformats.org/officeDocument/2006/relationships/image"/><Relationship Id="rId5" Target="../media/image152.png" Type="http://schemas.openxmlformats.org/officeDocument/2006/relationships/image"/><Relationship Id="rId6" Target="../media/image153.png" Type="http://schemas.openxmlformats.org/officeDocument/2006/relationships/image"/><Relationship Id="rId7" Target="../media/image154.png" Type="http://schemas.openxmlformats.org/officeDocument/2006/relationships/image"/><Relationship Id="rId8" Target="../media/image155.png" Type="http://schemas.openxmlformats.org/officeDocument/2006/relationships/image"/><Relationship Id="rId9" Target="../media/image1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850" y="857250"/>
            <a:ext cx="6972300" cy="7505700"/>
          </a:xfrm>
          <a:custGeom>
            <a:avLst/>
            <a:gdLst/>
            <a:ahLst/>
            <a:cxnLst/>
            <a:rect r="r" b="b" t="t" l="l"/>
            <a:pathLst>
              <a:path h="7505700" w="6972300">
                <a:moveTo>
                  <a:pt x="0" y="0"/>
                </a:moveTo>
                <a:lnTo>
                  <a:pt x="6972300" y="0"/>
                </a:lnTo>
                <a:lnTo>
                  <a:pt x="69723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8000" y="1714500"/>
            <a:ext cx="3267075" cy="5791200"/>
          </a:xfrm>
          <a:custGeom>
            <a:avLst/>
            <a:gdLst/>
            <a:ahLst/>
            <a:cxnLst/>
            <a:rect r="r" b="b" t="t" l="l"/>
            <a:pathLst>
              <a:path h="5791200" w="3267075">
                <a:moveTo>
                  <a:pt x="0" y="0"/>
                </a:moveTo>
                <a:lnTo>
                  <a:pt x="3267075" y="0"/>
                </a:lnTo>
                <a:lnTo>
                  <a:pt x="326707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57250"/>
            <a:ext cx="7486324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476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Integrated Flood and Landslide Risk Assessment and Response System for Sri Lanka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7552" y="4916996"/>
            <a:ext cx="629107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215" b="true">
                <a:solidFill>
                  <a:srgbClr val="D04C20"/>
                </a:solidFill>
                <a:latin typeface="Inter Bold"/>
                <a:ea typeface="Inter Bold"/>
                <a:cs typeface="Inter Bold"/>
                <a:sym typeface="Inter Bold"/>
              </a:rPr>
              <a:t>Predict. Warn. Respond.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6775" y="6210300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7552" y="6877012"/>
            <a:ext cx="5815584" cy="8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 a safer Sri Lanka through intelligent risk assessment and timely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7552" y="8336970"/>
            <a:ext cx="1572768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>
                    <a:alpha val="4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PROJECT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552" y="8706434"/>
            <a:ext cx="2011680" cy="52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J26-IT-334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582150" cy="10287000"/>
          </a:xfrm>
          <a:custGeom>
            <a:avLst/>
            <a:gdLst/>
            <a:ahLst/>
            <a:cxnLst/>
            <a:rect r="r" b="b" t="t" l="l"/>
            <a:pathLst>
              <a:path h="10287000" w="9582150">
                <a:moveTo>
                  <a:pt x="0" y="0"/>
                </a:moveTo>
                <a:lnTo>
                  <a:pt x="9582150" y="0"/>
                </a:lnTo>
                <a:lnTo>
                  <a:pt x="9582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625" y="0"/>
            <a:ext cx="8715375" cy="10287000"/>
          </a:xfrm>
          <a:custGeom>
            <a:avLst/>
            <a:gdLst/>
            <a:ahLst/>
            <a:cxnLst/>
            <a:rect r="r" b="b" t="t" l="l"/>
            <a:pathLst>
              <a:path h="10287000" w="8715375">
                <a:moveTo>
                  <a:pt x="0" y="0"/>
                </a:moveTo>
                <a:lnTo>
                  <a:pt x="8715375" y="0"/>
                </a:lnTo>
                <a:lnTo>
                  <a:pt x="8715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4672" y="874462"/>
            <a:ext cx="5010912" cy="1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1934023"/>
            <a:ext cx="6236208" cy="1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b="true">
                <a:solidFill>
                  <a:srgbClr val="B64A2D"/>
                </a:solidFill>
                <a:latin typeface="Roboto Bold"/>
                <a:ea typeface="Roboto Bold"/>
                <a:cs typeface="Roboto Bold"/>
                <a:sym typeface="Roboto Bold"/>
              </a:rPr>
              <a:t>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3147535"/>
            <a:ext cx="6053328" cy="79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Recurring flood and landslide disasters with fragmented, reactive response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4286250"/>
            <a:ext cx="6972300" cy="219075"/>
          </a:xfrm>
          <a:custGeom>
            <a:avLst/>
            <a:gdLst/>
            <a:ahLst/>
            <a:cxnLst/>
            <a:rect r="r" b="b" t="t" l="l"/>
            <a:pathLst>
              <a:path h="219075" w="6972300">
                <a:moveTo>
                  <a:pt x="0" y="0"/>
                </a:moveTo>
                <a:lnTo>
                  <a:pt x="6972300" y="0"/>
                </a:lnTo>
                <a:lnTo>
                  <a:pt x="6972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1248" y="4890826"/>
            <a:ext cx="5285232" cy="102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Frequent floods and landslides lead to loss of life, infrastructure damage, transport disruption and economic losses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248" y="6300353"/>
            <a:ext cx="4956048" cy="73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High-risk regions: Ratnapura, Kegalle, Badulla, Nuwara Eliya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248" y="7397425"/>
            <a:ext cx="6876288" cy="67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Driven by monsoon rainfall, urbanization, deforestation, land use changes and climate variability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248" y="8415890"/>
            <a:ext cx="6419088" cy="114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3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Current systems from DMC, Met Dept and NBRO operate separately, focus on single hazards and respond after events occur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53550" y="428625"/>
            <a:ext cx="5457825" cy="9220200"/>
          </a:xfrm>
          <a:custGeom>
            <a:avLst/>
            <a:gdLst/>
            <a:ahLst/>
            <a:cxnLst/>
            <a:rect r="r" b="b" t="t" l="l"/>
            <a:pathLst>
              <a:path h="9220200" w="5457825">
                <a:moveTo>
                  <a:pt x="0" y="0"/>
                </a:moveTo>
                <a:lnTo>
                  <a:pt x="5457825" y="0"/>
                </a:lnTo>
                <a:lnTo>
                  <a:pt x="545782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9850" y="4714875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53344" y="5797732"/>
            <a:ext cx="932688" cy="30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b="true" sz="2230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Kegalle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315700" y="51435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60352" y="5647669"/>
            <a:ext cx="1097280" cy="68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Nuwara Eliya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29850" y="6429375"/>
            <a:ext cx="1962150" cy="2362200"/>
          </a:xfrm>
          <a:custGeom>
            <a:avLst/>
            <a:gdLst/>
            <a:ahLst/>
            <a:cxnLst/>
            <a:rect r="r" b="b" t="t" l="l"/>
            <a:pathLst>
              <a:path h="2362200" w="1962150">
                <a:moveTo>
                  <a:pt x="0" y="0"/>
                </a:moveTo>
                <a:lnTo>
                  <a:pt x="1962150" y="0"/>
                </a:lnTo>
                <a:lnTo>
                  <a:pt x="1962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07040" y="7252823"/>
            <a:ext cx="1389888" cy="31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b="true" sz="2301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Ratnapura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2688" y="7252823"/>
            <a:ext cx="1060704" cy="31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b="true" sz="2301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Badulla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672" y="546245"/>
            <a:ext cx="4480560" cy="9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4672" y="1430927"/>
            <a:ext cx="4828032" cy="9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true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571750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1248" y="2836545"/>
            <a:ext cx="48646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One connected system across prediction, impact assessment, decision support and response coordination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248" y="4063936"/>
            <a:ext cx="473659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 components working together to identify flood &amp; landslide risks, estimate impacts, and support emergency 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248" y="5253990"/>
            <a:ext cx="57790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Our objective: </a:t>
            </a: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timely, explainable, inclusive alerts and prioritized response recommendations for Sri Lanka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4925" y="6210300"/>
            <a:ext cx="3267075" cy="3648075"/>
          </a:xfrm>
          <a:custGeom>
            <a:avLst/>
            <a:gdLst/>
            <a:ahLst/>
            <a:cxnLst/>
            <a:rect r="r" b="b" t="t" l="l"/>
            <a:pathLst>
              <a:path h="3648075" w="3267075">
                <a:moveTo>
                  <a:pt x="0" y="0"/>
                </a:moveTo>
                <a:lnTo>
                  <a:pt x="3267075" y="0"/>
                </a:lnTo>
                <a:lnTo>
                  <a:pt x="32670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9850" y="60007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2928" y="6343291"/>
            <a:ext cx="182880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71700" y="68580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39696" y="8153455"/>
            <a:ext cx="1664208" cy="30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b="true" sz="2230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PREDICTION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6816" y="8493443"/>
            <a:ext cx="201168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Forecast flood and landslide hazards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572000" y="7496175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38775" y="6210300"/>
            <a:ext cx="3276600" cy="3648075"/>
          </a:xfrm>
          <a:custGeom>
            <a:avLst/>
            <a:gdLst/>
            <a:ahLst/>
            <a:cxnLst/>
            <a:rect r="r" b="b" t="t" l="l"/>
            <a:pathLst>
              <a:path h="3648075" w="3276600">
                <a:moveTo>
                  <a:pt x="0" y="0"/>
                </a:moveTo>
                <a:lnTo>
                  <a:pt x="3276600" y="0"/>
                </a:lnTo>
                <a:lnTo>
                  <a:pt x="3276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43700" y="6000750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4625" y="685800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99632" y="8163430"/>
            <a:ext cx="1810512" cy="29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b="true" sz="2195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ASSESSMENT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35040" y="8493823"/>
            <a:ext cx="21031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 impacts on people, assets and infrastructure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5850" y="7496175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72625" y="6210300"/>
            <a:ext cx="3276600" cy="3648075"/>
          </a:xfrm>
          <a:custGeom>
            <a:avLst/>
            <a:gdLst/>
            <a:ahLst/>
            <a:cxnLst/>
            <a:rect r="r" b="b" t="t" l="l"/>
            <a:pathLst>
              <a:path h="3648075" w="3276600">
                <a:moveTo>
                  <a:pt x="0" y="0"/>
                </a:moveTo>
                <a:lnTo>
                  <a:pt x="3276600" y="0"/>
                </a:lnTo>
                <a:lnTo>
                  <a:pt x="3276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77550" y="600075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68000" y="68580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31552" y="8170894"/>
            <a:ext cx="2322576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DECISION SUPPORT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58400" y="8493823"/>
            <a:ext cx="239572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 risks, prioritize areas and recommend actions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839700" y="7496175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16000" y="6210300"/>
            <a:ext cx="3486150" cy="3648075"/>
          </a:xfrm>
          <a:custGeom>
            <a:avLst/>
            <a:gdLst/>
            <a:ahLst/>
            <a:cxnLst/>
            <a:rect r="r" b="b" t="t" l="l"/>
            <a:pathLst>
              <a:path h="3648075" w="3486150">
                <a:moveTo>
                  <a:pt x="0" y="0"/>
                </a:moveTo>
                <a:lnTo>
                  <a:pt x="3486150" y="0"/>
                </a:lnTo>
                <a:lnTo>
                  <a:pt x="34861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020925" y="600075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801850" y="68580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740128" y="8163430"/>
            <a:ext cx="1408176" cy="29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b="true" sz="2195">
                <a:solidFill>
                  <a:srgbClr val="C64B21"/>
                </a:solidFill>
                <a:latin typeface="Roboto Bold"/>
                <a:ea typeface="Roboto Bold"/>
                <a:cs typeface="Roboto Bold"/>
                <a:sym typeface="Roboto Bold"/>
              </a:rPr>
              <a:t>RESPONSE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02384" y="8493823"/>
            <a:ext cx="193852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Coordinate alerts, resources and field operations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49440" y="6343291"/>
            <a:ext cx="182880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55680" y="6343291"/>
            <a:ext cx="182880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343632" y="6343291"/>
            <a:ext cx="182880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582474"/>
            <a:ext cx="5577840" cy="872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b="true" sz="6590" spc="-19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1476781"/>
            <a:ext cx="9948672" cy="57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4393" spc="-131" b="true">
                <a:solidFill>
                  <a:srgbClr val="D46B3D"/>
                </a:solidFill>
                <a:latin typeface="Inter Bold"/>
                <a:ea typeface="Inter Bold"/>
                <a:cs typeface="Inter Bold"/>
                <a:sym typeface="Inter Bold"/>
              </a:rPr>
              <a:t>Flood Severity Assessment &amp; Mapping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928" y="2492603"/>
            <a:ext cx="1664208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INPUTS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2781300"/>
            <a:ext cx="8934450" cy="2152650"/>
          </a:xfrm>
          <a:custGeom>
            <a:avLst/>
            <a:gdLst/>
            <a:ahLst/>
            <a:cxnLst/>
            <a:rect r="r" b="b" t="t" l="l"/>
            <a:pathLst>
              <a:path h="2152650" w="8934450">
                <a:moveTo>
                  <a:pt x="0" y="0"/>
                </a:moveTo>
                <a:lnTo>
                  <a:pt x="8934450" y="0"/>
                </a:lnTo>
                <a:lnTo>
                  <a:pt x="8934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8448" y="3064051"/>
            <a:ext cx="822960" cy="35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rainfall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850" y="342900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71216" y="3071775"/>
            <a:ext cx="1170432" cy="3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river levels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28925" y="34290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52544" y="3101511"/>
            <a:ext cx="1572768" cy="29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satellite imagery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72000" y="342900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72000" y="4714875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6928" y="5193460"/>
            <a:ext cx="1627632" cy="35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5572125"/>
            <a:ext cx="8934450" cy="1504950"/>
          </a:xfrm>
          <a:custGeom>
            <a:avLst/>
            <a:gdLst/>
            <a:ahLst/>
            <a:cxnLst/>
            <a:rect r="r" b="b" t="t" l="l"/>
            <a:pathLst>
              <a:path h="1504950" w="8934450">
                <a:moveTo>
                  <a:pt x="0" y="0"/>
                </a:moveTo>
                <a:lnTo>
                  <a:pt x="8934450" y="0"/>
                </a:lnTo>
                <a:lnTo>
                  <a:pt x="893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2000" y="685800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6928" y="7255484"/>
            <a:ext cx="1170432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OUTPUTS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28625" y="7496175"/>
            <a:ext cx="8934450" cy="2362200"/>
          </a:xfrm>
          <a:custGeom>
            <a:avLst/>
            <a:gdLst/>
            <a:ahLst/>
            <a:cxnLst/>
            <a:rect r="r" b="b" t="t" l="l"/>
            <a:pathLst>
              <a:path h="2362200" w="8934450">
                <a:moveTo>
                  <a:pt x="0" y="0"/>
                </a:moveTo>
                <a:lnTo>
                  <a:pt x="8934450" y="0"/>
                </a:lnTo>
                <a:lnTo>
                  <a:pt x="893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91700" y="2352675"/>
            <a:ext cx="7848600" cy="7505700"/>
          </a:xfrm>
          <a:custGeom>
            <a:avLst/>
            <a:gdLst/>
            <a:ahLst/>
            <a:cxnLst/>
            <a:rect r="r" b="b" t="t" l="l"/>
            <a:pathLst>
              <a:path h="7505700" w="7848600">
                <a:moveTo>
                  <a:pt x="0" y="0"/>
                </a:moveTo>
                <a:lnTo>
                  <a:pt x="7848600" y="0"/>
                </a:lnTo>
                <a:lnTo>
                  <a:pt x="78486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20925" y="7067550"/>
            <a:ext cx="2619375" cy="2790825"/>
          </a:xfrm>
          <a:custGeom>
            <a:avLst/>
            <a:gdLst/>
            <a:ahLst/>
            <a:cxnLst/>
            <a:rect r="r" b="b" t="t" l="l"/>
            <a:pathLst>
              <a:path h="2790825" w="2619375">
                <a:moveTo>
                  <a:pt x="0" y="0"/>
                </a:moveTo>
                <a:lnTo>
                  <a:pt x="2619375" y="0"/>
                </a:lnTo>
                <a:lnTo>
                  <a:pt x="2619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40000" y="77152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240000" y="8143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855696" y="8326683"/>
            <a:ext cx="1225296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Moderate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240000" y="8782050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00" y="92106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855696" y="9211365"/>
            <a:ext cx="1225296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Very High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82512" y="3067463"/>
            <a:ext cx="2523744" cy="34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elevation model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82512" y="3493542"/>
            <a:ext cx="1792224" cy="3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historical floods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82512" y="3910997"/>
            <a:ext cx="950976" cy="34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 use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82512" y="4313402"/>
            <a:ext cx="1225296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population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8800" y="5824379"/>
            <a:ext cx="6089904" cy="34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multi-source geospatial data preprocessing and fusion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05456" y="6307868"/>
            <a:ext cx="4718304" cy="34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ai/ml models with explainable risk factors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43200" y="7831556"/>
            <a:ext cx="4133088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 extent and severity estimation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21408" y="8284184"/>
            <a:ext cx="5468112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affected population, buildings and infrastructure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38528" y="8747099"/>
            <a:ext cx="5870448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dynamic severity/risk maps for evacuation planning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62656" y="9210014"/>
            <a:ext cx="3566160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satellite validation and updates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361920" y="7390566"/>
            <a:ext cx="1792224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Severity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855696" y="7915203"/>
            <a:ext cx="512064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855696" y="8789598"/>
            <a:ext cx="585216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681800"/>
            <a:ext cx="259689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COMPONENT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1149858"/>
            <a:ext cx="577900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6"/>
              </a:lnSpc>
            </a:pPr>
            <a:r>
              <a:rPr lang="en-US" sz="62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PROBABILISTIC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471487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960" y="4979289"/>
            <a:ext cx="51389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Machine learning and explainability with accessible alerts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6046089"/>
            <a:ext cx="501091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Real-time</a:t>
            </a:r>
            <a:r>
              <a:rPr lang="en-US" sz="230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landslide probability from provincial to village scale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6941058"/>
            <a:ext cx="501091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Explainable AI</a:t>
            </a:r>
            <a:r>
              <a:rPr lang="en-US" sz="230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shows environmental and human factor contributions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7931277"/>
            <a:ext cx="48280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Web-GIS/3D maps with </a:t>
            </a:r>
            <a:r>
              <a:rPr lang="en-US" sz="1592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Sinhala/Tamil dual-language</a:t>
            </a: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alerts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8782431"/>
            <a:ext cx="490118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Powered by </a:t>
            </a:r>
            <a:r>
              <a:rPr lang="en-US" sz="2266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Random Forest/XGBoost, PostGIS,</a:t>
            </a:r>
            <a:r>
              <a:rPr lang="en-US" sz="226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Leaflet/MapLibre, WebGL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81850" y="857250"/>
            <a:ext cx="10458450" cy="8572500"/>
          </a:xfrm>
          <a:custGeom>
            <a:avLst/>
            <a:gdLst/>
            <a:ahLst/>
            <a:cxnLst/>
            <a:rect r="r" b="b" t="t" l="l"/>
            <a:pathLst>
              <a:path h="8572500" w="10458450">
                <a:moveTo>
                  <a:pt x="0" y="0"/>
                </a:moveTo>
                <a:lnTo>
                  <a:pt x="10458450" y="0"/>
                </a:lnTo>
                <a:lnTo>
                  <a:pt x="1045845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81850" y="857250"/>
            <a:ext cx="10458450" cy="1285875"/>
          </a:xfrm>
          <a:custGeom>
            <a:avLst/>
            <a:gdLst/>
            <a:ahLst/>
            <a:cxnLst/>
            <a:rect r="r" b="b" t="t" l="l"/>
            <a:pathLst>
              <a:path h="1285875" w="10458450">
                <a:moveTo>
                  <a:pt x="0" y="0"/>
                </a:moveTo>
                <a:lnTo>
                  <a:pt x="10458450" y="0"/>
                </a:lnTo>
                <a:lnTo>
                  <a:pt x="1045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20000" y="10668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57094" y="1330727"/>
            <a:ext cx="3602736" cy="39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Nuwara Eliye District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20625" y="1066800"/>
            <a:ext cx="228600" cy="866775"/>
          </a:xfrm>
          <a:custGeom>
            <a:avLst/>
            <a:gdLst/>
            <a:ahLst/>
            <a:cxnLst/>
            <a:rect r="r" b="b" t="t" l="l"/>
            <a:pathLst>
              <a:path h="866775" w="228600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597128" y="1246716"/>
            <a:ext cx="3273552" cy="46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Walapane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181850" y="2143125"/>
            <a:ext cx="5667375" cy="7286625"/>
          </a:xfrm>
          <a:custGeom>
            <a:avLst/>
            <a:gdLst/>
            <a:ahLst/>
            <a:cxnLst/>
            <a:rect r="r" b="b" t="t" l="l"/>
            <a:pathLst>
              <a:path h="7286625" w="5667375">
                <a:moveTo>
                  <a:pt x="0" y="0"/>
                </a:moveTo>
                <a:lnTo>
                  <a:pt x="5667375" y="0"/>
                </a:lnTo>
                <a:lnTo>
                  <a:pt x="566737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00925" y="77152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680960" y="8023098"/>
            <a:ext cx="188366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4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Landscape probability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20000" y="8353425"/>
            <a:ext cx="2400300" cy="438150"/>
          </a:xfrm>
          <a:custGeom>
            <a:avLst/>
            <a:gdLst/>
            <a:ahLst/>
            <a:cxnLst/>
            <a:rect r="r" b="b" t="t" l="l"/>
            <a:pathLst>
              <a:path h="438150" w="2400300">
                <a:moveTo>
                  <a:pt x="0" y="0"/>
                </a:moveTo>
                <a:lnTo>
                  <a:pt x="2400300" y="0"/>
                </a:lnTo>
                <a:lnTo>
                  <a:pt x="2400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94208" y="2766441"/>
            <a:ext cx="20116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 factor contributions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94208" y="3219069"/>
            <a:ext cx="142646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4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Rainfall intensity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01850" y="3209925"/>
            <a:ext cx="1962150" cy="438150"/>
          </a:xfrm>
          <a:custGeom>
            <a:avLst/>
            <a:gdLst/>
            <a:ahLst/>
            <a:cxnLst/>
            <a:rect r="r" b="b" t="t" l="l"/>
            <a:pathLst>
              <a:path h="438150" w="1962150">
                <a:moveTo>
                  <a:pt x="0" y="0"/>
                </a:moveTo>
                <a:lnTo>
                  <a:pt x="1962150" y="0"/>
                </a:lnTo>
                <a:lnTo>
                  <a:pt x="1962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824960" y="3219069"/>
            <a:ext cx="4754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+0.38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94208" y="3651123"/>
            <a:ext cx="12252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Soil saturation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801850" y="3638550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094208" y="4078415"/>
            <a:ext cx="126187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5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Slope gradient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801850" y="4067175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449550" y="449580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4955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668625" y="5353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22960" y="2080373"/>
            <a:ext cx="6053328" cy="249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</a:pPr>
            <a:r>
              <a:rPr lang="en-US" sz="6271" b="true">
                <a:solidFill>
                  <a:srgbClr val="D15322"/>
                </a:solidFill>
                <a:latin typeface="Roboto Bold"/>
                <a:ea typeface="Roboto Bold"/>
                <a:cs typeface="Roboto Bold"/>
                <a:sym typeface="Roboto Bold"/>
              </a:rPr>
              <a:t>LANDSLIDE ASSESSMENT</a:t>
            </a:r>
          </a:p>
          <a:p>
            <a:pPr algn="l">
              <a:lnSpc>
                <a:spcPts val="6460"/>
              </a:lnSpc>
            </a:pPr>
            <a:r>
              <a:rPr lang="en-US" sz="62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&amp; FORECASTING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94208" y="2418207"/>
            <a:ext cx="23957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EXPLAINABILITY (SHAP)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3651123"/>
            <a:ext cx="4754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+0.27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824960" y="4083177"/>
            <a:ext cx="4754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+0.19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94208" y="4541329"/>
            <a:ext cx="80467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5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Elevation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23008" y="4541329"/>
            <a:ext cx="475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-0.12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94208" y="5002720"/>
            <a:ext cx="157276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41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 cover (forest)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105888" y="4983671"/>
            <a:ext cx="475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-0.99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94208" y="5420487"/>
            <a:ext cx="157276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Drainage condition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105888" y="5415725"/>
            <a:ext cx="475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-0.77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94208" y="5852541"/>
            <a:ext cx="113385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4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Slope cutting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05888" y="5847778"/>
            <a:ext cx="4754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-0.06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94208" y="6594729"/>
            <a:ext cx="9875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Probability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740128" y="6594729"/>
            <a:ext cx="8961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level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094208" y="6856285"/>
            <a:ext cx="95097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258" b="true">
                <a:solidFill>
                  <a:srgbClr val="D15322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0.78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40128" y="6884860"/>
            <a:ext cx="98755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b="true">
                <a:solidFill>
                  <a:srgbClr val="D15322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HIGH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191488" y="6594729"/>
            <a:ext cx="4754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100048" y="7072884"/>
            <a:ext cx="29260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9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94208" y="7732205"/>
            <a:ext cx="40050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wainwist wry, gynostegia gynogynic gynogynic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94208" y="8503729"/>
            <a:ext cx="42793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moralise </a:t>
            </a:r>
            <a:r>
              <a:rPr lang="en-US" sz="180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unmysticized, </a:t>
            </a: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unmoralized </a:t>
            </a:r>
            <a:r>
              <a:rPr lang="en-US" sz="180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unmysticized, </a:t>
            </a: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unmoralized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80960" y="8775573"/>
            <a:ext cx="38404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09760" y="8775573"/>
            <a:ext cx="4754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07424" y="6707886"/>
            <a:ext cx="129844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Nawalapitiya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79408" y="5074539"/>
            <a:ext cx="8778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KandV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714889"/>
            <a:ext cx="6053328" cy="92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68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1761875"/>
            <a:ext cx="7132320" cy="148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5704" b="true">
                <a:solidFill>
                  <a:srgbClr val="C84107"/>
                </a:solidFill>
                <a:latin typeface="Inter Bold"/>
                <a:ea typeface="Inter Bold"/>
                <a:cs typeface="Inter Bold"/>
                <a:sym typeface="Inter Bold"/>
              </a:rPr>
              <a:t>HUMAN IMPACT &amp; DECISION SUPPORT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3416427"/>
            <a:ext cx="698601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Integrating hazards with people and infrastructure to guide smarter, faster response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4495800"/>
            <a:ext cx="7191375" cy="219075"/>
          </a:xfrm>
          <a:custGeom>
            <a:avLst/>
            <a:gdLst/>
            <a:ahLst/>
            <a:cxnLst/>
            <a:rect r="r" b="b" t="t" l="l"/>
            <a:pathLst>
              <a:path h="219075" w="71913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1792" y="4942522"/>
            <a:ext cx="50474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Merges flood and landslide hazards with population density, vulnerable groups and socio-economic vulnerability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1792" y="6308407"/>
            <a:ext cx="526694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Accounts for critical facilities, road access, historical events and uncertainty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792" y="7307771"/>
            <a:ext cx="453542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joint and cascading risk with temporal overlap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792" y="8284845"/>
            <a:ext cx="45902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Generates explainable priority scores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792" y="8941118"/>
            <a:ext cx="477316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Delivers graded alerts, recommended actions and prioritized response zones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48625" y="428625"/>
            <a:ext cx="9810750" cy="9220200"/>
          </a:xfrm>
          <a:custGeom>
            <a:avLst/>
            <a:gdLst/>
            <a:ahLst/>
            <a:cxnLst/>
            <a:rect r="r" b="b" t="t" l="l"/>
            <a:pathLst>
              <a:path h="9220200" w="9810750">
                <a:moveTo>
                  <a:pt x="0" y="0"/>
                </a:moveTo>
                <a:lnTo>
                  <a:pt x="9810750" y="0"/>
                </a:lnTo>
                <a:lnTo>
                  <a:pt x="981075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48625" y="428625"/>
            <a:ext cx="7191375" cy="8143875"/>
          </a:xfrm>
          <a:custGeom>
            <a:avLst/>
            <a:gdLst/>
            <a:ahLst/>
            <a:cxnLst/>
            <a:rect r="r" b="b" t="t" l="l"/>
            <a:pathLst>
              <a:path h="8143875" w="7191375">
                <a:moveTo>
                  <a:pt x="0" y="0"/>
                </a:moveTo>
                <a:lnTo>
                  <a:pt x="7191375" y="0"/>
                </a:lnTo>
                <a:lnTo>
                  <a:pt x="7191375" y="8143875"/>
                </a:lnTo>
                <a:lnTo>
                  <a:pt x="0" y="814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705850" y="149542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10775" y="235267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24925" y="642937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77550" y="38576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9170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39700" y="1924050"/>
            <a:ext cx="1752600" cy="866775"/>
          </a:xfrm>
          <a:custGeom>
            <a:avLst/>
            <a:gdLst/>
            <a:ahLst/>
            <a:cxnLst/>
            <a:rect r="r" b="b" t="t" l="l"/>
            <a:pathLst>
              <a:path h="866775" w="1752600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63700" y="1285875"/>
            <a:ext cx="3276600" cy="2143125"/>
          </a:xfrm>
          <a:custGeom>
            <a:avLst/>
            <a:gdLst/>
            <a:ahLst/>
            <a:cxnLst/>
            <a:rect r="r" b="b" t="t" l="l"/>
            <a:pathLst>
              <a:path h="2143125" w="3276600">
                <a:moveTo>
                  <a:pt x="0" y="0"/>
                </a:moveTo>
                <a:lnTo>
                  <a:pt x="3276600" y="0"/>
                </a:lnTo>
                <a:lnTo>
                  <a:pt x="3276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831568" y="1591247"/>
            <a:ext cx="17373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PRIORITY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31568" y="2070421"/>
            <a:ext cx="2377440" cy="9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hazard</a:t>
            </a:r>
          </a:p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population</a:t>
            </a:r>
          </a:p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Critical facilities nearby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401550" y="3857625"/>
            <a:ext cx="2190750" cy="428625"/>
          </a:xfrm>
          <a:custGeom>
            <a:avLst/>
            <a:gdLst/>
            <a:ahLst/>
            <a:cxnLst/>
            <a:rect r="r" b="b" t="t" l="l"/>
            <a:pathLst>
              <a:path h="428625" w="2190750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63700" y="3638550"/>
            <a:ext cx="3276600" cy="2152650"/>
          </a:xfrm>
          <a:custGeom>
            <a:avLst/>
            <a:gdLst/>
            <a:ahLst/>
            <a:cxnLst/>
            <a:rect r="r" b="b" t="t" l="l"/>
            <a:pathLst>
              <a:path h="2152650" w="3276600">
                <a:moveTo>
                  <a:pt x="0" y="0"/>
                </a:moveTo>
                <a:lnTo>
                  <a:pt x="3276600" y="0"/>
                </a:lnTo>
                <a:lnTo>
                  <a:pt x="3276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831568" y="3989642"/>
            <a:ext cx="22128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MEDIUM PRIORITY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31568" y="4460191"/>
            <a:ext cx="1920240" cy="100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Moderate hazard</a:t>
            </a:r>
          </a:p>
          <a:p>
            <a:pPr algn="l">
              <a:lnSpc>
                <a:spcPts val="2626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Vulnerable groups</a:t>
            </a:r>
          </a:p>
          <a:p>
            <a:pPr algn="l">
              <a:lnSpc>
                <a:spcPts val="2626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Limited access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839700" y="64293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3700" y="6000750"/>
            <a:ext cx="3276600" cy="2143125"/>
          </a:xfrm>
          <a:custGeom>
            <a:avLst/>
            <a:gdLst/>
            <a:ahLst/>
            <a:cxnLst/>
            <a:rect r="r" b="b" t="t" l="l"/>
            <a:pathLst>
              <a:path h="2143125" w="3276600">
                <a:moveTo>
                  <a:pt x="0" y="0"/>
                </a:moveTo>
                <a:lnTo>
                  <a:pt x="3276600" y="0"/>
                </a:lnTo>
                <a:lnTo>
                  <a:pt x="3276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831568" y="6437947"/>
            <a:ext cx="17373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 PRIORITY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31568" y="6936172"/>
            <a:ext cx="1645920" cy="9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 hazard</a:t>
            </a:r>
          </a:p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Lower exposure</a:t>
            </a:r>
          </a:p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access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267700" y="8353425"/>
            <a:ext cx="8715375" cy="1076325"/>
          </a:xfrm>
          <a:custGeom>
            <a:avLst/>
            <a:gdLst/>
            <a:ahLst/>
            <a:cxnLst/>
            <a:rect r="r" b="b" t="t" l="l"/>
            <a:pathLst>
              <a:path h="1076325" w="8715375">
                <a:moveTo>
                  <a:pt x="0" y="0"/>
                </a:moveTo>
                <a:lnTo>
                  <a:pt x="8715375" y="0"/>
                </a:lnTo>
                <a:lnTo>
                  <a:pt x="871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05850" y="85725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144000" y="8760523"/>
            <a:ext cx="9509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Hospitals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229850" y="8572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917936" y="8779574"/>
            <a:ext cx="7680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Schools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972925" y="857250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508992" y="8760523"/>
            <a:ext cx="8229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Shelters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3496925" y="87820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136624" y="8750999"/>
            <a:ext cx="6035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020925" y="8782050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544800" y="8760523"/>
            <a:ext cx="98755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Landslide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485733"/>
            <a:ext cx="5285232" cy="79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59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242073"/>
            <a:ext cx="9893808" cy="150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6059" b="true">
                <a:solidFill>
                  <a:srgbClr val="C64B2C"/>
                </a:solidFill>
                <a:latin typeface="Roboto Bold"/>
                <a:ea typeface="Roboto Bold"/>
                <a:cs typeface="Roboto Bold"/>
                <a:sym typeface="Roboto Bold"/>
              </a:rPr>
              <a:t>EMERGENCY RESPONSE &amp; RESOURCE COORDINATION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368" y="2777300"/>
            <a:ext cx="90342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resource-aware dispatch and routing innovations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429000"/>
            <a:ext cx="2190750" cy="1504950"/>
          </a:xfrm>
          <a:custGeom>
            <a:avLst/>
            <a:gdLst/>
            <a:ahLst/>
            <a:cxnLst/>
            <a:rect r="r" b="b" t="t" l="l"/>
            <a:pathLst>
              <a:path h="1504950" w="2190750">
                <a:moveTo>
                  <a:pt x="0" y="0"/>
                </a:moveTo>
                <a:lnTo>
                  <a:pt x="2190750" y="0"/>
                </a:lnTo>
                <a:lnTo>
                  <a:pt x="219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5840" y="3834956"/>
            <a:ext cx="140817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b="true" sz="187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PRIORITIZED ALERTS IN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9850" y="3857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8000" y="342900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74720" y="3711511"/>
            <a:ext cx="17373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true" sz="18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RESOURCE AVAILABILITY CHECK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8775" y="3857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76925" y="3429000"/>
            <a:ext cx="2400300" cy="1504950"/>
          </a:xfrm>
          <a:custGeom>
            <a:avLst/>
            <a:gdLst/>
            <a:ahLst/>
            <a:cxnLst/>
            <a:rect r="r" b="b" t="t" l="l"/>
            <a:pathLst>
              <a:path h="1504950" w="2400300">
                <a:moveTo>
                  <a:pt x="0" y="0"/>
                </a:moveTo>
                <a:lnTo>
                  <a:pt x="2400300" y="0"/>
                </a:lnTo>
                <a:lnTo>
                  <a:pt x="2400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53328" y="3697224"/>
            <a:ext cx="193852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b="true" sz="187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URGENCY QUEUING DURING SCARCITY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48625" y="38576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86775" y="3429000"/>
            <a:ext cx="2400300" cy="1504950"/>
          </a:xfrm>
          <a:custGeom>
            <a:avLst/>
            <a:gdLst/>
            <a:ahLst/>
            <a:cxnLst/>
            <a:rect r="r" b="b" t="t" l="l"/>
            <a:pathLst>
              <a:path h="1504950" w="2400300">
                <a:moveTo>
                  <a:pt x="0" y="0"/>
                </a:moveTo>
                <a:lnTo>
                  <a:pt x="2400300" y="0"/>
                </a:lnTo>
                <a:lnTo>
                  <a:pt x="2400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24544" y="3682937"/>
            <a:ext cx="151790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98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RESOURCE ALLOCATION ENGINE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668000" y="385762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96625" y="342900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430000" y="3697224"/>
            <a:ext cx="188366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HAZARD-AWARE ROUTE PLANNING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133850" y="4714875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43700" y="47148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53550" y="47148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52625" y="5353050"/>
            <a:ext cx="9153525" cy="2152650"/>
          </a:xfrm>
          <a:custGeom>
            <a:avLst/>
            <a:gdLst/>
            <a:ahLst/>
            <a:cxnLst/>
            <a:rect r="r" b="b" t="t" l="l"/>
            <a:pathLst>
              <a:path h="2152650" w="9153525">
                <a:moveTo>
                  <a:pt x="0" y="0"/>
                </a:moveTo>
                <a:lnTo>
                  <a:pt x="9153525" y="0"/>
                </a:lnTo>
                <a:lnTo>
                  <a:pt x="91535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096000" y="5254561"/>
            <a:ext cx="18836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b="true" sz="1876">
                <a:solidFill>
                  <a:srgbClr val="C64B2C"/>
                </a:solidFill>
                <a:latin typeface="Roboto Bold"/>
                <a:ea typeface="Roboto Bold"/>
                <a:cs typeface="Roboto Bold"/>
                <a:sym typeface="Roboto Bold"/>
              </a:rPr>
              <a:t>RESOURCE POOL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171700" y="5781675"/>
            <a:ext cx="2400300" cy="1504950"/>
          </a:xfrm>
          <a:custGeom>
            <a:avLst/>
            <a:gdLst/>
            <a:ahLst/>
            <a:cxnLst/>
            <a:rect r="r" b="b" t="t" l="l"/>
            <a:pathLst>
              <a:path h="1504950" w="2400300">
                <a:moveTo>
                  <a:pt x="0" y="0"/>
                </a:moveTo>
                <a:lnTo>
                  <a:pt x="2400300" y="0"/>
                </a:lnTo>
                <a:lnTo>
                  <a:pt x="2400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578608" y="5983033"/>
            <a:ext cx="16276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RESCUE BOATS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609850" y="6210300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572000" y="5781675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864608" y="5978271"/>
            <a:ext cx="157276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true" sz="18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AMBULANCES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000625" y="6210300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43700" y="5781675"/>
            <a:ext cx="2190750" cy="1504950"/>
          </a:xfrm>
          <a:custGeom>
            <a:avLst/>
            <a:gdLst/>
            <a:ahLst/>
            <a:cxnLst/>
            <a:rect r="r" b="b" t="t" l="l"/>
            <a:pathLst>
              <a:path h="1504950" w="2190750">
                <a:moveTo>
                  <a:pt x="0" y="0"/>
                </a:moveTo>
                <a:lnTo>
                  <a:pt x="2190750" y="0"/>
                </a:lnTo>
                <a:lnTo>
                  <a:pt x="219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296912" y="5978271"/>
            <a:ext cx="111556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true" sz="18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SHELTERS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400925" y="621030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924925" y="5781675"/>
            <a:ext cx="1962150" cy="1504950"/>
          </a:xfrm>
          <a:custGeom>
            <a:avLst/>
            <a:gdLst/>
            <a:ahLst/>
            <a:cxnLst/>
            <a:rect r="r" b="b" t="t" l="l"/>
            <a:pathLst>
              <a:path h="1504950" w="19621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381744" y="5978271"/>
            <a:ext cx="107899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true" sz="18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SUPPLIES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353550" y="6210300"/>
            <a:ext cx="1104900" cy="866775"/>
          </a:xfrm>
          <a:custGeom>
            <a:avLst/>
            <a:gdLst/>
            <a:ahLst/>
            <a:cxnLst/>
            <a:rect r="r" b="b" t="t" l="l"/>
            <a:pathLst>
              <a:path h="866775" w="1104900">
                <a:moveTo>
                  <a:pt x="0" y="0"/>
                </a:moveTo>
                <a:lnTo>
                  <a:pt x="1104900" y="0"/>
                </a:lnTo>
                <a:lnTo>
                  <a:pt x="110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58775" y="5143500"/>
            <a:ext cx="4581525" cy="1933575"/>
          </a:xfrm>
          <a:custGeom>
            <a:avLst/>
            <a:gdLst/>
            <a:ahLst/>
            <a:cxnLst/>
            <a:rect r="r" b="b" t="t" l="l"/>
            <a:pathLst>
              <a:path h="1933575" w="4581525">
                <a:moveTo>
                  <a:pt x="0" y="0"/>
                </a:moveTo>
                <a:lnTo>
                  <a:pt x="4581525" y="0"/>
                </a:lnTo>
                <a:lnTo>
                  <a:pt x="4581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752576" y="5397437"/>
            <a:ext cx="31821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DISPATCH &amp; COMMUNICATE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496925" y="57816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020925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124176" y="6467285"/>
            <a:ext cx="47548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b="true" sz="187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325850" y="5781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276320" y="6476809"/>
            <a:ext cx="84124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496925" y="3857625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020925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47700" y="7496175"/>
            <a:ext cx="10458450" cy="2152650"/>
          </a:xfrm>
          <a:custGeom>
            <a:avLst/>
            <a:gdLst/>
            <a:ahLst/>
            <a:cxnLst/>
            <a:rect r="r" b="b" t="t" l="l"/>
            <a:pathLst>
              <a:path h="2152650" w="10458450">
                <a:moveTo>
                  <a:pt x="0" y="0"/>
                </a:moveTo>
                <a:lnTo>
                  <a:pt x="10458450" y="0"/>
                </a:lnTo>
                <a:lnTo>
                  <a:pt x="10458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05840" y="7888795"/>
            <a:ext cx="35661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230" b="true">
                <a:solidFill>
                  <a:srgbClr val="C64B2C"/>
                </a:solidFill>
                <a:latin typeface="Roboto Bold"/>
                <a:ea typeface="Roboto Bold"/>
                <a:cs typeface="Roboto Bold"/>
                <a:sym typeface="Roboto Bold"/>
              </a:rPr>
              <a:t>INNOVATION AT THE CORE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5840" y="8416862"/>
            <a:ext cx="177393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resource-aware dispatch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3048000" y="8353425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3697712" y="6476809"/>
            <a:ext cx="4754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38144" y="8435912"/>
            <a:ext cx="177393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Dual-route optimization across hazards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79008" y="8435912"/>
            <a:ext cx="177393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Scarcity-based queuing for fair prioritization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66176" y="8440674"/>
            <a:ext cx="177393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Multi-channel, localized communication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67360" y="7897178"/>
            <a:ext cx="3712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MONITOR &amp; TRACK IN REAL TIME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527280" y="8687372"/>
            <a:ext cx="14081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ARRIVALS &amp; DEPLOYMENTS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92656" y="8706421"/>
            <a:ext cx="117043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sz="15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SHELTER OCCUPANCY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111728" y="8715947"/>
            <a:ext cx="11155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4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RESOURCE UTILIZATION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610218"/>
            <a:ext cx="3474720" cy="94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1500547"/>
            <a:ext cx="6876288" cy="98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7441" b="true">
                <a:solidFill>
                  <a:srgbClr val="C44F31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928" y="2502408"/>
            <a:ext cx="766267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One integrated platform. Connected components. End-to-end response.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4495800"/>
            <a:ext cx="2619375" cy="1724025"/>
          </a:xfrm>
          <a:custGeom>
            <a:avLst/>
            <a:gdLst/>
            <a:ahLst/>
            <a:cxnLst/>
            <a:rect r="r" b="b" t="t" l="l"/>
            <a:pathLst>
              <a:path h="1724025" w="2619375">
                <a:moveTo>
                  <a:pt x="0" y="0"/>
                </a:moveTo>
                <a:lnTo>
                  <a:pt x="2619375" y="0"/>
                </a:lnTo>
                <a:lnTo>
                  <a:pt x="2619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552" y="4911661"/>
            <a:ext cx="1609344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21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Multi-source data &amp; live telemetry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48000" y="4495800"/>
            <a:ext cx="2181225" cy="1724025"/>
          </a:xfrm>
          <a:custGeom>
            <a:avLst/>
            <a:gdLst/>
            <a:ahLst/>
            <a:cxnLst/>
            <a:rect r="r" b="b" t="t" l="l"/>
            <a:pathLst>
              <a:path h="1724025" w="2181225">
                <a:moveTo>
                  <a:pt x="0" y="0"/>
                </a:moveTo>
                <a:lnTo>
                  <a:pt x="2181225" y="0"/>
                </a:lnTo>
                <a:lnTo>
                  <a:pt x="2181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66160" y="5061395"/>
            <a:ext cx="129844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38775" y="4495800"/>
            <a:ext cx="1752600" cy="1724025"/>
          </a:xfrm>
          <a:custGeom>
            <a:avLst/>
            <a:gdLst/>
            <a:ahLst/>
            <a:cxnLst/>
            <a:rect r="r" b="b" t="t" l="l"/>
            <a:pathLst>
              <a:path h="1724025" w="1752600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98464" y="5061394"/>
            <a:ext cx="6949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GIS layers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828925" y="514350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0625" y="51435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20000" y="3857625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39328" y="4197286"/>
            <a:ext cx="9326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1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module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20000" y="5143500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11312" y="5575745"/>
            <a:ext cx="11887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Landslide module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181850" y="4286250"/>
            <a:ext cx="657225" cy="1714500"/>
          </a:xfrm>
          <a:custGeom>
            <a:avLst/>
            <a:gdLst/>
            <a:ahLst/>
            <a:cxnLst/>
            <a:rect r="r" b="b" t="t" l="l"/>
            <a:pathLst>
              <a:path h="1714500" w="657225">
                <a:moveTo>
                  <a:pt x="0" y="0"/>
                </a:moveTo>
                <a:lnTo>
                  <a:pt x="657225" y="0"/>
                </a:lnTo>
                <a:lnTo>
                  <a:pt x="657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8925" y="4067175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08208" y="4677537"/>
            <a:ext cx="148132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Joint risk &amp; impact prioritization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791700" y="42862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10775" y="4924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91700" y="55721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15700" y="600075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48925" y="6858000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89920" y="7199566"/>
            <a:ext cx="148132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Resource coordination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401550" y="72866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39700" y="4495800"/>
            <a:ext cx="2190750" cy="1295400"/>
          </a:xfrm>
          <a:custGeom>
            <a:avLst/>
            <a:gdLst/>
            <a:ahLst/>
            <a:cxnLst/>
            <a:rect r="r" b="b" t="t" l="l"/>
            <a:pathLst>
              <a:path h="1295400" w="2190750">
                <a:moveTo>
                  <a:pt x="0" y="0"/>
                </a:moveTo>
                <a:lnTo>
                  <a:pt x="2190750" y="0"/>
                </a:lnTo>
                <a:lnTo>
                  <a:pt x="2190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441680" y="4793933"/>
            <a:ext cx="10241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gateway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40155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449550" y="3000375"/>
            <a:ext cx="2190750" cy="3648075"/>
          </a:xfrm>
          <a:custGeom>
            <a:avLst/>
            <a:gdLst/>
            <a:ahLst/>
            <a:cxnLst/>
            <a:rect r="r" b="b" t="t" l="l"/>
            <a:pathLst>
              <a:path h="3648075" w="2190750">
                <a:moveTo>
                  <a:pt x="0" y="0"/>
                </a:moveTo>
                <a:lnTo>
                  <a:pt x="2190750" y="0"/>
                </a:lnTo>
                <a:lnTo>
                  <a:pt x="2190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947136" y="3362134"/>
            <a:ext cx="138988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Dashboards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668625" y="385762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668625" y="47148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258032" y="5064252"/>
            <a:ext cx="73152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5668625" y="557212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020925" y="3429000"/>
            <a:ext cx="657225" cy="3429000"/>
          </a:xfrm>
          <a:custGeom>
            <a:avLst/>
            <a:gdLst/>
            <a:ahLst/>
            <a:cxnLst/>
            <a:rect r="r" b="b" t="t" l="l"/>
            <a:pathLst>
              <a:path h="3429000" w="657225">
                <a:moveTo>
                  <a:pt x="0" y="0"/>
                </a:moveTo>
                <a:lnTo>
                  <a:pt x="657225" y="0"/>
                </a:lnTo>
                <a:lnTo>
                  <a:pt x="6572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801850" y="64293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839700" y="6858000"/>
            <a:ext cx="2190750" cy="1285875"/>
          </a:xfrm>
          <a:custGeom>
            <a:avLst/>
            <a:gdLst/>
            <a:ahLst/>
            <a:cxnLst/>
            <a:rect r="r" b="b" t="t" l="l"/>
            <a:pathLst>
              <a:path h="1285875" w="2190750">
                <a:moveTo>
                  <a:pt x="0" y="0"/>
                </a:moveTo>
                <a:lnTo>
                  <a:pt x="2190750" y="0"/>
                </a:lnTo>
                <a:lnTo>
                  <a:pt x="2190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405104" y="7180516"/>
            <a:ext cx="122529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1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Routing &amp; dispatch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4133850" y="8353425"/>
            <a:ext cx="10020300" cy="647700"/>
          </a:xfrm>
          <a:custGeom>
            <a:avLst/>
            <a:gdLst/>
            <a:ahLst/>
            <a:cxnLst/>
            <a:rect r="r" b="b" t="t" l="l"/>
            <a:pathLst>
              <a:path h="647700" w="10020300">
                <a:moveTo>
                  <a:pt x="0" y="0"/>
                </a:moveTo>
                <a:lnTo>
                  <a:pt x="10020300" y="0"/>
                </a:lnTo>
                <a:lnTo>
                  <a:pt x="10020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171700" y="8782050"/>
            <a:ext cx="4362450" cy="1076325"/>
          </a:xfrm>
          <a:custGeom>
            <a:avLst/>
            <a:gdLst/>
            <a:ahLst/>
            <a:cxnLst/>
            <a:rect r="r" b="b" t="t" l="l"/>
            <a:pathLst>
              <a:path h="1076325" w="4362450">
                <a:moveTo>
                  <a:pt x="0" y="0"/>
                </a:moveTo>
                <a:lnTo>
                  <a:pt x="4362450" y="0"/>
                </a:lnTo>
                <a:lnTo>
                  <a:pt x="4362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743700" y="8782050"/>
            <a:ext cx="4800600" cy="1076325"/>
          </a:xfrm>
          <a:custGeom>
            <a:avLst/>
            <a:gdLst/>
            <a:ahLst/>
            <a:cxnLst/>
            <a:rect r="r" b="b" t="t" l="l"/>
            <a:pathLst>
              <a:path h="1076325" w="4800600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083296" y="9162478"/>
            <a:ext cx="21214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DMC / Authorities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1753850" y="8782050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3002768" y="9143428"/>
            <a:ext cx="202996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20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Partner Agencies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95344" y="9162478"/>
            <a:ext cx="9509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Citizens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093440" y="4231005"/>
            <a:ext cx="106070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Web-GIS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148304" y="5922073"/>
            <a:ext cx="9326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0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278130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20992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5296" y="3754565"/>
            <a:ext cx="437083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 risk prediction &amp; mapping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28625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5296" y="4906709"/>
            <a:ext cx="33832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ML landslide forecasting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5572125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25296" y="5621274"/>
            <a:ext cx="51389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Prathibhani Y.L.O.L (IT23317512)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296" y="6089713"/>
            <a:ext cx="471830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Human impact &amp; decision support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663892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25296" y="7256907"/>
            <a:ext cx="608990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Emergency response &amp; resource coordination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2571750"/>
            <a:ext cx="8715375" cy="5143500"/>
          </a:xfrm>
          <a:custGeom>
            <a:avLst/>
            <a:gdLst/>
            <a:ahLst/>
            <a:cxnLst/>
            <a:rect r="r" b="b" t="t" l="l"/>
            <a:pathLst>
              <a:path h="5143500" w="8715375">
                <a:moveTo>
                  <a:pt x="0" y="0"/>
                </a:moveTo>
                <a:lnTo>
                  <a:pt x="8715375" y="0"/>
                </a:lnTo>
                <a:lnTo>
                  <a:pt x="87153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8143875"/>
            <a:ext cx="16773525" cy="219075"/>
          </a:xfrm>
          <a:custGeom>
            <a:avLst/>
            <a:gdLst/>
            <a:ahLst/>
            <a:cxnLst/>
            <a:rect r="r" b="b" t="t" l="l"/>
            <a:pathLst>
              <a:path h="219075" w="1677352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00925" y="8353425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47888" y="8986266"/>
            <a:ext cx="19385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J26-IT-334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10544" y="8515159"/>
            <a:ext cx="20116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b="true">
                <a:solidFill>
                  <a:srgbClr val="B6452C"/>
                </a:solidFill>
                <a:latin typeface="Roboto Bold"/>
                <a:ea typeface="Roboto Bold"/>
                <a:cs typeface="Roboto Bold"/>
                <a:sym typeface="Roboto Bold"/>
              </a:rPr>
              <a:t>PROJECT TITLE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10544" y="8950833"/>
            <a:ext cx="642526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Integrated Flood and Landslide Risk Assessment and Response System for Sri Lanka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9536" y="600280"/>
            <a:ext cx="7004304" cy="207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AND </a:t>
            </a:r>
            <a:r>
              <a:rPr lang="en-US" sz="8008" b="true">
                <a:solidFill>
                  <a:srgbClr val="B6452C"/>
                </a:solidFill>
                <a:latin typeface="Roboto Bold"/>
                <a:ea typeface="Roboto Bold"/>
                <a:cs typeface="Roboto Bold"/>
                <a:sym typeface="Roboto Bold"/>
              </a:rPr>
              <a:t>SUPERVISORS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" y="3267075"/>
            <a:ext cx="41330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Sinhalagoda S.A.U.R.A.V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31536" y="3250501"/>
            <a:ext cx="18836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(IT23280892)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5296" y="4414456"/>
            <a:ext cx="215798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Bagya R M 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93008" y="4402645"/>
            <a:ext cx="20482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(IT23394124)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" y="6759893"/>
            <a:ext cx="267004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Palihena M.B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93008" y="6748081"/>
            <a:ext cx="197510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(IT23411562)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9536" y="8486584"/>
            <a:ext cx="202996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B6452C"/>
                </a:solidFill>
                <a:latin typeface="Roboto Bold"/>
                <a:ea typeface="Roboto Bold"/>
                <a:cs typeface="Roboto Bold"/>
                <a:sym typeface="Roboto Bold"/>
              </a:rPr>
              <a:t>SUPERVISORS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47888" y="8500872"/>
            <a:ext cx="15727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true">
                <a:solidFill>
                  <a:srgbClr val="B6452C"/>
                </a:solidFill>
                <a:latin typeface="Roboto Bold"/>
                <a:ea typeface="Roboto Bold"/>
                <a:cs typeface="Roboto Bold"/>
                <a:sym typeface="Roboto Bold"/>
              </a:rPr>
              <a:t>PROJECT 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9536" y="8944737"/>
            <a:ext cx="471830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Dr. Kapila Dissanayaka (Supervisor)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9536" y="9386316"/>
            <a:ext cx="583387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Mr. Uchira Wickramarathne (Co-Supervisor)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8791575"/>
          </a:xfrm>
          <a:custGeom>
            <a:avLst/>
            <a:gdLst/>
            <a:ahLst/>
            <a:cxnLst/>
            <a:rect r="r" b="b" t="t" l="l"/>
            <a:pathLst>
              <a:path h="8791575" w="18288000">
                <a:moveTo>
                  <a:pt x="0" y="0"/>
                </a:moveTo>
                <a:lnTo>
                  <a:pt x="18288000" y="0"/>
                </a:lnTo>
                <a:lnTo>
                  <a:pt x="18288000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82050"/>
            <a:ext cx="18288000" cy="1504950"/>
          </a:xfrm>
          <a:custGeom>
            <a:avLst/>
            <a:gdLst/>
            <a:ahLst/>
            <a:cxnLst/>
            <a:rect r="r" b="b" t="t" l="l"/>
            <a:pathLst>
              <a:path h="1504950" w="18288000">
                <a:moveTo>
                  <a:pt x="0" y="0"/>
                </a:moveTo>
                <a:lnTo>
                  <a:pt x="18288000" y="0"/>
                </a:lnTo>
                <a:lnTo>
                  <a:pt x="18288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248" y="1787246"/>
            <a:ext cx="4498848" cy="77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sz="588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2665367"/>
            <a:ext cx="11539728" cy="9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true">
                <a:solidFill>
                  <a:srgbClr val="E1652B"/>
                </a:solidFill>
                <a:latin typeface="Roboto Bold"/>
                <a:ea typeface="Roboto Bold"/>
                <a:cs typeface="Roboto Bold"/>
                <a:sym typeface="Roboto Bold"/>
              </a:rPr>
              <a:t>PREDICT. WARN. RESPOND.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857625"/>
            <a:ext cx="6972300" cy="428625"/>
          </a:xfrm>
          <a:custGeom>
            <a:avLst/>
            <a:gdLst/>
            <a:ahLst/>
            <a:cxnLst/>
            <a:rect r="r" b="b" t="t" l="l"/>
            <a:pathLst>
              <a:path h="428625" w="6972300">
                <a:moveTo>
                  <a:pt x="0" y="0"/>
                </a:moveTo>
                <a:lnTo>
                  <a:pt x="6972300" y="0"/>
                </a:lnTo>
                <a:lnTo>
                  <a:pt x="6972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1248" y="4617806"/>
            <a:ext cx="5907024" cy="86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7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Together, we build a safer Sri Lanka through data, coordination and action.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6010586"/>
            <a:ext cx="4078224" cy="4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797" b="true">
                <a:solidFill>
                  <a:srgbClr val="E1652B"/>
                </a:solidFill>
                <a:latin typeface="Roboto Bold"/>
                <a:ea typeface="Roboto Bold"/>
                <a:cs typeface="Roboto Bold"/>
                <a:sym typeface="Roboto Bold"/>
              </a:rPr>
              <a:t>LET’S STAY CONNECTED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248" y="6521221"/>
            <a:ext cx="5120640" cy="7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collaboration, information sharing and next steps, please get in touch.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390775" y="9001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1216" y="9228722"/>
            <a:ext cx="2670048" cy="4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6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ReliefWeb/OCHA</a:t>
            </a:r>
          </a:p>
          <a:p>
            <a:pPr algn="l">
              <a:lnSpc>
                <a:spcPts val="1790"/>
              </a:lnSpc>
            </a:pPr>
            <a:r>
              <a:rPr lang="en-US" sz="16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Sri Lanka floods &amp; landslides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57850" y="9001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36208" y="9218971"/>
            <a:ext cx="1737360" cy="46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Dept. Meteorology</a:t>
            </a:r>
          </a:p>
          <a:p>
            <a:pPr algn="l">
              <a:lnSpc>
                <a:spcPts val="1829"/>
              </a:lnSpc>
            </a:pPr>
            <a:r>
              <a:rPr lang="en-US" sz="16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Sri Lanka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267700" y="9001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68512" y="9208771"/>
            <a:ext cx="1389888" cy="48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DMC</a:t>
            </a:r>
          </a:p>
          <a:p>
            <a:pPr algn="l">
              <a:lnSpc>
                <a:spcPts val="1946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 warning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29850" y="9001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753344" y="9218746"/>
            <a:ext cx="1792224" cy="46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UNDRR</a:t>
            </a:r>
          </a:p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Sendai Framework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39700" y="9001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258800" y="9218746"/>
            <a:ext cx="1645920" cy="46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Palliyagurre et al.</a:t>
            </a:r>
          </a:p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(ICTer 2020)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240000" y="9001125"/>
            <a:ext cx="219075" cy="857250"/>
          </a:xfrm>
          <a:custGeom>
            <a:avLst/>
            <a:gdLst/>
            <a:ahLst/>
            <a:cxnLst/>
            <a:rect r="r" b="b" t="t" l="l"/>
            <a:pathLst>
              <a:path h="857250" w="219075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617952" y="9218746"/>
            <a:ext cx="1847088" cy="46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Aththanayake et al.</a:t>
            </a:r>
          </a:p>
          <a:p>
            <a:pPr algn="l">
              <a:lnSpc>
                <a:spcPts val="186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(SLAAI-ICAI 2025)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248" y="9168479"/>
            <a:ext cx="1170432" cy="28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NBRO LIRIS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DAHT10fKPuk</dc:identifier>
  <dcterms:modified xsi:type="dcterms:W3CDTF">2011-08-01T06:04:30Z</dcterms:modified>
  <cp:revision>1</cp:revision>
  <dc:title>Integrated Flood and Landslide Risk Assessment and Response System for Sri Lanka</dc:title>
</cp:coreProperties>
</file>