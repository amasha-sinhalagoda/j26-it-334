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4"/>
  </p:notesMasterIdLst>
  <p:handoutMasterIdLst>
    <p:handoutMasterId r:id="rId45"/>
  </p:handoutMasterIdLst>
  <p:sldIdLst>
    <p:sldId id="277" r:id="rId5"/>
    <p:sldId id="270" r:id="rId6"/>
    <p:sldId id="292" r:id="rId7"/>
    <p:sldId id="293" r:id="rId8"/>
    <p:sldId id="294" r:id="rId9"/>
    <p:sldId id="295" r:id="rId10"/>
    <p:sldId id="296" r:id="rId11"/>
    <p:sldId id="297" r:id="rId12"/>
    <p:sldId id="328" r:id="rId13"/>
    <p:sldId id="329" r:id="rId14"/>
    <p:sldId id="332" r:id="rId15"/>
    <p:sldId id="330" r:id="rId16"/>
    <p:sldId id="331" r:id="rId17"/>
    <p:sldId id="300" r:id="rId18"/>
    <p:sldId id="301" r:id="rId19"/>
    <p:sldId id="302" r:id="rId20"/>
    <p:sldId id="303" r:id="rId21"/>
    <p:sldId id="319" r:id="rId22"/>
    <p:sldId id="313" r:id="rId23"/>
    <p:sldId id="314" r:id="rId24"/>
    <p:sldId id="304" r:id="rId25"/>
    <p:sldId id="305" r:id="rId26"/>
    <p:sldId id="324" r:id="rId27"/>
    <p:sldId id="325" r:id="rId28"/>
    <p:sldId id="326" r:id="rId29"/>
    <p:sldId id="327" r:id="rId30"/>
    <p:sldId id="308" r:id="rId31"/>
    <p:sldId id="309" r:id="rId32"/>
    <p:sldId id="320" r:id="rId33"/>
    <p:sldId id="321" r:id="rId34"/>
    <p:sldId id="322" r:id="rId35"/>
    <p:sldId id="310" r:id="rId36"/>
    <p:sldId id="323" r:id="rId37"/>
    <p:sldId id="312" r:id="rId38"/>
    <p:sldId id="315" r:id="rId39"/>
    <p:sldId id="316" r:id="rId40"/>
    <p:sldId id="317" r:id="rId41"/>
    <p:sldId id="318" r:id="rId42"/>
    <p:sldId id="28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049" autoAdjust="0"/>
  </p:normalViewPr>
  <p:slideViewPr>
    <p:cSldViewPr>
      <p:cViewPr>
        <p:scale>
          <a:sx n="66" d="100"/>
          <a:sy n="66" d="100"/>
        </p:scale>
        <p:origin x="544" y="-120"/>
      </p:cViewPr>
      <p:guideLst>
        <p:guide orient="horz" pos="2160"/>
        <p:guide pos="3840"/>
      </p:guideLst>
    </p:cSldViewPr>
  </p:slideViewPr>
  <p:notesTextViewPr>
    <p:cViewPr>
      <p:scale>
        <a:sx n="1" d="1"/>
        <a:sy n="1" d="1"/>
      </p:scale>
      <p:origin x="0" y="0"/>
    </p:cViewPr>
  </p:notesTextViewPr>
  <p:notesViewPr>
    <p:cSldViewPr>
      <p:cViewPr varScale="1">
        <p:scale>
          <a:sx n="69" d="100"/>
          <a:sy n="69" d="100"/>
        </p:scale>
        <p:origin x="2568" y="3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EC6044-78DA-4988-A96D-94ECF59468B7}" type="doc">
      <dgm:prSet loTypeId="urn:microsoft.com/office/officeart/2005/8/layout/vList2" loCatId="list" qsTypeId="urn:microsoft.com/office/officeart/2005/8/quickstyle/simple1#23" qsCatId="simple" csTypeId="urn:microsoft.com/office/officeart/2005/8/colors/accent1_2#16" csCatId="accent1"/>
      <dgm:spPr/>
      <dgm:t>
        <a:bodyPr/>
        <a:lstStyle/>
        <a:p>
          <a:endParaRPr lang="en-US"/>
        </a:p>
      </dgm:t>
    </dgm:pt>
    <dgm:pt modelId="{D420D09B-ADE5-4C46-AF49-66C0ED889AF8}">
      <dgm:prSet/>
      <dgm:spPr/>
      <dgm:t>
        <a:bodyPr/>
        <a:lstStyle/>
        <a:p>
          <a:r>
            <a:rPr lang="en-US" dirty="0">
              <a:latin typeface="+mn-lt"/>
            </a:rPr>
            <a:t>Flooding alone has affected more than 10 million people in Sri Lanka over the past 30 years, with average annual disaster losses of approximately $313 million and roughly 750,000 people affected by natural disasters every year between 2011 and 2020 [9].</a:t>
          </a:r>
        </a:p>
      </dgm:t>
    </dgm:pt>
    <dgm:pt modelId="{87C08948-72BF-4FF2-89CE-D6275C7581EC}" type="parTrans" cxnId="{38801CBA-E91A-45F9-BF0D-9DA904FE171F}">
      <dgm:prSet/>
      <dgm:spPr/>
      <dgm:t>
        <a:bodyPr/>
        <a:lstStyle/>
        <a:p>
          <a:endParaRPr lang="en-US"/>
        </a:p>
      </dgm:t>
    </dgm:pt>
    <dgm:pt modelId="{A4CC62C6-CBBD-4CFB-84BA-8DB4696ACEA9}" type="sibTrans" cxnId="{38801CBA-E91A-45F9-BF0D-9DA904FE171F}">
      <dgm:prSet/>
      <dgm:spPr/>
      <dgm:t>
        <a:bodyPr/>
        <a:lstStyle/>
        <a:p>
          <a:endParaRPr lang="en-US"/>
        </a:p>
      </dgm:t>
    </dgm:pt>
    <dgm:pt modelId="{5E6D4C20-934A-49CA-B8D2-7FEF519F02C0}">
      <dgm:prSet/>
      <dgm:spPr/>
      <dgm:t>
        <a:bodyPr/>
        <a:lstStyle/>
        <a:p>
          <a:r>
            <a:rPr lang="en-US" dirty="0">
              <a:latin typeface="+mn-lt"/>
            </a:rPr>
            <a:t>Cyclone </a:t>
          </a:r>
          <a:r>
            <a:rPr lang="en-US" dirty="0" err="1">
              <a:latin typeface="+mn-lt"/>
            </a:rPr>
            <a:t>Ditwah</a:t>
          </a:r>
          <a:r>
            <a:rPr lang="en-US" dirty="0">
              <a:latin typeface="+mn-lt"/>
            </a:rPr>
            <a:t> (November–December 2025) demonstrated the scale of compounded flood-and-landslide risk: it affected all 25 districts, caused 639+ deaths, displaced or affected up to 2.2 million people, and caused an estimated $4.1–7 billion in damage - with the worst casualties concentrated in Kandy, Nuwara Eliya, and Badulla, where flooding and landslides struck the same communities simultaneously [7], [10].</a:t>
          </a:r>
        </a:p>
      </dgm:t>
    </dgm:pt>
    <dgm:pt modelId="{CA33D1AE-DB42-48C6-8FB3-480498D02700}" type="parTrans" cxnId="{9CAC89C4-C664-4C74-A518-34D9A2E39FE4}">
      <dgm:prSet/>
      <dgm:spPr/>
      <dgm:t>
        <a:bodyPr/>
        <a:lstStyle/>
        <a:p>
          <a:endParaRPr lang="en-US"/>
        </a:p>
      </dgm:t>
    </dgm:pt>
    <dgm:pt modelId="{CEDCB6A9-78C8-4316-8AF5-B5E0C189B568}" type="sibTrans" cxnId="{9CAC89C4-C664-4C74-A518-34D9A2E39FE4}">
      <dgm:prSet/>
      <dgm:spPr/>
      <dgm:t>
        <a:bodyPr/>
        <a:lstStyle/>
        <a:p>
          <a:endParaRPr lang="en-US"/>
        </a:p>
      </dgm:t>
    </dgm:pt>
    <dgm:pt modelId="{DE5FE138-1DD4-4233-856D-B8CBE62A601A}">
      <dgm:prSet/>
      <dgm:spPr/>
      <dgm:t>
        <a:bodyPr/>
        <a:lstStyle/>
        <a:p>
          <a:r>
            <a:rPr lang="en-US"/>
            <a:t>Existing early-warning and response mechanisms operate as </a:t>
          </a:r>
          <a:r>
            <a:rPr lang="en-US" b="1"/>
            <a:t>separate, uncoordinated systems</a:t>
          </a:r>
          <a:r>
            <a:rPr lang="en-US"/>
            <a:t>: hazard-specific susceptibility mapping exists for floods and landslides independently, impact and vulnerability assessment is done ad hoc, and resource dispatch relies on manual coordination — with no integrated pipeline connecting predictive hazard output to prioritized, evidence-based emergency action.</a:t>
          </a:r>
        </a:p>
      </dgm:t>
    </dgm:pt>
    <dgm:pt modelId="{D58FF667-6D40-490A-A4D6-EECA1FE63930}" type="parTrans" cxnId="{0153B573-B874-4195-818F-05849B70B1E8}">
      <dgm:prSet/>
      <dgm:spPr/>
      <dgm:t>
        <a:bodyPr/>
        <a:lstStyle/>
        <a:p>
          <a:endParaRPr lang="en-US"/>
        </a:p>
      </dgm:t>
    </dgm:pt>
    <dgm:pt modelId="{062A3660-E038-4AFB-A5BC-1B6DCCD204AF}" type="sibTrans" cxnId="{0153B573-B874-4195-818F-05849B70B1E8}">
      <dgm:prSet/>
      <dgm:spPr/>
      <dgm:t>
        <a:bodyPr/>
        <a:lstStyle/>
        <a:p>
          <a:endParaRPr lang="en-US"/>
        </a:p>
      </dgm:t>
    </dgm:pt>
    <dgm:pt modelId="{B597DED4-5931-4981-A9EF-C3A4193EDAD3}" type="pres">
      <dgm:prSet presAssocID="{9FEC6044-78DA-4988-A96D-94ECF59468B7}" presName="linear" presStyleCnt="0">
        <dgm:presLayoutVars>
          <dgm:animLvl val="lvl"/>
          <dgm:resizeHandles val="exact"/>
        </dgm:presLayoutVars>
      </dgm:prSet>
      <dgm:spPr/>
    </dgm:pt>
    <dgm:pt modelId="{A1DABD98-E262-4BF2-B2A7-B8FF453DBD0C}" type="pres">
      <dgm:prSet presAssocID="{D420D09B-ADE5-4C46-AF49-66C0ED889AF8}" presName="parentText" presStyleLbl="node1" presStyleIdx="0" presStyleCnt="3" custLinFactNeighborY="6131">
        <dgm:presLayoutVars>
          <dgm:chMax val="0"/>
          <dgm:bulletEnabled val="1"/>
        </dgm:presLayoutVars>
      </dgm:prSet>
      <dgm:spPr/>
    </dgm:pt>
    <dgm:pt modelId="{80A8BDC1-F481-4312-B679-45A8DB8ECE98}" type="pres">
      <dgm:prSet presAssocID="{A4CC62C6-CBBD-4CFB-84BA-8DB4696ACEA9}" presName="spacer" presStyleCnt="0"/>
      <dgm:spPr/>
    </dgm:pt>
    <dgm:pt modelId="{98E0A3B5-5D8F-4DEB-BDA1-2D7075BC653A}" type="pres">
      <dgm:prSet presAssocID="{5E6D4C20-934A-49CA-B8D2-7FEF519F02C0}" presName="parentText" presStyleLbl="node1" presStyleIdx="1" presStyleCnt="3">
        <dgm:presLayoutVars>
          <dgm:chMax val="0"/>
          <dgm:bulletEnabled val="1"/>
        </dgm:presLayoutVars>
      </dgm:prSet>
      <dgm:spPr/>
    </dgm:pt>
    <dgm:pt modelId="{8DEC64B7-EC0C-4F3F-ADEC-17E65BB9ED77}" type="pres">
      <dgm:prSet presAssocID="{CEDCB6A9-78C8-4316-8AF5-B5E0C189B568}" presName="spacer" presStyleCnt="0"/>
      <dgm:spPr/>
    </dgm:pt>
    <dgm:pt modelId="{966F9AF3-4B95-4452-B2C5-7788F9A7BD7D}" type="pres">
      <dgm:prSet presAssocID="{DE5FE138-1DD4-4233-856D-B8CBE62A601A}" presName="parentText" presStyleLbl="node1" presStyleIdx="2" presStyleCnt="3">
        <dgm:presLayoutVars>
          <dgm:chMax val="0"/>
          <dgm:bulletEnabled val="1"/>
        </dgm:presLayoutVars>
      </dgm:prSet>
      <dgm:spPr/>
    </dgm:pt>
  </dgm:ptLst>
  <dgm:cxnLst>
    <dgm:cxn modelId="{F64C1F03-0067-4FE6-9FE0-1267840E178A}" type="presOf" srcId="{5E6D4C20-934A-49CA-B8D2-7FEF519F02C0}" destId="{98E0A3B5-5D8F-4DEB-BDA1-2D7075BC653A}" srcOrd="0" destOrd="0" presId="urn:microsoft.com/office/officeart/2005/8/layout/vList2"/>
    <dgm:cxn modelId="{10D0B91C-410E-4BF7-AA7A-D48D4A8E1443}" type="presOf" srcId="{DE5FE138-1DD4-4233-856D-B8CBE62A601A}" destId="{966F9AF3-4B95-4452-B2C5-7788F9A7BD7D}" srcOrd="0" destOrd="0" presId="urn:microsoft.com/office/officeart/2005/8/layout/vList2"/>
    <dgm:cxn modelId="{E0091F37-8786-4CFF-B55F-6E25DE3EC821}" type="presOf" srcId="{9FEC6044-78DA-4988-A96D-94ECF59468B7}" destId="{B597DED4-5931-4981-A9EF-C3A4193EDAD3}" srcOrd="0" destOrd="0" presId="urn:microsoft.com/office/officeart/2005/8/layout/vList2"/>
    <dgm:cxn modelId="{0153B573-B874-4195-818F-05849B70B1E8}" srcId="{9FEC6044-78DA-4988-A96D-94ECF59468B7}" destId="{DE5FE138-1DD4-4233-856D-B8CBE62A601A}" srcOrd="2" destOrd="0" parTransId="{D58FF667-6D40-490A-A4D6-EECA1FE63930}" sibTransId="{062A3660-E038-4AFB-A5BC-1B6DCCD204AF}"/>
    <dgm:cxn modelId="{38801CBA-E91A-45F9-BF0D-9DA904FE171F}" srcId="{9FEC6044-78DA-4988-A96D-94ECF59468B7}" destId="{D420D09B-ADE5-4C46-AF49-66C0ED889AF8}" srcOrd="0" destOrd="0" parTransId="{87C08948-72BF-4FF2-89CE-D6275C7581EC}" sibTransId="{A4CC62C6-CBBD-4CFB-84BA-8DB4696ACEA9}"/>
    <dgm:cxn modelId="{E554ABC1-1C88-4AF3-95F8-F598AA95770A}" type="presOf" srcId="{D420D09B-ADE5-4C46-AF49-66C0ED889AF8}" destId="{A1DABD98-E262-4BF2-B2A7-B8FF453DBD0C}" srcOrd="0" destOrd="0" presId="urn:microsoft.com/office/officeart/2005/8/layout/vList2"/>
    <dgm:cxn modelId="{9CAC89C4-C664-4C74-A518-34D9A2E39FE4}" srcId="{9FEC6044-78DA-4988-A96D-94ECF59468B7}" destId="{5E6D4C20-934A-49CA-B8D2-7FEF519F02C0}" srcOrd="1" destOrd="0" parTransId="{CA33D1AE-DB42-48C6-8FB3-480498D02700}" sibTransId="{CEDCB6A9-78C8-4316-8AF5-B5E0C189B568}"/>
    <dgm:cxn modelId="{94178BE0-C5A3-4891-BC68-BB88AA84EF6C}" type="presParOf" srcId="{B597DED4-5931-4981-A9EF-C3A4193EDAD3}" destId="{A1DABD98-E262-4BF2-B2A7-B8FF453DBD0C}" srcOrd="0" destOrd="0" presId="urn:microsoft.com/office/officeart/2005/8/layout/vList2"/>
    <dgm:cxn modelId="{FE523EFD-BBA1-4286-B596-641E638796B0}" type="presParOf" srcId="{B597DED4-5931-4981-A9EF-C3A4193EDAD3}" destId="{80A8BDC1-F481-4312-B679-45A8DB8ECE98}" srcOrd="1" destOrd="0" presId="urn:microsoft.com/office/officeart/2005/8/layout/vList2"/>
    <dgm:cxn modelId="{6CFA22E7-7194-4A25-BCAC-B0E6B1537873}" type="presParOf" srcId="{B597DED4-5931-4981-A9EF-C3A4193EDAD3}" destId="{98E0A3B5-5D8F-4DEB-BDA1-2D7075BC653A}" srcOrd="2" destOrd="0" presId="urn:microsoft.com/office/officeart/2005/8/layout/vList2"/>
    <dgm:cxn modelId="{67BAFD23-1557-4BF2-8541-8CD119F74571}" type="presParOf" srcId="{B597DED4-5931-4981-A9EF-C3A4193EDAD3}" destId="{8DEC64B7-EC0C-4F3F-ADEC-17E65BB9ED77}" srcOrd="3" destOrd="0" presId="urn:microsoft.com/office/officeart/2005/8/layout/vList2"/>
    <dgm:cxn modelId="{A81C6115-3D8C-4CDF-BBEF-574D8C3DE243}" type="presParOf" srcId="{B597DED4-5931-4981-A9EF-C3A4193EDAD3}" destId="{966F9AF3-4B95-4452-B2C5-7788F9A7BD7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B359AA-DCEF-487D-AEAA-9E78FF9D263E}" type="doc">
      <dgm:prSet loTypeId="urn:microsoft.com/office/officeart/2005/8/layout/hierarchy1" loCatId="hierarchy" qsTypeId="urn:microsoft.com/office/officeart/2005/8/quickstyle/simple2#3" qsCatId="simple" csTypeId="urn:microsoft.com/office/officeart/2005/8/colors/accent1_2#2" csCatId="accent1" phldr="1"/>
      <dgm:spPr/>
      <dgm:t>
        <a:bodyPr/>
        <a:lstStyle/>
        <a:p>
          <a:endParaRPr lang="en-US"/>
        </a:p>
      </dgm:t>
    </dgm:pt>
    <dgm:pt modelId="{4B690EB5-204E-4C20-92D8-BBC862DAE769}">
      <dgm:prSet/>
      <dgm:spPr/>
      <dgm:t>
        <a:bodyPr/>
        <a:lstStyle/>
        <a:p>
          <a:r>
            <a:rPr lang="en-US" b="1"/>
            <a:t>Target Market &amp; Customer Persona</a:t>
          </a:r>
          <a:endParaRPr lang="en-US"/>
        </a:p>
      </dgm:t>
    </dgm:pt>
    <dgm:pt modelId="{6D952D35-D490-4713-A432-7BD45D21F068}" type="parTrans" cxnId="{9744523B-49F8-49C2-AD2F-DF845A7A92BA}">
      <dgm:prSet/>
      <dgm:spPr/>
      <dgm:t>
        <a:bodyPr/>
        <a:lstStyle/>
        <a:p>
          <a:endParaRPr lang="en-US"/>
        </a:p>
      </dgm:t>
    </dgm:pt>
    <dgm:pt modelId="{85152615-7D78-4E82-9724-56D3B2080AFE}" type="sibTrans" cxnId="{9744523B-49F8-49C2-AD2F-DF845A7A92BA}">
      <dgm:prSet/>
      <dgm:spPr/>
      <dgm:t>
        <a:bodyPr/>
        <a:lstStyle/>
        <a:p>
          <a:endParaRPr lang="en-US"/>
        </a:p>
      </dgm:t>
    </dgm:pt>
    <dgm:pt modelId="{5F455266-85C4-4284-A6CF-651ADAFE3B02}">
      <dgm:prSet/>
      <dgm:spPr/>
      <dgm:t>
        <a:bodyPr/>
        <a:lstStyle/>
        <a:p>
          <a:r>
            <a:rPr lang="en-US" b="1" dirty="0"/>
            <a:t>Primary market (paying customer):</a:t>
          </a:r>
          <a:r>
            <a:rPr lang="en-US" dirty="0"/>
            <a:t> Government disaster-management bodies  DMC, NBRO, District/Divisional Secretariats in landslide-prone districts (Nuwara Eliya, Kegalle, Badulla, Ratnapura)</a:t>
          </a:r>
        </a:p>
      </dgm:t>
    </dgm:pt>
    <dgm:pt modelId="{27C32CBC-545F-4679-80B6-2477B829682E}" type="parTrans" cxnId="{49A2CD78-7D63-4547-98D0-29D0FE604421}">
      <dgm:prSet/>
      <dgm:spPr/>
      <dgm:t>
        <a:bodyPr/>
        <a:lstStyle/>
        <a:p>
          <a:endParaRPr lang="en-US"/>
        </a:p>
      </dgm:t>
    </dgm:pt>
    <dgm:pt modelId="{DDB2F01D-F1F1-4930-AB81-1B3AB2D45701}" type="sibTrans" cxnId="{49A2CD78-7D63-4547-98D0-29D0FE604421}">
      <dgm:prSet/>
      <dgm:spPr/>
      <dgm:t>
        <a:bodyPr/>
        <a:lstStyle/>
        <a:p>
          <a:endParaRPr lang="en-US"/>
        </a:p>
      </dgm:t>
    </dgm:pt>
    <dgm:pt modelId="{F14950FA-6646-4685-9D4B-4C11F56C01AA}">
      <dgm:prSet/>
      <dgm:spPr/>
      <dgm:t>
        <a:bodyPr/>
        <a:lstStyle/>
        <a:p>
          <a:r>
            <a:rPr lang="en-US" b="1"/>
            <a:t>Persona  "The District DMC Officer":</a:t>
          </a:r>
          <a:r>
            <a:rPr lang="en-US"/>
            <a:t> Mid-level official responsible for issuing early warnings and coordinating evacuation. Currently relies on manual rainfall bulletins and static NBRO maps; needs real-time, village-level risk visibility and defensible, explainable justification for evacuation orders</a:t>
          </a:r>
        </a:p>
      </dgm:t>
    </dgm:pt>
    <dgm:pt modelId="{EBB7660E-8279-4499-BF3C-85435AAA0F92}" type="parTrans" cxnId="{977E4B8F-DA96-43E2-90C2-538B9E5A3177}">
      <dgm:prSet/>
      <dgm:spPr/>
      <dgm:t>
        <a:bodyPr/>
        <a:lstStyle/>
        <a:p>
          <a:endParaRPr lang="en-US"/>
        </a:p>
      </dgm:t>
    </dgm:pt>
    <dgm:pt modelId="{977C61D9-8360-482F-8072-DFC8B2F0058D}" type="sibTrans" cxnId="{977E4B8F-DA96-43E2-90C2-538B9E5A3177}">
      <dgm:prSet/>
      <dgm:spPr/>
      <dgm:t>
        <a:bodyPr/>
        <a:lstStyle/>
        <a:p>
          <a:endParaRPr lang="en-US"/>
        </a:p>
      </dgm:t>
    </dgm:pt>
    <dgm:pt modelId="{C03A7C38-F334-4D31-B4FF-A6B188FC147B}">
      <dgm:prSet/>
      <dgm:spPr/>
      <dgm:t>
        <a:bodyPr/>
        <a:lstStyle/>
        <a:p>
          <a:r>
            <a:rPr lang="en-US" b="1"/>
            <a:t>Secondary market (non-paying, indirect beneficiary):</a:t>
          </a:r>
          <a:r>
            <a:rPr lang="en-US"/>
            <a:t> Citizens in high-risk rural villages (Ambagamuwa, Kotmale, Walapane), especially elderly and non-technical residents</a:t>
          </a:r>
        </a:p>
      </dgm:t>
    </dgm:pt>
    <dgm:pt modelId="{B0310465-6019-43C7-A7E2-9670ABF0A1B0}" type="parTrans" cxnId="{8C521759-500E-4E1E-BC96-B419689B8CF6}">
      <dgm:prSet/>
      <dgm:spPr/>
      <dgm:t>
        <a:bodyPr/>
        <a:lstStyle/>
        <a:p>
          <a:endParaRPr lang="en-US"/>
        </a:p>
      </dgm:t>
    </dgm:pt>
    <dgm:pt modelId="{0F55A432-BE54-4352-B016-1F3C30A955E2}" type="sibTrans" cxnId="{8C521759-500E-4E1E-BC96-B419689B8CF6}">
      <dgm:prSet/>
      <dgm:spPr/>
      <dgm:t>
        <a:bodyPr/>
        <a:lstStyle/>
        <a:p>
          <a:endParaRPr lang="en-US"/>
        </a:p>
      </dgm:t>
    </dgm:pt>
    <dgm:pt modelId="{6A06ECAB-1950-4551-B57A-EE4C38808354}">
      <dgm:prSet/>
      <dgm:spPr/>
      <dgm:t>
        <a:bodyPr/>
        <a:lstStyle/>
        <a:p>
          <a:r>
            <a:rPr lang="en-US" b="1"/>
            <a:t>Tertiary market (future/adjacent):</a:t>
          </a:r>
          <a:r>
            <a:rPr lang="en-US"/>
            <a:t> NGOs and international disaster-response agencies (UNDRR, Red Cross) licensing aggregated hazard analytics for planning</a:t>
          </a:r>
        </a:p>
      </dgm:t>
    </dgm:pt>
    <dgm:pt modelId="{BFCA4635-6F4A-46CD-9B02-B9D175567064}" type="parTrans" cxnId="{6558C8FE-6B52-43AC-A7A9-3D74756BA123}">
      <dgm:prSet/>
      <dgm:spPr/>
      <dgm:t>
        <a:bodyPr/>
        <a:lstStyle/>
        <a:p>
          <a:endParaRPr lang="en-US"/>
        </a:p>
      </dgm:t>
    </dgm:pt>
    <dgm:pt modelId="{20F79DDA-AC1F-4711-B3D8-7263CAA0DAB5}" type="sibTrans" cxnId="{6558C8FE-6B52-43AC-A7A9-3D74756BA123}">
      <dgm:prSet/>
      <dgm:spPr/>
      <dgm:t>
        <a:bodyPr/>
        <a:lstStyle/>
        <a:p>
          <a:endParaRPr lang="en-US"/>
        </a:p>
      </dgm:t>
    </dgm:pt>
    <dgm:pt modelId="{5522BB23-ADE7-42E4-89DB-58CED2524758}" type="pres">
      <dgm:prSet presAssocID="{8AB359AA-DCEF-487D-AEAA-9E78FF9D263E}" presName="hierChild1" presStyleCnt="0">
        <dgm:presLayoutVars>
          <dgm:chPref val="1"/>
          <dgm:dir/>
          <dgm:animOne val="branch"/>
          <dgm:animLvl val="lvl"/>
          <dgm:resizeHandles/>
        </dgm:presLayoutVars>
      </dgm:prSet>
      <dgm:spPr/>
    </dgm:pt>
    <dgm:pt modelId="{B62A4F8B-FF5C-4E4C-A7C2-D3F6C4888B59}" type="pres">
      <dgm:prSet presAssocID="{4B690EB5-204E-4C20-92D8-BBC862DAE769}" presName="hierRoot1" presStyleCnt="0"/>
      <dgm:spPr/>
    </dgm:pt>
    <dgm:pt modelId="{DF3EC213-5A31-487D-B589-4CB01B334446}" type="pres">
      <dgm:prSet presAssocID="{4B690EB5-204E-4C20-92D8-BBC862DAE769}" presName="composite" presStyleCnt="0"/>
      <dgm:spPr/>
    </dgm:pt>
    <dgm:pt modelId="{AB53071E-37EC-49FF-90B6-D8951B234479}" type="pres">
      <dgm:prSet presAssocID="{4B690EB5-204E-4C20-92D8-BBC862DAE769}" presName="background" presStyleLbl="node0" presStyleIdx="0" presStyleCnt="1"/>
      <dgm:spPr/>
    </dgm:pt>
    <dgm:pt modelId="{7FEE4527-D368-4D29-B807-27E81F010E11}" type="pres">
      <dgm:prSet presAssocID="{4B690EB5-204E-4C20-92D8-BBC862DAE769}" presName="text" presStyleLbl="fgAcc0" presStyleIdx="0" presStyleCnt="1">
        <dgm:presLayoutVars>
          <dgm:chPref val="3"/>
        </dgm:presLayoutVars>
      </dgm:prSet>
      <dgm:spPr/>
    </dgm:pt>
    <dgm:pt modelId="{6872C471-A56C-4040-847F-7E1B148EC241}" type="pres">
      <dgm:prSet presAssocID="{4B690EB5-204E-4C20-92D8-BBC862DAE769}" presName="hierChild2" presStyleCnt="0"/>
      <dgm:spPr/>
    </dgm:pt>
    <dgm:pt modelId="{E44B163F-C5EF-4B8C-A60B-AC920F40C508}" type="pres">
      <dgm:prSet presAssocID="{27C32CBC-545F-4679-80B6-2477B829682E}" presName="Name10" presStyleLbl="parChTrans1D2" presStyleIdx="0" presStyleCnt="4"/>
      <dgm:spPr/>
    </dgm:pt>
    <dgm:pt modelId="{D5C3D8B0-7B23-4AB4-932E-914093AB7812}" type="pres">
      <dgm:prSet presAssocID="{5F455266-85C4-4284-A6CF-651ADAFE3B02}" presName="hierRoot2" presStyleCnt="0"/>
      <dgm:spPr/>
    </dgm:pt>
    <dgm:pt modelId="{77111478-C1E4-4DC1-932F-04F24876BBDF}" type="pres">
      <dgm:prSet presAssocID="{5F455266-85C4-4284-A6CF-651ADAFE3B02}" presName="composite2" presStyleCnt="0"/>
      <dgm:spPr/>
    </dgm:pt>
    <dgm:pt modelId="{50733EFC-BBA1-43E5-BB64-E3390315B0C9}" type="pres">
      <dgm:prSet presAssocID="{5F455266-85C4-4284-A6CF-651ADAFE3B02}" presName="background2" presStyleLbl="node2" presStyleIdx="0" presStyleCnt="4"/>
      <dgm:spPr/>
    </dgm:pt>
    <dgm:pt modelId="{EC1AAF5E-46CA-422E-913D-9B312EAB69C2}" type="pres">
      <dgm:prSet presAssocID="{5F455266-85C4-4284-A6CF-651ADAFE3B02}" presName="text2" presStyleLbl="fgAcc2" presStyleIdx="0" presStyleCnt="4">
        <dgm:presLayoutVars>
          <dgm:chPref val="3"/>
        </dgm:presLayoutVars>
      </dgm:prSet>
      <dgm:spPr/>
    </dgm:pt>
    <dgm:pt modelId="{4541BA78-4BCB-40BB-BAF1-F2C66FB70B90}" type="pres">
      <dgm:prSet presAssocID="{5F455266-85C4-4284-A6CF-651ADAFE3B02}" presName="hierChild3" presStyleCnt="0"/>
      <dgm:spPr/>
    </dgm:pt>
    <dgm:pt modelId="{D75DD2ED-84A0-4137-B6C1-28828EB0929A}" type="pres">
      <dgm:prSet presAssocID="{EBB7660E-8279-4499-BF3C-85435AAA0F92}" presName="Name10" presStyleLbl="parChTrans1D2" presStyleIdx="1" presStyleCnt="4"/>
      <dgm:spPr/>
    </dgm:pt>
    <dgm:pt modelId="{667A2FBD-9DBC-4828-A858-FA1CD9B283DD}" type="pres">
      <dgm:prSet presAssocID="{F14950FA-6646-4685-9D4B-4C11F56C01AA}" presName="hierRoot2" presStyleCnt="0"/>
      <dgm:spPr/>
    </dgm:pt>
    <dgm:pt modelId="{6DC1099E-424F-48D3-A39C-635897A297E9}" type="pres">
      <dgm:prSet presAssocID="{F14950FA-6646-4685-9D4B-4C11F56C01AA}" presName="composite2" presStyleCnt="0"/>
      <dgm:spPr/>
    </dgm:pt>
    <dgm:pt modelId="{EC785BBE-B6D5-411F-9FAD-34370D57569D}" type="pres">
      <dgm:prSet presAssocID="{F14950FA-6646-4685-9D4B-4C11F56C01AA}" presName="background2" presStyleLbl="node2" presStyleIdx="1" presStyleCnt="4"/>
      <dgm:spPr/>
    </dgm:pt>
    <dgm:pt modelId="{C02CE8E2-7ECD-439D-9941-9D0E2DA67988}" type="pres">
      <dgm:prSet presAssocID="{F14950FA-6646-4685-9D4B-4C11F56C01AA}" presName="text2" presStyleLbl="fgAcc2" presStyleIdx="1" presStyleCnt="4">
        <dgm:presLayoutVars>
          <dgm:chPref val="3"/>
        </dgm:presLayoutVars>
      </dgm:prSet>
      <dgm:spPr/>
    </dgm:pt>
    <dgm:pt modelId="{94B4D9FD-D423-46E7-A5F4-F3C248F85B53}" type="pres">
      <dgm:prSet presAssocID="{F14950FA-6646-4685-9D4B-4C11F56C01AA}" presName="hierChild3" presStyleCnt="0"/>
      <dgm:spPr/>
    </dgm:pt>
    <dgm:pt modelId="{10C46ADF-1EF8-4E14-8940-D8A9A7D95210}" type="pres">
      <dgm:prSet presAssocID="{B0310465-6019-43C7-A7E2-9670ABF0A1B0}" presName="Name10" presStyleLbl="parChTrans1D2" presStyleIdx="2" presStyleCnt="4"/>
      <dgm:spPr/>
    </dgm:pt>
    <dgm:pt modelId="{625CBA36-D6FF-4C24-BD4F-1F3A2F945CDA}" type="pres">
      <dgm:prSet presAssocID="{C03A7C38-F334-4D31-B4FF-A6B188FC147B}" presName="hierRoot2" presStyleCnt="0"/>
      <dgm:spPr/>
    </dgm:pt>
    <dgm:pt modelId="{27C61523-0F2B-49A2-AB7A-A21D771F4062}" type="pres">
      <dgm:prSet presAssocID="{C03A7C38-F334-4D31-B4FF-A6B188FC147B}" presName="composite2" presStyleCnt="0"/>
      <dgm:spPr/>
    </dgm:pt>
    <dgm:pt modelId="{53D114D4-F846-4CAE-863C-070F438EE116}" type="pres">
      <dgm:prSet presAssocID="{C03A7C38-F334-4D31-B4FF-A6B188FC147B}" presName="background2" presStyleLbl="node2" presStyleIdx="2" presStyleCnt="4"/>
      <dgm:spPr/>
    </dgm:pt>
    <dgm:pt modelId="{5BC8AE7F-4C12-4E2A-9DAA-71182628100E}" type="pres">
      <dgm:prSet presAssocID="{C03A7C38-F334-4D31-B4FF-A6B188FC147B}" presName="text2" presStyleLbl="fgAcc2" presStyleIdx="2" presStyleCnt="4">
        <dgm:presLayoutVars>
          <dgm:chPref val="3"/>
        </dgm:presLayoutVars>
      </dgm:prSet>
      <dgm:spPr/>
    </dgm:pt>
    <dgm:pt modelId="{421CB726-A10B-4FA3-AB2A-B61AE64A604A}" type="pres">
      <dgm:prSet presAssocID="{C03A7C38-F334-4D31-B4FF-A6B188FC147B}" presName="hierChild3" presStyleCnt="0"/>
      <dgm:spPr/>
    </dgm:pt>
    <dgm:pt modelId="{C95DA04E-8F7E-4FE0-B296-562C7B82835F}" type="pres">
      <dgm:prSet presAssocID="{BFCA4635-6F4A-46CD-9B02-B9D175567064}" presName="Name10" presStyleLbl="parChTrans1D2" presStyleIdx="3" presStyleCnt="4"/>
      <dgm:spPr/>
    </dgm:pt>
    <dgm:pt modelId="{D715403D-4F9D-43F4-861E-83E93A64FB1E}" type="pres">
      <dgm:prSet presAssocID="{6A06ECAB-1950-4551-B57A-EE4C38808354}" presName="hierRoot2" presStyleCnt="0"/>
      <dgm:spPr/>
    </dgm:pt>
    <dgm:pt modelId="{1032AFC0-298B-407A-A7F5-EE4262666275}" type="pres">
      <dgm:prSet presAssocID="{6A06ECAB-1950-4551-B57A-EE4C38808354}" presName="composite2" presStyleCnt="0"/>
      <dgm:spPr/>
    </dgm:pt>
    <dgm:pt modelId="{D91CA9C3-6B35-4D5F-BE93-9E78EC58FB2C}" type="pres">
      <dgm:prSet presAssocID="{6A06ECAB-1950-4551-B57A-EE4C38808354}" presName="background2" presStyleLbl="node2" presStyleIdx="3" presStyleCnt="4"/>
      <dgm:spPr/>
    </dgm:pt>
    <dgm:pt modelId="{59C1C2A6-9EA6-4FC0-A34E-05C6E0AAC132}" type="pres">
      <dgm:prSet presAssocID="{6A06ECAB-1950-4551-B57A-EE4C38808354}" presName="text2" presStyleLbl="fgAcc2" presStyleIdx="3" presStyleCnt="4">
        <dgm:presLayoutVars>
          <dgm:chPref val="3"/>
        </dgm:presLayoutVars>
      </dgm:prSet>
      <dgm:spPr/>
    </dgm:pt>
    <dgm:pt modelId="{3BE6DF01-6862-440E-80CE-955BCC3C3559}" type="pres">
      <dgm:prSet presAssocID="{6A06ECAB-1950-4551-B57A-EE4C38808354}" presName="hierChild3" presStyleCnt="0"/>
      <dgm:spPr/>
    </dgm:pt>
  </dgm:ptLst>
  <dgm:cxnLst>
    <dgm:cxn modelId="{7AB1F111-7BAC-4938-B445-7800B420930A}" type="presOf" srcId="{8AB359AA-DCEF-487D-AEAA-9E78FF9D263E}" destId="{5522BB23-ADE7-42E4-89DB-58CED2524758}" srcOrd="0" destOrd="0" presId="urn:microsoft.com/office/officeart/2005/8/layout/hierarchy1"/>
    <dgm:cxn modelId="{DD2CED25-9E38-434B-98D9-30F0C1BB7CE0}" type="presOf" srcId="{BFCA4635-6F4A-46CD-9B02-B9D175567064}" destId="{C95DA04E-8F7E-4FE0-B296-562C7B82835F}" srcOrd="0" destOrd="0" presId="urn:microsoft.com/office/officeart/2005/8/layout/hierarchy1"/>
    <dgm:cxn modelId="{A3C9B835-802A-4880-83A2-1D81386346C9}" type="presOf" srcId="{C03A7C38-F334-4D31-B4FF-A6B188FC147B}" destId="{5BC8AE7F-4C12-4E2A-9DAA-71182628100E}" srcOrd="0" destOrd="0" presId="urn:microsoft.com/office/officeart/2005/8/layout/hierarchy1"/>
    <dgm:cxn modelId="{9744523B-49F8-49C2-AD2F-DF845A7A92BA}" srcId="{8AB359AA-DCEF-487D-AEAA-9E78FF9D263E}" destId="{4B690EB5-204E-4C20-92D8-BBC862DAE769}" srcOrd="0" destOrd="0" parTransId="{6D952D35-D490-4713-A432-7BD45D21F068}" sibTransId="{85152615-7D78-4E82-9724-56D3B2080AFE}"/>
    <dgm:cxn modelId="{6ED8524E-3232-440D-BA7B-516204116432}" type="presOf" srcId="{F14950FA-6646-4685-9D4B-4C11F56C01AA}" destId="{C02CE8E2-7ECD-439D-9941-9D0E2DA67988}" srcOrd="0" destOrd="0" presId="urn:microsoft.com/office/officeart/2005/8/layout/hierarchy1"/>
    <dgm:cxn modelId="{F8523E70-84F7-431F-B81A-5FE1F7DC97A5}" type="presOf" srcId="{5F455266-85C4-4284-A6CF-651ADAFE3B02}" destId="{EC1AAF5E-46CA-422E-913D-9B312EAB69C2}" srcOrd="0" destOrd="0" presId="urn:microsoft.com/office/officeart/2005/8/layout/hierarchy1"/>
    <dgm:cxn modelId="{48FD9E72-7FB4-451E-B211-BE65741A37F4}" type="presOf" srcId="{6A06ECAB-1950-4551-B57A-EE4C38808354}" destId="{59C1C2A6-9EA6-4FC0-A34E-05C6E0AAC132}" srcOrd="0" destOrd="0" presId="urn:microsoft.com/office/officeart/2005/8/layout/hierarchy1"/>
    <dgm:cxn modelId="{49A2CD78-7D63-4547-98D0-29D0FE604421}" srcId="{4B690EB5-204E-4C20-92D8-BBC862DAE769}" destId="{5F455266-85C4-4284-A6CF-651ADAFE3B02}" srcOrd="0" destOrd="0" parTransId="{27C32CBC-545F-4679-80B6-2477B829682E}" sibTransId="{DDB2F01D-F1F1-4930-AB81-1B3AB2D45701}"/>
    <dgm:cxn modelId="{8C521759-500E-4E1E-BC96-B419689B8CF6}" srcId="{4B690EB5-204E-4C20-92D8-BBC862DAE769}" destId="{C03A7C38-F334-4D31-B4FF-A6B188FC147B}" srcOrd="2" destOrd="0" parTransId="{B0310465-6019-43C7-A7E2-9670ABF0A1B0}" sibTransId="{0F55A432-BE54-4352-B016-1F3C30A955E2}"/>
    <dgm:cxn modelId="{977E4B8F-DA96-43E2-90C2-538B9E5A3177}" srcId="{4B690EB5-204E-4C20-92D8-BBC862DAE769}" destId="{F14950FA-6646-4685-9D4B-4C11F56C01AA}" srcOrd="1" destOrd="0" parTransId="{EBB7660E-8279-4499-BF3C-85435AAA0F92}" sibTransId="{977C61D9-8360-482F-8072-DFC8B2F0058D}"/>
    <dgm:cxn modelId="{F5BA4D92-571D-4FFB-826F-9BFDCA9765C7}" type="presOf" srcId="{B0310465-6019-43C7-A7E2-9670ABF0A1B0}" destId="{10C46ADF-1EF8-4E14-8940-D8A9A7D95210}" srcOrd="0" destOrd="0" presId="urn:microsoft.com/office/officeart/2005/8/layout/hierarchy1"/>
    <dgm:cxn modelId="{B41B5792-BD51-43E9-9228-BD266B10D9A8}" type="presOf" srcId="{EBB7660E-8279-4499-BF3C-85435AAA0F92}" destId="{D75DD2ED-84A0-4137-B6C1-28828EB0929A}" srcOrd="0" destOrd="0" presId="urn:microsoft.com/office/officeart/2005/8/layout/hierarchy1"/>
    <dgm:cxn modelId="{10DC779C-5FC2-41B4-8505-B25FE9D3A0D0}" type="presOf" srcId="{27C32CBC-545F-4679-80B6-2477B829682E}" destId="{E44B163F-C5EF-4B8C-A60B-AC920F40C508}" srcOrd="0" destOrd="0" presId="urn:microsoft.com/office/officeart/2005/8/layout/hierarchy1"/>
    <dgm:cxn modelId="{BFD96FDD-578F-48B2-BEB9-105276C505A3}" type="presOf" srcId="{4B690EB5-204E-4C20-92D8-BBC862DAE769}" destId="{7FEE4527-D368-4D29-B807-27E81F010E11}" srcOrd="0" destOrd="0" presId="urn:microsoft.com/office/officeart/2005/8/layout/hierarchy1"/>
    <dgm:cxn modelId="{6558C8FE-6B52-43AC-A7A9-3D74756BA123}" srcId="{4B690EB5-204E-4C20-92D8-BBC862DAE769}" destId="{6A06ECAB-1950-4551-B57A-EE4C38808354}" srcOrd="3" destOrd="0" parTransId="{BFCA4635-6F4A-46CD-9B02-B9D175567064}" sibTransId="{20F79DDA-AC1F-4711-B3D8-7263CAA0DAB5}"/>
    <dgm:cxn modelId="{8612FF9B-3A18-4618-B08A-1A6177E4C4D8}" type="presParOf" srcId="{5522BB23-ADE7-42E4-89DB-58CED2524758}" destId="{B62A4F8B-FF5C-4E4C-A7C2-D3F6C4888B59}" srcOrd="0" destOrd="0" presId="urn:microsoft.com/office/officeart/2005/8/layout/hierarchy1"/>
    <dgm:cxn modelId="{46BCB9FE-7295-4568-A251-FDA7AF495487}" type="presParOf" srcId="{B62A4F8B-FF5C-4E4C-A7C2-D3F6C4888B59}" destId="{DF3EC213-5A31-487D-B589-4CB01B334446}" srcOrd="0" destOrd="0" presId="urn:microsoft.com/office/officeart/2005/8/layout/hierarchy1"/>
    <dgm:cxn modelId="{177821CE-BAFB-4DA0-A74F-3E6521090D26}" type="presParOf" srcId="{DF3EC213-5A31-487D-B589-4CB01B334446}" destId="{AB53071E-37EC-49FF-90B6-D8951B234479}" srcOrd="0" destOrd="0" presId="urn:microsoft.com/office/officeart/2005/8/layout/hierarchy1"/>
    <dgm:cxn modelId="{252EE7CA-C532-4705-BB2A-CDF59462FF60}" type="presParOf" srcId="{DF3EC213-5A31-487D-B589-4CB01B334446}" destId="{7FEE4527-D368-4D29-B807-27E81F010E11}" srcOrd="1" destOrd="0" presId="urn:microsoft.com/office/officeart/2005/8/layout/hierarchy1"/>
    <dgm:cxn modelId="{6F881282-9506-46E2-A796-1DCDA8B08541}" type="presParOf" srcId="{B62A4F8B-FF5C-4E4C-A7C2-D3F6C4888B59}" destId="{6872C471-A56C-4040-847F-7E1B148EC241}" srcOrd="1" destOrd="0" presId="urn:microsoft.com/office/officeart/2005/8/layout/hierarchy1"/>
    <dgm:cxn modelId="{94039E07-B27C-4B03-95D7-93A674AC5E90}" type="presParOf" srcId="{6872C471-A56C-4040-847F-7E1B148EC241}" destId="{E44B163F-C5EF-4B8C-A60B-AC920F40C508}" srcOrd="0" destOrd="0" presId="urn:microsoft.com/office/officeart/2005/8/layout/hierarchy1"/>
    <dgm:cxn modelId="{E69E0550-21EC-4F00-AA94-895056929D84}" type="presParOf" srcId="{6872C471-A56C-4040-847F-7E1B148EC241}" destId="{D5C3D8B0-7B23-4AB4-932E-914093AB7812}" srcOrd="1" destOrd="0" presId="urn:microsoft.com/office/officeart/2005/8/layout/hierarchy1"/>
    <dgm:cxn modelId="{2F507AA7-8C8C-43D2-BEB1-2EB70DC254E1}" type="presParOf" srcId="{D5C3D8B0-7B23-4AB4-932E-914093AB7812}" destId="{77111478-C1E4-4DC1-932F-04F24876BBDF}" srcOrd="0" destOrd="0" presId="urn:microsoft.com/office/officeart/2005/8/layout/hierarchy1"/>
    <dgm:cxn modelId="{073CDA0E-4C06-4774-957E-8D1FFF761135}" type="presParOf" srcId="{77111478-C1E4-4DC1-932F-04F24876BBDF}" destId="{50733EFC-BBA1-43E5-BB64-E3390315B0C9}" srcOrd="0" destOrd="0" presId="urn:microsoft.com/office/officeart/2005/8/layout/hierarchy1"/>
    <dgm:cxn modelId="{ECD94063-2A66-42D8-8B1E-4FBFB2FB0052}" type="presParOf" srcId="{77111478-C1E4-4DC1-932F-04F24876BBDF}" destId="{EC1AAF5E-46CA-422E-913D-9B312EAB69C2}" srcOrd="1" destOrd="0" presId="urn:microsoft.com/office/officeart/2005/8/layout/hierarchy1"/>
    <dgm:cxn modelId="{42F15533-BBFC-4BD2-BF4E-0CCEF745D303}" type="presParOf" srcId="{D5C3D8B0-7B23-4AB4-932E-914093AB7812}" destId="{4541BA78-4BCB-40BB-BAF1-F2C66FB70B90}" srcOrd="1" destOrd="0" presId="urn:microsoft.com/office/officeart/2005/8/layout/hierarchy1"/>
    <dgm:cxn modelId="{823A8B14-01A4-4B58-9DF1-F8A39504BDC4}" type="presParOf" srcId="{6872C471-A56C-4040-847F-7E1B148EC241}" destId="{D75DD2ED-84A0-4137-B6C1-28828EB0929A}" srcOrd="2" destOrd="0" presId="urn:microsoft.com/office/officeart/2005/8/layout/hierarchy1"/>
    <dgm:cxn modelId="{8B427474-7C3F-42D6-B97C-CCEB5D6F8FDC}" type="presParOf" srcId="{6872C471-A56C-4040-847F-7E1B148EC241}" destId="{667A2FBD-9DBC-4828-A858-FA1CD9B283DD}" srcOrd="3" destOrd="0" presId="urn:microsoft.com/office/officeart/2005/8/layout/hierarchy1"/>
    <dgm:cxn modelId="{B6089E02-2523-45A4-8639-7868F17AE8A1}" type="presParOf" srcId="{667A2FBD-9DBC-4828-A858-FA1CD9B283DD}" destId="{6DC1099E-424F-48D3-A39C-635897A297E9}" srcOrd="0" destOrd="0" presId="urn:microsoft.com/office/officeart/2005/8/layout/hierarchy1"/>
    <dgm:cxn modelId="{124FB237-B5B6-41AB-9FEC-E196729DC525}" type="presParOf" srcId="{6DC1099E-424F-48D3-A39C-635897A297E9}" destId="{EC785BBE-B6D5-411F-9FAD-34370D57569D}" srcOrd="0" destOrd="0" presId="urn:microsoft.com/office/officeart/2005/8/layout/hierarchy1"/>
    <dgm:cxn modelId="{893FC713-A67E-4F70-A4BB-A194BDEB58A2}" type="presParOf" srcId="{6DC1099E-424F-48D3-A39C-635897A297E9}" destId="{C02CE8E2-7ECD-439D-9941-9D0E2DA67988}" srcOrd="1" destOrd="0" presId="urn:microsoft.com/office/officeart/2005/8/layout/hierarchy1"/>
    <dgm:cxn modelId="{4F1FE75B-2EBC-42BC-A205-E5E5EF990557}" type="presParOf" srcId="{667A2FBD-9DBC-4828-A858-FA1CD9B283DD}" destId="{94B4D9FD-D423-46E7-A5F4-F3C248F85B53}" srcOrd="1" destOrd="0" presId="urn:microsoft.com/office/officeart/2005/8/layout/hierarchy1"/>
    <dgm:cxn modelId="{0FD4F9D7-CEF4-446E-887F-F4FF0ADE6DBC}" type="presParOf" srcId="{6872C471-A56C-4040-847F-7E1B148EC241}" destId="{10C46ADF-1EF8-4E14-8940-D8A9A7D95210}" srcOrd="4" destOrd="0" presId="urn:microsoft.com/office/officeart/2005/8/layout/hierarchy1"/>
    <dgm:cxn modelId="{50C33D75-3288-4454-8120-2EA9BA7B0BB1}" type="presParOf" srcId="{6872C471-A56C-4040-847F-7E1B148EC241}" destId="{625CBA36-D6FF-4C24-BD4F-1F3A2F945CDA}" srcOrd="5" destOrd="0" presId="urn:microsoft.com/office/officeart/2005/8/layout/hierarchy1"/>
    <dgm:cxn modelId="{C93ED2BF-CCAF-4892-B740-2B5B16B4A74D}" type="presParOf" srcId="{625CBA36-D6FF-4C24-BD4F-1F3A2F945CDA}" destId="{27C61523-0F2B-49A2-AB7A-A21D771F4062}" srcOrd="0" destOrd="0" presId="urn:microsoft.com/office/officeart/2005/8/layout/hierarchy1"/>
    <dgm:cxn modelId="{8FB4C171-B74C-40D5-ADFD-52FA2635C65E}" type="presParOf" srcId="{27C61523-0F2B-49A2-AB7A-A21D771F4062}" destId="{53D114D4-F846-4CAE-863C-070F438EE116}" srcOrd="0" destOrd="0" presId="urn:microsoft.com/office/officeart/2005/8/layout/hierarchy1"/>
    <dgm:cxn modelId="{07DA6DC0-EF91-42D4-804B-719F63DBFAB1}" type="presParOf" srcId="{27C61523-0F2B-49A2-AB7A-A21D771F4062}" destId="{5BC8AE7F-4C12-4E2A-9DAA-71182628100E}" srcOrd="1" destOrd="0" presId="urn:microsoft.com/office/officeart/2005/8/layout/hierarchy1"/>
    <dgm:cxn modelId="{2AAAD453-6E71-4119-8CB3-E2ED7A9B56EB}" type="presParOf" srcId="{625CBA36-D6FF-4C24-BD4F-1F3A2F945CDA}" destId="{421CB726-A10B-4FA3-AB2A-B61AE64A604A}" srcOrd="1" destOrd="0" presId="urn:microsoft.com/office/officeart/2005/8/layout/hierarchy1"/>
    <dgm:cxn modelId="{0D9EDCAD-F288-405F-A165-602E26D0FF03}" type="presParOf" srcId="{6872C471-A56C-4040-847F-7E1B148EC241}" destId="{C95DA04E-8F7E-4FE0-B296-562C7B82835F}" srcOrd="6" destOrd="0" presId="urn:microsoft.com/office/officeart/2005/8/layout/hierarchy1"/>
    <dgm:cxn modelId="{EC3ABED4-BAD7-45C8-983D-6109BEDC2201}" type="presParOf" srcId="{6872C471-A56C-4040-847F-7E1B148EC241}" destId="{D715403D-4F9D-43F4-861E-83E93A64FB1E}" srcOrd="7" destOrd="0" presId="urn:microsoft.com/office/officeart/2005/8/layout/hierarchy1"/>
    <dgm:cxn modelId="{1A2D2B85-09E4-4682-B59E-C5A63523C253}" type="presParOf" srcId="{D715403D-4F9D-43F4-861E-83E93A64FB1E}" destId="{1032AFC0-298B-407A-A7F5-EE4262666275}" srcOrd="0" destOrd="0" presId="urn:microsoft.com/office/officeart/2005/8/layout/hierarchy1"/>
    <dgm:cxn modelId="{6A847D4E-71DA-481C-9B6E-7D563B31F165}" type="presParOf" srcId="{1032AFC0-298B-407A-A7F5-EE4262666275}" destId="{D91CA9C3-6B35-4D5F-BE93-9E78EC58FB2C}" srcOrd="0" destOrd="0" presId="urn:microsoft.com/office/officeart/2005/8/layout/hierarchy1"/>
    <dgm:cxn modelId="{6B2A4820-D953-48EB-874E-ADC8BB1E373C}" type="presParOf" srcId="{1032AFC0-298B-407A-A7F5-EE4262666275}" destId="{59C1C2A6-9EA6-4FC0-A34E-05C6E0AAC132}" srcOrd="1" destOrd="0" presId="urn:microsoft.com/office/officeart/2005/8/layout/hierarchy1"/>
    <dgm:cxn modelId="{536E988E-FEF2-418C-8D0B-0DBB389D5057}" type="presParOf" srcId="{D715403D-4F9D-43F4-861E-83E93A64FB1E}" destId="{3BE6DF01-6862-440E-80CE-955BCC3C355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4BB07A-E966-41A3-A46F-56E52047D52B}" type="doc">
      <dgm:prSet loTypeId="urn:microsoft.com/office/officeart/2008/layout/LinedList" loCatId="list" qsTypeId="urn:microsoft.com/office/officeart/2005/8/quickstyle/simple5#3" qsCatId="simple" csTypeId="urn:microsoft.com/office/officeart/2005/8/colors/accent1_2#5" csCatId="accent1"/>
      <dgm:spPr/>
      <dgm:t>
        <a:bodyPr/>
        <a:lstStyle/>
        <a:p>
          <a:endParaRPr lang="en-US"/>
        </a:p>
      </dgm:t>
    </dgm:pt>
    <dgm:pt modelId="{994224F9-D7A5-4A1D-9E47-EE319CAF3142}">
      <dgm:prSet/>
      <dgm:spPr/>
      <dgm:t>
        <a:bodyPr/>
        <a:lstStyle/>
        <a:p>
          <a:r>
            <a:rPr lang="en-US" b="1"/>
            <a:t>Value Proposition</a:t>
          </a:r>
          <a:endParaRPr lang="en-US"/>
        </a:p>
      </dgm:t>
    </dgm:pt>
    <dgm:pt modelId="{B0C91A06-B75C-4604-8AE1-FE9ED8C0234F}" type="parTrans" cxnId="{3428E0C0-8FBC-46A5-938C-BC87330AF1AF}">
      <dgm:prSet/>
      <dgm:spPr/>
      <dgm:t>
        <a:bodyPr/>
        <a:lstStyle/>
        <a:p>
          <a:endParaRPr lang="en-US"/>
        </a:p>
      </dgm:t>
    </dgm:pt>
    <dgm:pt modelId="{9E5769CF-C864-46CB-AD92-ED499A11A802}" type="sibTrans" cxnId="{3428E0C0-8FBC-46A5-938C-BC87330AF1AF}">
      <dgm:prSet/>
      <dgm:spPr/>
      <dgm:t>
        <a:bodyPr/>
        <a:lstStyle/>
        <a:p>
          <a:endParaRPr lang="en-US"/>
        </a:p>
      </dgm:t>
    </dgm:pt>
    <dgm:pt modelId="{D3CDF2F6-2C9D-4340-B491-002A5C4FE65B}">
      <dgm:prSet/>
      <dgm:spPr/>
      <dgm:t>
        <a:bodyPr/>
        <a:lstStyle/>
        <a:p>
          <a:r>
            <a:rPr lang="en-US" b="1"/>
            <a:t>For government agencies:</a:t>
          </a:r>
          <a:r>
            <a:rPr lang="en-US"/>
            <a:t> a single, explainable, village-level landslide risk system that replaces scattered manual processes across NBRO/DMC/Meteorology, reduces time from rainfall event to actionable warning, and gives an auditable explanation of why an area is flagged high-risk</a:t>
          </a:r>
        </a:p>
      </dgm:t>
    </dgm:pt>
    <dgm:pt modelId="{C194DD4B-B3E3-4BC8-A1ED-E7797176A643}" type="parTrans" cxnId="{24803B67-BF70-41EB-8828-B7BCE95B5864}">
      <dgm:prSet/>
      <dgm:spPr/>
      <dgm:t>
        <a:bodyPr/>
        <a:lstStyle/>
        <a:p>
          <a:endParaRPr lang="en-US"/>
        </a:p>
      </dgm:t>
    </dgm:pt>
    <dgm:pt modelId="{81CEE971-DDB2-40D6-B82F-78B4331D6AD8}" type="sibTrans" cxnId="{24803B67-BF70-41EB-8828-B7BCE95B5864}">
      <dgm:prSet/>
      <dgm:spPr/>
      <dgm:t>
        <a:bodyPr/>
        <a:lstStyle/>
        <a:p>
          <a:endParaRPr lang="en-US"/>
        </a:p>
      </dgm:t>
    </dgm:pt>
    <dgm:pt modelId="{7388589D-9FAF-44C7-9429-9421D6D083DB}">
      <dgm:prSet/>
      <dgm:spPr/>
      <dgm:t>
        <a:bodyPr/>
        <a:lstStyle/>
        <a:p>
          <a:r>
            <a:rPr lang="en-US" b="1"/>
            <a:t>For citizens:</a:t>
          </a:r>
          <a:r>
            <a:rPr lang="en-US"/>
            <a:t> a free, localized, accessible way to check their own area's risk without interpreting technical hazard maps</a:t>
          </a:r>
        </a:p>
      </dgm:t>
    </dgm:pt>
    <dgm:pt modelId="{1C74F62B-F02E-40CF-80EA-882FBB911FE2}" type="parTrans" cxnId="{15B28397-07B1-48FE-8861-7F357AF69F27}">
      <dgm:prSet/>
      <dgm:spPr/>
      <dgm:t>
        <a:bodyPr/>
        <a:lstStyle/>
        <a:p>
          <a:endParaRPr lang="en-US"/>
        </a:p>
      </dgm:t>
    </dgm:pt>
    <dgm:pt modelId="{E6B199F8-B4DE-429E-B20E-E8645011F6BE}" type="sibTrans" cxnId="{15B28397-07B1-48FE-8861-7F357AF69F27}">
      <dgm:prSet/>
      <dgm:spPr/>
      <dgm:t>
        <a:bodyPr/>
        <a:lstStyle/>
        <a:p>
          <a:endParaRPr lang="en-US"/>
        </a:p>
      </dgm:t>
    </dgm:pt>
    <dgm:pt modelId="{02914150-B271-4731-8E31-1E849E60463C}">
      <dgm:prSet/>
      <dgm:spPr/>
      <dgm:t>
        <a:bodyPr/>
        <a:lstStyle/>
        <a:p>
          <a:r>
            <a:rPr lang="en-US" b="1"/>
            <a:t>Revenue Model</a:t>
          </a:r>
          <a:endParaRPr lang="en-US"/>
        </a:p>
      </dgm:t>
    </dgm:pt>
    <dgm:pt modelId="{F2020307-1331-4EFE-BBAB-A63732C366C7}" type="parTrans" cxnId="{491D11E3-6940-474A-9C56-88A05A79F2A5}">
      <dgm:prSet/>
      <dgm:spPr/>
      <dgm:t>
        <a:bodyPr/>
        <a:lstStyle/>
        <a:p>
          <a:endParaRPr lang="en-US"/>
        </a:p>
      </dgm:t>
    </dgm:pt>
    <dgm:pt modelId="{B4ADAE86-86E1-411E-B32F-71AAEF058670}" type="sibTrans" cxnId="{491D11E3-6940-474A-9C56-88A05A79F2A5}">
      <dgm:prSet/>
      <dgm:spPr/>
      <dgm:t>
        <a:bodyPr/>
        <a:lstStyle/>
        <a:p>
          <a:endParaRPr lang="en-US"/>
        </a:p>
      </dgm:t>
    </dgm:pt>
    <dgm:pt modelId="{6A32AD58-C086-4167-9E39-FC9B2642DB83}">
      <dgm:prSet/>
      <dgm:spPr/>
      <dgm:t>
        <a:bodyPr/>
        <a:lstStyle/>
        <a:p>
          <a:r>
            <a:rPr lang="en-US"/>
            <a:t>B2G licensing/SaaS subscription - annual/multi-year fee paid by DMC/NBRO via government IT procurement</a:t>
          </a:r>
        </a:p>
      </dgm:t>
    </dgm:pt>
    <dgm:pt modelId="{41B21D2E-549C-41DA-BE4E-B9EC5EC14227}" type="parTrans" cxnId="{A6AC8EF8-54A6-471C-9AD2-5C1DAC7E4460}">
      <dgm:prSet/>
      <dgm:spPr/>
      <dgm:t>
        <a:bodyPr/>
        <a:lstStyle/>
        <a:p>
          <a:endParaRPr lang="en-US"/>
        </a:p>
      </dgm:t>
    </dgm:pt>
    <dgm:pt modelId="{FED9BBF2-8149-4D66-A208-C83B2DBEE1DC}" type="sibTrans" cxnId="{A6AC8EF8-54A6-471C-9AD2-5C1DAC7E4460}">
      <dgm:prSet/>
      <dgm:spPr/>
      <dgm:t>
        <a:bodyPr/>
        <a:lstStyle/>
        <a:p>
          <a:endParaRPr lang="en-US"/>
        </a:p>
      </dgm:t>
    </dgm:pt>
    <dgm:pt modelId="{A92B7F3C-4595-4151-9DEE-61B02110FB37}">
      <dgm:prSet/>
      <dgm:spPr/>
      <dgm:t>
        <a:bodyPr/>
        <a:lstStyle/>
        <a:p>
          <a:r>
            <a:rPr lang="en-US"/>
            <a:t>Grant/donor-funded deployment - World Bank, UNDP, ADB disaster-resilience grants, or Sri Lanka's own disaster-risk-reduction budget</a:t>
          </a:r>
        </a:p>
      </dgm:t>
    </dgm:pt>
    <dgm:pt modelId="{476A6FB8-90FC-402E-85E8-3EFA07AB37CF}" type="parTrans" cxnId="{11F9F621-B185-45E8-A7EA-403054145321}">
      <dgm:prSet/>
      <dgm:spPr/>
      <dgm:t>
        <a:bodyPr/>
        <a:lstStyle/>
        <a:p>
          <a:endParaRPr lang="en-US"/>
        </a:p>
      </dgm:t>
    </dgm:pt>
    <dgm:pt modelId="{CB14629E-589A-47CA-BC2C-194D022C42E7}" type="sibTrans" cxnId="{11F9F621-B185-45E8-A7EA-403054145321}">
      <dgm:prSet/>
      <dgm:spPr/>
      <dgm:t>
        <a:bodyPr/>
        <a:lstStyle/>
        <a:p>
          <a:endParaRPr lang="en-US"/>
        </a:p>
      </dgm:t>
    </dgm:pt>
    <dgm:pt modelId="{0CC559A8-2CAA-4A9B-8B3E-D9F0F07BF92B}">
      <dgm:prSet/>
      <dgm:spPr/>
      <dgm:t>
        <a:bodyPr/>
        <a:lstStyle/>
        <a:p>
          <a:r>
            <a:rPr lang="en-US"/>
            <a:t>Free citizen tier - public Web-GIS map and alerts stay free; this is the public-good delivery mechanism, not a revenue line</a:t>
          </a:r>
        </a:p>
      </dgm:t>
    </dgm:pt>
    <dgm:pt modelId="{28EC7950-1C38-460F-B1F1-7F0FCBC72650}" type="parTrans" cxnId="{081DE27F-37A3-4277-8DF2-23B5EF1CFDF4}">
      <dgm:prSet/>
      <dgm:spPr/>
      <dgm:t>
        <a:bodyPr/>
        <a:lstStyle/>
        <a:p>
          <a:endParaRPr lang="en-US"/>
        </a:p>
      </dgm:t>
    </dgm:pt>
    <dgm:pt modelId="{6CB1FF1B-385F-4339-80CB-6669CBB6CB97}" type="sibTrans" cxnId="{081DE27F-37A3-4277-8DF2-23B5EF1CFDF4}">
      <dgm:prSet/>
      <dgm:spPr/>
      <dgm:t>
        <a:bodyPr/>
        <a:lstStyle/>
        <a:p>
          <a:endParaRPr lang="en-US"/>
        </a:p>
      </dgm:t>
    </dgm:pt>
    <dgm:pt modelId="{F68D97E8-7B70-4C76-B7C5-565C5A1150CB}">
      <dgm:prSet/>
      <dgm:spPr/>
      <dgm:t>
        <a:bodyPr/>
        <a:lstStyle/>
        <a:p>
          <a:r>
            <a:rPr lang="en-US"/>
            <a:t>Optional data/API licensing - aggregated hazard analytics licensed to NGOs/research institutions as a secondary stream</a:t>
          </a:r>
        </a:p>
      </dgm:t>
    </dgm:pt>
    <dgm:pt modelId="{8529F797-CA98-476B-A707-BC8CD028BE5D}" type="parTrans" cxnId="{77CAD42C-4D63-4F36-AF97-88EC0F819C0A}">
      <dgm:prSet/>
      <dgm:spPr/>
      <dgm:t>
        <a:bodyPr/>
        <a:lstStyle/>
        <a:p>
          <a:endParaRPr lang="en-US"/>
        </a:p>
      </dgm:t>
    </dgm:pt>
    <dgm:pt modelId="{6A767F7B-A539-4FC2-BDB9-568A13EDC181}" type="sibTrans" cxnId="{77CAD42C-4D63-4F36-AF97-88EC0F819C0A}">
      <dgm:prSet/>
      <dgm:spPr/>
      <dgm:t>
        <a:bodyPr/>
        <a:lstStyle/>
        <a:p>
          <a:endParaRPr lang="en-US"/>
        </a:p>
      </dgm:t>
    </dgm:pt>
    <dgm:pt modelId="{4C4954B8-1EA5-4C8B-AF8B-C7E06587C9FA}" type="pres">
      <dgm:prSet presAssocID="{2E4BB07A-E966-41A3-A46F-56E52047D52B}" presName="vert0" presStyleCnt="0">
        <dgm:presLayoutVars>
          <dgm:dir/>
          <dgm:animOne val="branch"/>
          <dgm:animLvl val="lvl"/>
        </dgm:presLayoutVars>
      </dgm:prSet>
      <dgm:spPr/>
    </dgm:pt>
    <dgm:pt modelId="{AC4C2E92-4A41-49ED-A198-00DF46B6E726}" type="pres">
      <dgm:prSet presAssocID="{994224F9-D7A5-4A1D-9E47-EE319CAF3142}" presName="thickLine" presStyleLbl="alignNode1" presStyleIdx="0" presStyleCnt="2"/>
      <dgm:spPr/>
    </dgm:pt>
    <dgm:pt modelId="{E5DD4EC4-25BB-4EBF-8227-DAF26A9D07B1}" type="pres">
      <dgm:prSet presAssocID="{994224F9-D7A5-4A1D-9E47-EE319CAF3142}" presName="horz1" presStyleCnt="0"/>
      <dgm:spPr/>
    </dgm:pt>
    <dgm:pt modelId="{395B2E73-3A27-4775-A9BE-AD9CC01A046D}" type="pres">
      <dgm:prSet presAssocID="{994224F9-D7A5-4A1D-9E47-EE319CAF3142}" presName="tx1" presStyleLbl="revTx" presStyleIdx="0" presStyleCnt="8"/>
      <dgm:spPr/>
    </dgm:pt>
    <dgm:pt modelId="{E35E096C-807A-4958-AE03-62142827BE01}" type="pres">
      <dgm:prSet presAssocID="{994224F9-D7A5-4A1D-9E47-EE319CAF3142}" presName="vert1" presStyleCnt="0"/>
      <dgm:spPr/>
    </dgm:pt>
    <dgm:pt modelId="{9D47DF55-1F80-44ED-BAA5-D46C1CEB0DC9}" type="pres">
      <dgm:prSet presAssocID="{D3CDF2F6-2C9D-4340-B491-002A5C4FE65B}" presName="vertSpace2a" presStyleCnt="0"/>
      <dgm:spPr/>
    </dgm:pt>
    <dgm:pt modelId="{970701E7-7016-4D0F-BAEC-8C77AAE1F9E8}" type="pres">
      <dgm:prSet presAssocID="{D3CDF2F6-2C9D-4340-B491-002A5C4FE65B}" presName="horz2" presStyleCnt="0"/>
      <dgm:spPr/>
    </dgm:pt>
    <dgm:pt modelId="{98E09629-E253-40F8-BF15-B73E72E5166B}" type="pres">
      <dgm:prSet presAssocID="{D3CDF2F6-2C9D-4340-B491-002A5C4FE65B}" presName="horzSpace2" presStyleCnt="0"/>
      <dgm:spPr/>
    </dgm:pt>
    <dgm:pt modelId="{A1894364-F431-48D9-B28D-5926CE88B746}" type="pres">
      <dgm:prSet presAssocID="{D3CDF2F6-2C9D-4340-B491-002A5C4FE65B}" presName="tx2" presStyleLbl="revTx" presStyleIdx="1" presStyleCnt="8"/>
      <dgm:spPr/>
    </dgm:pt>
    <dgm:pt modelId="{8607CCE5-24A7-42D8-9DF3-A9BD5EC5234A}" type="pres">
      <dgm:prSet presAssocID="{D3CDF2F6-2C9D-4340-B491-002A5C4FE65B}" presName="vert2" presStyleCnt="0"/>
      <dgm:spPr/>
    </dgm:pt>
    <dgm:pt modelId="{42A59562-5F86-4A4B-9096-AC185E61972A}" type="pres">
      <dgm:prSet presAssocID="{D3CDF2F6-2C9D-4340-B491-002A5C4FE65B}" presName="thinLine2b" presStyleLbl="callout" presStyleIdx="0" presStyleCnt="6"/>
      <dgm:spPr/>
    </dgm:pt>
    <dgm:pt modelId="{8CA49026-F415-415E-8191-07457B1FA1F0}" type="pres">
      <dgm:prSet presAssocID="{D3CDF2F6-2C9D-4340-B491-002A5C4FE65B}" presName="vertSpace2b" presStyleCnt="0"/>
      <dgm:spPr/>
    </dgm:pt>
    <dgm:pt modelId="{72F7B539-ABFB-4CD9-9A3A-88DDD3B65BDF}" type="pres">
      <dgm:prSet presAssocID="{7388589D-9FAF-44C7-9429-9421D6D083DB}" presName="horz2" presStyleCnt="0"/>
      <dgm:spPr/>
    </dgm:pt>
    <dgm:pt modelId="{E1ED799D-907F-4546-96F5-065E712B4999}" type="pres">
      <dgm:prSet presAssocID="{7388589D-9FAF-44C7-9429-9421D6D083DB}" presName="horzSpace2" presStyleCnt="0"/>
      <dgm:spPr/>
    </dgm:pt>
    <dgm:pt modelId="{4B800133-F679-4623-AE6A-3F5DF086A596}" type="pres">
      <dgm:prSet presAssocID="{7388589D-9FAF-44C7-9429-9421D6D083DB}" presName="tx2" presStyleLbl="revTx" presStyleIdx="2" presStyleCnt="8"/>
      <dgm:spPr/>
    </dgm:pt>
    <dgm:pt modelId="{3C7A5E5B-A0DC-4E0A-8B1F-205C7C770D9C}" type="pres">
      <dgm:prSet presAssocID="{7388589D-9FAF-44C7-9429-9421D6D083DB}" presName="vert2" presStyleCnt="0"/>
      <dgm:spPr/>
    </dgm:pt>
    <dgm:pt modelId="{E5846134-4761-4A4F-9CC8-D7F5CBD4826B}" type="pres">
      <dgm:prSet presAssocID="{7388589D-9FAF-44C7-9429-9421D6D083DB}" presName="thinLine2b" presStyleLbl="callout" presStyleIdx="1" presStyleCnt="6"/>
      <dgm:spPr/>
    </dgm:pt>
    <dgm:pt modelId="{ADD66B47-8F43-4C89-AECD-826A9C214CA6}" type="pres">
      <dgm:prSet presAssocID="{7388589D-9FAF-44C7-9429-9421D6D083DB}" presName="vertSpace2b" presStyleCnt="0"/>
      <dgm:spPr/>
    </dgm:pt>
    <dgm:pt modelId="{36DC88C2-A08D-4609-8C3A-6D698E919245}" type="pres">
      <dgm:prSet presAssocID="{02914150-B271-4731-8E31-1E849E60463C}" presName="thickLine" presStyleLbl="alignNode1" presStyleIdx="1" presStyleCnt="2"/>
      <dgm:spPr/>
    </dgm:pt>
    <dgm:pt modelId="{8BE2AA2D-7EC0-4E84-B364-60B4E8D8107A}" type="pres">
      <dgm:prSet presAssocID="{02914150-B271-4731-8E31-1E849E60463C}" presName="horz1" presStyleCnt="0"/>
      <dgm:spPr/>
    </dgm:pt>
    <dgm:pt modelId="{ACDCD946-7738-49EC-9C04-B5AFFC66E908}" type="pres">
      <dgm:prSet presAssocID="{02914150-B271-4731-8E31-1E849E60463C}" presName="tx1" presStyleLbl="revTx" presStyleIdx="3" presStyleCnt="8"/>
      <dgm:spPr/>
    </dgm:pt>
    <dgm:pt modelId="{48A1B46D-3955-44E7-810F-DB4F9ED6BE25}" type="pres">
      <dgm:prSet presAssocID="{02914150-B271-4731-8E31-1E849E60463C}" presName="vert1" presStyleCnt="0"/>
      <dgm:spPr/>
    </dgm:pt>
    <dgm:pt modelId="{7DFAB107-A80C-4122-8C80-1C3753252915}" type="pres">
      <dgm:prSet presAssocID="{6A32AD58-C086-4167-9E39-FC9B2642DB83}" presName="vertSpace2a" presStyleCnt="0"/>
      <dgm:spPr/>
    </dgm:pt>
    <dgm:pt modelId="{B3091A73-39A9-4894-8AD6-B26BC06B400D}" type="pres">
      <dgm:prSet presAssocID="{6A32AD58-C086-4167-9E39-FC9B2642DB83}" presName="horz2" presStyleCnt="0"/>
      <dgm:spPr/>
    </dgm:pt>
    <dgm:pt modelId="{609384DC-556D-4D8B-A24F-1FC962DFA5E8}" type="pres">
      <dgm:prSet presAssocID="{6A32AD58-C086-4167-9E39-FC9B2642DB83}" presName="horzSpace2" presStyleCnt="0"/>
      <dgm:spPr/>
    </dgm:pt>
    <dgm:pt modelId="{8C09C92B-0F83-4C42-BC63-74E2840289BA}" type="pres">
      <dgm:prSet presAssocID="{6A32AD58-C086-4167-9E39-FC9B2642DB83}" presName="tx2" presStyleLbl="revTx" presStyleIdx="4" presStyleCnt="8"/>
      <dgm:spPr/>
    </dgm:pt>
    <dgm:pt modelId="{D0FF322C-E571-40CA-8FA0-10F3DE7D9EAA}" type="pres">
      <dgm:prSet presAssocID="{6A32AD58-C086-4167-9E39-FC9B2642DB83}" presName="vert2" presStyleCnt="0"/>
      <dgm:spPr/>
    </dgm:pt>
    <dgm:pt modelId="{EC80D39D-56AB-4F2D-BA47-EBDF6DD7E69F}" type="pres">
      <dgm:prSet presAssocID="{6A32AD58-C086-4167-9E39-FC9B2642DB83}" presName="thinLine2b" presStyleLbl="callout" presStyleIdx="2" presStyleCnt="6"/>
      <dgm:spPr/>
    </dgm:pt>
    <dgm:pt modelId="{82685F09-6B7A-498F-9DB0-60149718A808}" type="pres">
      <dgm:prSet presAssocID="{6A32AD58-C086-4167-9E39-FC9B2642DB83}" presName="vertSpace2b" presStyleCnt="0"/>
      <dgm:spPr/>
    </dgm:pt>
    <dgm:pt modelId="{CF65D5B5-D1B2-429E-BA49-8772FDBF4D52}" type="pres">
      <dgm:prSet presAssocID="{A92B7F3C-4595-4151-9DEE-61B02110FB37}" presName="horz2" presStyleCnt="0"/>
      <dgm:spPr/>
    </dgm:pt>
    <dgm:pt modelId="{CCB63712-DB71-4FAF-A230-33F7B49EED79}" type="pres">
      <dgm:prSet presAssocID="{A92B7F3C-4595-4151-9DEE-61B02110FB37}" presName="horzSpace2" presStyleCnt="0"/>
      <dgm:spPr/>
    </dgm:pt>
    <dgm:pt modelId="{3E92D8B7-338A-486B-A9AD-89C5CD62F4AB}" type="pres">
      <dgm:prSet presAssocID="{A92B7F3C-4595-4151-9DEE-61B02110FB37}" presName="tx2" presStyleLbl="revTx" presStyleIdx="5" presStyleCnt="8"/>
      <dgm:spPr/>
    </dgm:pt>
    <dgm:pt modelId="{9B276BDD-659F-4496-B82A-93EF2E6E65CE}" type="pres">
      <dgm:prSet presAssocID="{A92B7F3C-4595-4151-9DEE-61B02110FB37}" presName="vert2" presStyleCnt="0"/>
      <dgm:spPr/>
    </dgm:pt>
    <dgm:pt modelId="{674C7F7F-95C8-4532-9F1A-DC796B64C3C4}" type="pres">
      <dgm:prSet presAssocID="{A92B7F3C-4595-4151-9DEE-61B02110FB37}" presName="thinLine2b" presStyleLbl="callout" presStyleIdx="3" presStyleCnt="6"/>
      <dgm:spPr/>
    </dgm:pt>
    <dgm:pt modelId="{B87CF0D0-56E3-467A-A20D-14C3521BCAEB}" type="pres">
      <dgm:prSet presAssocID="{A92B7F3C-4595-4151-9DEE-61B02110FB37}" presName="vertSpace2b" presStyleCnt="0"/>
      <dgm:spPr/>
    </dgm:pt>
    <dgm:pt modelId="{92F85496-AABD-43E6-923E-81742C644A9F}" type="pres">
      <dgm:prSet presAssocID="{0CC559A8-2CAA-4A9B-8B3E-D9F0F07BF92B}" presName="horz2" presStyleCnt="0"/>
      <dgm:spPr/>
    </dgm:pt>
    <dgm:pt modelId="{147B847A-67CB-4A70-AFFF-B405918CD25E}" type="pres">
      <dgm:prSet presAssocID="{0CC559A8-2CAA-4A9B-8B3E-D9F0F07BF92B}" presName="horzSpace2" presStyleCnt="0"/>
      <dgm:spPr/>
    </dgm:pt>
    <dgm:pt modelId="{986A12AC-D2AB-4539-8D44-85A6AE4BE74D}" type="pres">
      <dgm:prSet presAssocID="{0CC559A8-2CAA-4A9B-8B3E-D9F0F07BF92B}" presName="tx2" presStyleLbl="revTx" presStyleIdx="6" presStyleCnt="8"/>
      <dgm:spPr/>
    </dgm:pt>
    <dgm:pt modelId="{6C7B6F43-79B0-4496-9259-6D4048332DD3}" type="pres">
      <dgm:prSet presAssocID="{0CC559A8-2CAA-4A9B-8B3E-D9F0F07BF92B}" presName="vert2" presStyleCnt="0"/>
      <dgm:spPr/>
    </dgm:pt>
    <dgm:pt modelId="{43E71798-2A87-4250-95BC-57AA8A971C72}" type="pres">
      <dgm:prSet presAssocID="{0CC559A8-2CAA-4A9B-8B3E-D9F0F07BF92B}" presName="thinLine2b" presStyleLbl="callout" presStyleIdx="4" presStyleCnt="6"/>
      <dgm:spPr/>
    </dgm:pt>
    <dgm:pt modelId="{004B03B1-B2F5-4DDD-AFA0-D494961F83B3}" type="pres">
      <dgm:prSet presAssocID="{0CC559A8-2CAA-4A9B-8B3E-D9F0F07BF92B}" presName="vertSpace2b" presStyleCnt="0"/>
      <dgm:spPr/>
    </dgm:pt>
    <dgm:pt modelId="{81B9FEF5-2BD9-4E5C-BF09-01F72E9918C3}" type="pres">
      <dgm:prSet presAssocID="{F68D97E8-7B70-4C76-B7C5-565C5A1150CB}" presName="horz2" presStyleCnt="0"/>
      <dgm:spPr/>
    </dgm:pt>
    <dgm:pt modelId="{2A10BC8F-0130-4DE7-B8E4-55C978FAFD16}" type="pres">
      <dgm:prSet presAssocID="{F68D97E8-7B70-4C76-B7C5-565C5A1150CB}" presName="horzSpace2" presStyleCnt="0"/>
      <dgm:spPr/>
    </dgm:pt>
    <dgm:pt modelId="{E5692C1E-D002-4828-A0E6-4A42A50ECD8D}" type="pres">
      <dgm:prSet presAssocID="{F68D97E8-7B70-4C76-B7C5-565C5A1150CB}" presName="tx2" presStyleLbl="revTx" presStyleIdx="7" presStyleCnt="8"/>
      <dgm:spPr/>
    </dgm:pt>
    <dgm:pt modelId="{53D78535-70D0-4062-9FD2-1227AC1D0468}" type="pres">
      <dgm:prSet presAssocID="{F68D97E8-7B70-4C76-B7C5-565C5A1150CB}" presName="vert2" presStyleCnt="0"/>
      <dgm:spPr/>
    </dgm:pt>
    <dgm:pt modelId="{9F5DE818-0178-48CD-931A-9B5A0422A18F}" type="pres">
      <dgm:prSet presAssocID="{F68D97E8-7B70-4C76-B7C5-565C5A1150CB}" presName="thinLine2b" presStyleLbl="callout" presStyleIdx="5" presStyleCnt="6"/>
      <dgm:spPr/>
    </dgm:pt>
    <dgm:pt modelId="{C04F43EF-7C83-406C-8A68-D781165A2AFE}" type="pres">
      <dgm:prSet presAssocID="{F68D97E8-7B70-4C76-B7C5-565C5A1150CB}" presName="vertSpace2b" presStyleCnt="0"/>
      <dgm:spPr/>
    </dgm:pt>
  </dgm:ptLst>
  <dgm:cxnLst>
    <dgm:cxn modelId="{327AB11C-459C-4484-837C-8818D3B00FC2}" type="presOf" srcId="{D3CDF2F6-2C9D-4340-B491-002A5C4FE65B}" destId="{A1894364-F431-48D9-B28D-5926CE88B746}" srcOrd="0" destOrd="0" presId="urn:microsoft.com/office/officeart/2008/layout/LinedList"/>
    <dgm:cxn modelId="{DFD3DB1E-663A-46EC-9E25-1E54B7A74FE2}" type="presOf" srcId="{02914150-B271-4731-8E31-1E849E60463C}" destId="{ACDCD946-7738-49EC-9C04-B5AFFC66E908}" srcOrd="0" destOrd="0" presId="urn:microsoft.com/office/officeart/2008/layout/LinedList"/>
    <dgm:cxn modelId="{11F9F621-B185-45E8-A7EA-403054145321}" srcId="{02914150-B271-4731-8E31-1E849E60463C}" destId="{A92B7F3C-4595-4151-9DEE-61B02110FB37}" srcOrd="1" destOrd="0" parTransId="{476A6FB8-90FC-402E-85E8-3EFA07AB37CF}" sibTransId="{CB14629E-589A-47CA-BC2C-194D022C42E7}"/>
    <dgm:cxn modelId="{77CAD42C-4D63-4F36-AF97-88EC0F819C0A}" srcId="{02914150-B271-4731-8E31-1E849E60463C}" destId="{F68D97E8-7B70-4C76-B7C5-565C5A1150CB}" srcOrd="3" destOrd="0" parTransId="{8529F797-CA98-476B-A707-BC8CD028BE5D}" sibTransId="{6A767F7B-A539-4FC2-BDB9-568A13EDC181}"/>
    <dgm:cxn modelId="{2802B23D-B525-4101-8A54-4EA80FBEC384}" type="presOf" srcId="{A92B7F3C-4595-4151-9DEE-61B02110FB37}" destId="{3E92D8B7-338A-486B-A9AD-89C5CD62F4AB}" srcOrd="0" destOrd="0" presId="urn:microsoft.com/office/officeart/2008/layout/LinedList"/>
    <dgm:cxn modelId="{AF64D93F-27AB-4DB0-97F5-8F06202BBFC0}" type="presOf" srcId="{6A32AD58-C086-4167-9E39-FC9B2642DB83}" destId="{8C09C92B-0F83-4C42-BC63-74E2840289BA}" srcOrd="0" destOrd="0" presId="urn:microsoft.com/office/officeart/2008/layout/LinedList"/>
    <dgm:cxn modelId="{24803B67-BF70-41EB-8828-B7BCE95B5864}" srcId="{994224F9-D7A5-4A1D-9E47-EE319CAF3142}" destId="{D3CDF2F6-2C9D-4340-B491-002A5C4FE65B}" srcOrd="0" destOrd="0" parTransId="{C194DD4B-B3E3-4BC8-A1ED-E7797176A643}" sibTransId="{81CEE971-DDB2-40D6-B82F-78B4331D6AD8}"/>
    <dgm:cxn modelId="{7868A051-530D-4130-B96E-133E230BB266}" type="presOf" srcId="{0CC559A8-2CAA-4A9B-8B3E-D9F0F07BF92B}" destId="{986A12AC-D2AB-4539-8D44-85A6AE4BE74D}" srcOrd="0" destOrd="0" presId="urn:microsoft.com/office/officeart/2008/layout/LinedList"/>
    <dgm:cxn modelId="{046CC451-CD61-4EFF-AB13-A0DB840EDCC4}" type="presOf" srcId="{7388589D-9FAF-44C7-9429-9421D6D083DB}" destId="{4B800133-F679-4623-AE6A-3F5DF086A596}" srcOrd="0" destOrd="0" presId="urn:microsoft.com/office/officeart/2008/layout/LinedList"/>
    <dgm:cxn modelId="{081DE27F-37A3-4277-8DF2-23B5EF1CFDF4}" srcId="{02914150-B271-4731-8E31-1E849E60463C}" destId="{0CC559A8-2CAA-4A9B-8B3E-D9F0F07BF92B}" srcOrd="2" destOrd="0" parTransId="{28EC7950-1C38-460F-B1F1-7F0FCBC72650}" sibTransId="{6CB1FF1B-385F-4339-80CB-6669CBB6CB97}"/>
    <dgm:cxn modelId="{A2E6318A-3C16-4BB0-9E8B-DF3DA29DEB76}" type="presOf" srcId="{2E4BB07A-E966-41A3-A46F-56E52047D52B}" destId="{4C4954B8-1EA5-4C8B-AF8B-C7E06587C9FA}" srcOrd="0" destOrd="0" presId="urn:microsoft.com/office/officeart/2008/layout/LinedList"/>
    <dgm:cxn modelId="{15B28397-07B1-48FE-8861-7F357AF69F27}" srcId="{994224F9-D7A5-4A1D-9E47-EE319CAF3142}" destId="{7388589D-9FAF-44C7-9429-9421D6D083DB}" srcOrd="1" destOrd="0" parTransId="{1C74F62B-F02E-40CF-80EA-882FBB911FE2}" sibTransId="{E6B199F8-B4DE-429E-B20E-E8645011F6BE}"/>
    <dgm:cxn modelId="{6B1CC7B6-4445-449C-B5D8-3D35F63BED55}" type="presOf" srcId="{F68D97E8-7B70-4C76-B7C5-565C5A1150CB}" destId="{E5692C1E-D002-4828-A0E6-4A42A50ECD8D}" srcOrd="0" destOrd="0" presId="urn:microsoft.com/office/officeart/2008/layout/LinedList"/>
    <dgm:cxn modelId="{3428E0C0-8FBC-46A5-938C-BC87330AF1AF}" srcId="{2E4BB07A-E966-41A3-A46F-56E52047D52B}" destId="{994224F9-D7A5-4A1D-9E47-EE319CAF3142}" srcOrd="0" destOrd="0" parTransId="{B0C91A06-B75C-4604-8AE1-FE9ED8C0234F}" sibTransId="{9E5769CF-C864-46CB-AD92-ED499A11A802}"/>
    <dgm:cxn modelId="{491D11E3-6940-474A-9C56-88A05A79F2A5}" srcId="{2E4BB07A-E966-41A3-A46F-56E52047D52B}" destId="{02914150-B271-4731-8E31-1E849E60463C}" srcOrd="1" destOrd="0" parTransId="{F2020307-1331-4EFE-BBAB-A63732C366C7}" sibTransId="{B4ADAE86-86E1-411E-B32F-71AAEF058670}"/>
    <dgm:cxn modelId="{26D17BF5-86E0-4B48-BA17-CD66168E01C5}" type="presOf" srcId="{994224F9-D7A5-4A1D-9E47-EE319CAF3142}" destId="{395B2E73-3A27-4775-A9BE-AD9CC01A046D}" srcOrd="0" destOrd="0" presId="urn:microsoft.com/office/officeart/2008/layout/LinedList"/>
    <dgm:cxn modelId="{A6AC8EF8-54A6-471C-9AD2-5C1DAC7E4460}" srcId="{02914150-B271-4731-8E31-1E849E60463C}" destId="{6A32AD58-C086-4167-9E39-FC9B2642DB83}" srcOrd="0" destOrd="0" parTransId="{41B21D2E-549C-41DA-BE4E-B9EC5EC14227}" sibTransId="{FED9BBF2-8149-4D66-A208-C83B2DBEE1DC}"/>
    <dgm:cxn modelId="{28C8F295-FD74-4036-9921-5212C5F3A1E1}" type="presParOf" srcId="{4C4954B8-1EA5-4C8B-AF8B-C7E06587C9FA}" destId="{AC4C2E92-4A41-49ED-A198-00DF46B6E726}" srcOrd="0" destOrd="0" presId="urn:microsoft.com/office/officeart/2008/layout/LinedList"/>
    <dgm:cxn modelId="{F9500291-7747-486C-8D52-143AD1C72FCF}" type="presParOf" srcId="{4C4954B8-1EA5-4C8B-AF8B-C7E06587C9FA}" destId="{E5DD4EC4-25BB-4EBF-8227-DAF26A9D07B1}" srcOrd="1" destOrd="0" presId="urn:microsoft.com/office/officeart/2008/layout/LinedList"/>
    <dgm:cxn modelId="{F0884360-787A-497D-984C-55FD57EFA3A6}" type="presParOf" srcId="{E5DD4EC4-25BB-4EBF-8227-DAF26A9D07B1}" destId="{395B2E73-3A27-4775-A9BE-AD9CC01A046D}" srcOrd="0" destOrd="0" presId="urn:microsoft.com/office/officeart/2008/layout/LinedList"/>
    <dgm:cxn modelId="{66B0A743-BC60-4FDF-BA8D-841E36CE798A}" type="presParOf" srcId="{E5DD4EC4-25BB-4EBF-8227-DAF26A9D07B1}" destId="{E35E096C-807A-4958-AE03-62142827BE01}" srcOrd="1" destOrd="0" presId="urn:microsoft.com/office/officeart/2008/layout/LinedList"/>
    <dgm:cxn modelId="{8F330117-5288-48D2-9596-D2180A92643B}" type="presParOf" srcId="{E35E096C-807A-4958-AE03-62142827BE01}" destId="{9D47DF55-1F80-44ED-BAA5-D46C1CEB0DC9}" srcOrd="0" destOrd="0" presId="urn:microsoft.com/office/officeart/2008/layout/LinedList"/>
    <dgm:cxn modelId="{5D4B4D57-F79A-4FA5-A3F8-3A2EEB6CB939}" type="presParOf" srcId="{E35E096C-807A-4958-AE03-62142827BE01}" destId="{970701E7-7016-4D0F-BAEC-8C77AAE1F9E8}" srcOrd="1" destOrd="0" presId="urn:microsoft.com/office/officeart/2008/layout/LinedList"/>
    <dgm:cxn modelId="{1B6979F3-19CE-4F33-B8E1-A62197222190}" type="presParOf" srcId="{970701E7-7016-4D0F-BAEC-8C77AAE1F9E8}" destId="{98E09629-E253-40F8-BF15-B73E72E5166B}" srcOrd="0" destOrd="0" presId="urn:microsoft.com/office/officeart/2008/layout/LinedList"/>
    <dgm:cxn modelId="{61A152DA-260F-4A19-B143-3DC909062324}" type="presParOf" srcId="{970701E7-7016-4D0F-BAEC-8C77AAE1F9E8}" destId="{A1894364-F431-48D9-B28D-5926CE88B746}" srcOrd="1" destOrd="0" presId="urn:microsoft.com/office/officeart/2008/layout/LinedList"/>
    <dgm:cxn modelId="{22CE9690-C149-4109-862A-E24B01F387DD}" type="presParOf" srcId="{970701E7-7016-4D0F-BAEC-8C77AAE1F9E8}" destId="{8607CCE5-24A7-42D8-9DF3-A9BD5EC5234A}" srcOrd="2" destOrd="0" presId="urn:microsoft.com/office/officeart/2008/layout/LinedList"/>
    <dgm:cxn modelId="{317EBB72-0F38-4DB6-B491-44A2678489D1}" type="presParOf" srcId="{E35E096C-807A-4958-AE03-62142827BE01}" destId="{42A59562-5F86-4A4B-9096-AC185E61972A}" srcOrd="2" destOrd="0" presId="urn:microsoft.com/office/officeart/2008/layout/LinedList"/>
    <dgm:cxn modelId="{2E3FCFA5-39B9-4C30-9ACD-0E923B3605E0}" type="presParOf" srcId="{E35E096C-807A-4958-AE03-62142827BE01}" destId="{8CA49026-F415-415E-8191-07457B1FA1F0}" srcOrd="3" destOrd="0" presId="urn:microsoft.com/office/officeart/2008/layout/LinedList"/>
    <dgm:cxn modelId="{F2C8776C-C3C7-47E0-AD17-8AD63EE7A81B}" type="presParOf" srcId="{E35E096C-807A-4958-AE03-62142827BE01}" destId="{72F7B539-ABFB-4CD9-9A3A-88DDD3B65BDF}" srcOrd="4" destOrd="0" presId="urn:microsoft.com/office/officeart/2008/layout/LinedList"/>
    <dgm:cxn modelId="{3763774A-FD96-4A75-8F52-1F49BC68D93A}" type="presParOf" srcId="{72F7B539-ABFB-4CD9-9A3A-88DDD3B65BDF}" destId="{E1ED799D-907F-4546-96F5-065E712B4999}" srcOrd="0" destOrd="0" presId="urn:microsoft.com/office/officeart/2008/layout/LinedList"/>
    <dgm:cxn modelId="{B1C0BD91-108F-4573-9F9B-1E474CD60236}" type="presParOf" srcId="{72F7B539-ABFB-4CD9-9A3A-88DDD3B65BDF}" destId="{4B800133-F679-4623-AE6A-3F5DF086A596}" srcOrd="1" destOrd="0" presId="urn:microsoft.com/office/officeart/2008/layout/LinedList"/>
    <dgm:cxn modelId="{3527B7F0-072B-471E-B36E-D0015D845822}" type="presParOf" srcId="{72F7B539-ABFB-4CD9-9A3A-88DDD3B65BDF}" destId="{3C7A5E5B-A0DC-4E0A-8B1F-205C7C770D9C}" srcOrd="2" destOrd="0" presId="urn:microsoft.com/office/officeart/2008/layout/LinedList"/>
    <dgm:cxn modelId="{386E535F-DCB0-4484-99E4-A8D14EA865EC}" type="presParOf" srcId="{E35E096C-807A-4958-AE03-62142827BE01}" destId="{E5846134-4761-4A4F-9CC8-D7F5CBD4826B}" srcOrd="5" destOrd="0" presId="urn:microsoft.com/office/officeart/2008/layout/LinedList"/>
    <dgm:cxn modelId="{8ED4D866-639F-47F5-9C21-0BFF14ECCB54}" type="presParOf" srcId="{E35E096C-807A-4958-AE03-62142827BE01}" destId="{ADD66B47-8F43-4C89-AECD-826A9C214CA6}" srcOrd="6" destOrd="0" presId="urn:microsoft.com/office/officeart/2008/layout/LinedList"/>
    <dgm:cxn modelId="{74217C11-9868-4090-9952-14D0E3A4C139}" type="presParOf" srcId="{4C4954B8-1EA5-4C8B-AF8B-C7E06587C9FA}" destId="{36DC88C2-A08D-4609-8C3A-6D698E919245}" srcOrd="2" destOrd="0" presId="urn:microsoft.com/office/officeart/2008/layout/LinedList"/>
    <dgm:cxn modelId="{757B9228-9F53-463F-A0DB-83ED7C02C8BF}" type="presParOf" srcId="{4C4954B8-1EA5-4C8B-AF8B-C7E06587C9FA}" destId="{8BE2AA2D-7EC0-4E84-B364-60B4E8D8107A}" srcOrd="3" destOrd="0" presId="urn:microsoft.com/office/officeart/2008/layout/LinedList"/>
    <dgm:cxn modelId="{571FFEDD-5D1B-497D-B06F-8200C6B9AFC5}" type="presParOf" srcId="{8BE2AA2D-7EC0-4E84-B364-60B4E8D8107A}" destId="{ACDCD946-7738-49EC-9C04-B5AFFC66E908}" srcOrd="0" destOrd="0" presId="urn:microsoft.com/office/officeart/2008/layout/LinedList"/>
    <dgm:cxn modelId="{9DBC8C4A-0F94-44FA-BD70-046BD440177B}" type="presParOf" srcId="{8BE2AA2D-7EC0-4E84-B364-60B4E8D8107A}" destId="{48A1B46D-3955-44E7-810F-DB4F9ED6BE25}" srcOrd="1" destOrd="0" presId="urn:microsoft.com/office/officeart/2008/layout/LinedList"/>
    <dgm:cxn modelId="{16E19E94-755F-42D0-81B5-A7AD3A7EE0C5}" type="presParOf" srcId="{48A1B46D-3955-44E7-810F-DB4F9ED6BE25}" destId="{7DFAB107-A80C-4122-8C80-1C3753252915}" srcOrd="0" destOrd="0" presId="urn:microsoft.com/office/officeart/2008/layout/LinedList"/>
    <dgm:cxn modelId="{AF365B22-B114-4F8D-A2EF-3E7C6DA2D825}" type="presParOf" srcId="{48A1B46D-3955-44E7-810F-DB4F9ED6BE25}" destId="{B3091A73-39A9-4894-8AD6-B26BC06B400D}" srcOrd="1" destOrd="0" presId="urn:microsoft.com/office/officeart/2008/layout/LinedList"/>
    <dgm:cxn modelId="{B0858AF0-9035-48DD-BA50-12B4C60896F4}" type="presParOf" srcId="{B3091A73-39A9-4894-8AD6-B26BC06B400D}" destId="{609384DC-556D-4D8B-A24F-1FC962DFA5E8}" srcOrd="0" destOrd="0" presId="urn:microsoft.com/office/officeart/2008/layout/LinedList"/>
    <dgm:cxn modelId="{3313EC62-5171-4561-AF1B-B87C8887B523}" type="presParOf" srcId="{B3091A73-39A9-4894-8AD6-B26BC06B400D}" destId="{8C09C92B-0F83-4C42-BC63-74E2840289BA}" srcOrd="1" destOrd="0" presId="urn:microsoft.com/office/officeart/2008/layout/LinedList"/>
    <dgm:cxn modelId="{317E2B87-FCCF-4001-AFD8-A2A10A9B0B51}" type="presParOf" srcId="{B3091A73-39A9-4894-8AD6-B26BC06B400D}" destId="{D0FF322C-E571-40CA-8FA0-10F3DE7D9EAA}" srcOrd="2" destOrd="0" presId="urn:microsoft.com/office/officeart/2008/layout/LinedList"/>
    <dgm:cxn modelId="{F520A6E2-C9CF-4A0E-8FDA-ECDB361B1B53}" type="presParOf" srcId="{48A1B46D-3955-44E7-810F-DB4F9ED6BE25}" destId="{EC80D39D-56AB-4F2D-BA47-EBDF6DD7E69F}" srcOrd="2" destOrd="0" presId="urn:microsoft.com/office/officeart/2008/layout/LinedList"/>
    <dgm:cxn modelId="{2838F1CA-C64F-401F-93BA-BE21A8C54203}" type="presParOf" srcId="{48A1B46D-3955-44E7-810F-DB4F9ED6BE25}" destId="{82685F09-6B7A-498F-9DB0-60149718A808}" srcOrd="3" destOrd="0" presId="urn:microsoft.com/office/officeart/2008/layout/LinedList"/>
    <dgm:cxn modelId="{A9DC0F6E-E8DE-46C8-BE1B-51C0A7AABA53}" type="presParOf" srcId="{48A1B46D-3955-44E7-810F-DB4F9ED6BE25}" destId="{CF65D5B5-D1B2-429E-BA49-8772FDBF4D52}" srcOrd="4" destOrd="0" presId="urn:microsoft.com/office/officeart/2008/layout/LinedList"/>
    <dgm:cxn modelId="{CA9A4298-BE8C-44DE-9221-50FA09EC2A6C}" type="presParOf" srcId="{CF65D5B5-D1B2-429E-BA49-8772FDBF4D52}" destId="{CCB63712-DB71-4FAF-A230-33F7B49EED79}" srcOrd="0" destOrd="0" presId="urn:microsoft.com/office/officeart/2008/layout/LinedList"/>
    <dgm:cxn modelId="{A79C624A-CA60-4649-8B3E-2F45876B63CF}" type="presParOf" srcId="{CF65D5B5-D1B2-429E-BA49-8772FDBF4D52}" destId="{3E92D8B7-338A-486B-A9AD-89C5CD62F4AB}" srcOrd="1" destOrd="0" presId="urn:microsoft.com/office/officeart/2008/layout/LinedList"/>
    <dgm:cxn modelId="{8A4416EB-54F4-45A2-8769-2B0EB8F95348}" type="presParOf" srcId="{CF65D5B5-D1B2-429E-BA49-8772FDBF4D52}" destId="{9B276BDD-659F-4496-B82A-93EF2E6E65CE}" srcOrd="2" destOrd="0" presId="urn:microsoft.com/office/officeart/2008/layout/LinedList"/>
    <dgm:cxn modelId="{6E509BA6-115F-4802-AA7A-124B58629A45}" type="presParOf" srcId="{48A1B46D-3955-44E7-810F-DB4F9ED6BE25}" destId="{674C7F7F-95C8-4532-9F1A-DC796B64C3C4}" srcOrd="5" destOrd="0" presId="urn:microsoft.com/office/officeart/2008/layout/LinedList"/>
    <dgm:cxn modelId="{EFD519C4-B5F3-4AD8-8E5C-A681505985F4}" type="presParOf" srcId="{48A1B46D-3955-44E7-810F-DB4F9ED6BE25}" destId="{B87CF0D0-56E3-467A-A20D-14C3521BCAEB}" srcOrd="6" destOrd="0" presId="urn:microsoft.com/office/officeart/2008/layout/LinedList"/>
    <dgm:cxn modelId="{AA8BBBA8-CBFE-4C9A-B60F-38F1D99E8D6F}" type="presParOf" srcId="{48A1B46D-3955-44E7-810F-DB4F9ED6BE25}" destId="{92F85496-AABD-43E6-923E-81742C644A9F}" srcOrd="7" destOrd="0" presId="urn:microsoft.com/office/officeart/2008/layout/LinedList"/>
    <dgm:cxn modelId="{170C097B-FB9D-4D36-B44F-817461D1ED0E}" type="presParOf" srcId="{92F85496-AABD-43E6-923E-81742C644A9F}" destId="{147B847A-67CB-4A70-AFFF-B405918CD25E}" srcOrd="0" destOrd="0" presId="urn:microsoft.com/office/officeart/2008/layout/LinedList"/>
    <dgm:cxn modelId="{F0B7FDA2-9F65-435B-8CB5-3FEE578ABDEB}" type="presParOf" srcId="{92F85496-AABD-43E6-923E-81742C644A9F}" destId="{986A12AC-D2AB-4539-8D44-85A6AE4BE74D}" srcOrd="1" destOrd="0" presId="urn:microsoft.com/office/officeart/2008/layout/LinedList"/>
    <dgm:cxn modelId="{D124A008-3EBF-4BDA-B5B4-F0D3D10A17E8}" type="presParOf" srcId="{92F85496-AABD-43E6-923E-81742C644A9F}" destId="{6C7B6F43-79B0-4496-9259-6D4048332DD3}" srcOrd="2" destOrd="0" presId="urn:microsoft.com/office/officeart/2008/layout/LinedList"/>
    <dgm:cxn modelId="{B6916340-B16A-4CE4-9BAE-F39E90120A7D}" type="presParOf" srcId="{48A1B46D-3955-44E7-810F-DB4F9ED6BE25}" destId="{43E71798-2A87-4250-95BC-57AA8A971C72}" srcOrd="8" destOrd="0" presId="urn:microsoft.com/office/officeart/2008/layout/LinedList"/>
    <dgm:cxn modelId="{E3B6D249-B15D-4E07-8E7D-73458B57CFF1}" type="presParOf" srcId="{48A1B46D-3955-44E7-810F-DB4F9ED6BE25}" destId="{004B03B1-B2F5-4DDD-AFA0-D494961F83B3}" srcOrd="9" destOrd="0" presId="urn:microsoft.com/office/officeart/2008/layout/LinedList"/>
    <dgm:cxn modelId="{0E29A7D0-5DE6-483D-A319-457A38CE84E2}" type="presParOf" srcId="{48A1B46D-3955-44E7-810F-DB4F9ED6BE25}" destId="{81B9FEF5-2BD9-4E5C-BF09-01F72E9918C3}" srcOrd="10" destOrd="0" presId="urn:microsoft.com/office/officeart/2008/layout/LinedList"/>
    <dgm:cxn modelId="{CEC6C9F9-0FB1-466A-A2EC-25C0395E9531}" type="presParOf" srcId="{81B9FEF5-2BD9-4E5C-BF09-01F72E9918C3}" destId="{2A10BC8F-0130-4DE7-B8E4-55C978FAFD16}" srcOrd="0" destOrd="0" presId="urn:microsoft.com/office/officeart/2008/layout/LinedList"/>
    <dgm:cxn modelId="{DDDDDA08-C3B2-4491-A9E1-2A086FA4DA87}" type="presParOf" srcId="{81B9FEF5-2BD9-4E5C-BF09-01F72E9918C3}" destId="{E5692C1E-D002-4828-A0E6-4A42A50ECD8D}" srcOrd="1" destOrd="0" presId="urn:microsoft.com/office/officeart/2008/layout/LinedList"/>
    <dgm:cxn modelId="{EFD5E7DD-D603-4431-BDAF-D3FE3A3C9F04}" type="presParOf" srcId="{81B9FEF5-2BD9-4E5C-BF09-01F72E9918C3}" destId="{53D78535-70D0-4062-9FD2-1227AC1D0468}" srcOrd="2" destOrd="0" presId="urn:microsoft.com/office/officeart/2008/layout/LinedList"/>
    <dgm:cxn modelId="{73708CDF-B270-4730-93BC-C033BEBAAAE9}" type="presParOf" srcId="{48A1B46D-3955-44E7-810F-DB4F9ED6BE25}" destId="{9F5DE818-0178-48CD-931A-9B5A0422A18F}" srcOrd="11" destOrd="0" presId="urn:microsoft.com/office/officeart/2008/layout/LinedList"/>
    <dgm:cxn modelId="{30D91BDC-E1E6-4D3E-ABD1-E9B899FA0F81}" type="presParOf" srcId="{48A1B46D-3955-44E7-810F-DB4F9ED6BE25}" destId="{C04F43EF-7C83-406C-8A68-D781165A2AFE}"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DABD98-E262-4BF2-B2A7-B8FF453DBD0C}">
      <dsp:nvSpPr>
        <dsp:cNvPr id="0" name=""/>
        <dsp:cNvSpPr/>
      </dsp:nvSpPr>
      <dsp:spPr>
        <a:xfrm>
          <a:off x="0" y="187325"/>
          <a:ext cx="5389033" cy="11705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mn-lt"/>
            </a:rPr>
            <a:t>Flooding alone has affected more than 10 million people in Sri Lanka over the past 30 years, with average annual disaster losses of approximately $313 million and roughly 750,000 people affected by natural disasters every year between 2011 and 2020 [9].</a:t>
          </a:r>
        </a:p>
      </dsp:txBody>
      <dsp:txXfrm>
        <a:off x="57143" y="244468"/>
        <a:ext cx="5274747" cy="1056298"/>
      </dsp:txXfrm>
    </dsp:sp>
    <dsp:sp modelId="{98E0A3B5-5D8F-4DEB-BDA1-2D7075BC653A}">
      <dsp:nvSpPr>
        <dsp:cNvPr id="0" name=""/>
        <dsp:cNvSpPr/>
      </dsp:nvSpPr>
      <dsp:spPr>
        <a:xfrm>
          <a:off x="0" y="1390351"/>
          <a:ext cx="5389033" cy="11705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mn-lt"/>
            </a:rPr>
            <a:t>Cyclone </a:t>
          </a:r>
          <a:r>
            <a:rPr lang="en-US" sz="1200" kern="1200" dirty="0" err="1">
              <a:latin typeface="+mn-lt"/>
            </a:rPr>
            <a:t>Ditwah</a:t>
          </a:r>
          <a:r>
            <a:rPr lang="en-US" sz="1200" kern="1200" dirty="0">
              <a:latin typeface="+mn-lt"/>
            </a:rPr>
            <a:t> (November–December 2025) demonstrated the scale of compounded flood-and-landslide risk: it affected all 25 districts, caused 639+ deaths, displaced or affected up to 2.2 million people, and caused an estimated $4.1–7 billion in damage - with the worst casualties concentrated in Kandy, Nuwara Eliya, and Badulla, where flooding and landslides struck the same communities simultaneously [7], [10].</a:t>
          </a:r>
        </a:p>
      </dsp:txBody>
      <dsp:txXfrm>
        <a:off x="57143" y="1447494"/>
        <a:ext cx="5274747" cy="1056298"/>
      </dsp:txXfrm>
    </dsp:sp>
    <dsp:sp modelId="{966F9AF3-4B95-4452-B2C5-7788F9A7BD7D}">
      <dsp:nvSpPr>
        <dsp:cNvPr id="0" name=""/>
        <dsp:cNvSpPr/>
      </dsp:nvSpPr>
      <dsp:spPr>
        <a:xfrm>
          <a:off x="0" y="2595496"/>
          <a:ext cx="5389033" cy="11705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Existing early-warning and response mechanisms operate as </a:t>
          </a:r>
          <a:r>
            <a:rPr lang="en-US" sz="1200" b="1" kern="1200"/>
            <a:t>separate, uncoordinated systems</a:t>
          </a:r>
          <a:r>
            <a:rPr lang="en-US" sz="1200" kern="1200"/>
            <a:t>: hazard-specific susceptibility mapping exists for floods and landslides independently, impact and vulnerability assessment is done ad hoc, and resource dispatch relies on manual coordination — with no integrated pipeline connecting predictive hazard output to prioritized, evidence-based emergency action.</a:t>
          </a:r>
        </a:p>
      </dsp:txBody>
      <dsp:txXfrm>
        <a:off x="57143" y="2652639"/>
        <a:ext cx="5274747" cy="1056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5DA04E-8F7E-4FE0-B296-562C7B82835F}">
      <dsp:nvSpPr>
        <dsp:cNvPr id="0" name=""/>
        <dsp:cNvSpPr/>
      </dsp:nvSpPr>
      <dsp:spPr>
        <a:xfrm>
          <a:off x="5706219" y="2106401"/>
          <a:ext cx="4480768" cy="710812"/>
        </a:xfrm>
        <a:custGeom>
          <a:avLst/>
          <a:gdLst/>
          <a:ahLst/>
          <a:cxnLst/>
          <a:rect l="0" t="0" r="0" b="0"/>
          <a:pathLst>
            <a:path>
              <a:moveTo>
                <a:pt x="0" y="0"/>
              </a:moveTo>
              <a:lnTo>
                <a:pt x="0" y="484398"/>
              </a:lnTo>
              <a:lnTo>
                <a:pt x="4480768" y="484398"/>
              </a:lnTo>
              <a:lnTo>
                <a:pt x="4480768" y="7108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C46ADF-1EF8-4E14-8940-D8A9A7D95210}">
      <dsp:nvSpPr>
        <dsp:cNvPr id="0" name=""/>
        <dsp:cNvSpPr/>
      </dsp:nvSpPr>
      <dsp:spPr>
        <a:xfrm>
          <a:off x="5706219" y="2106401"/>
          <a:ext cx="1493589" cy="710812"/>
        </a:xfrm>
        <a:custGeom>
          <a:avLst/>
          <a:gdLst/>
          <a:ahLst/>
          <a:cxnLst/>
          <a:rect l="0" t="0" r="0" b="0"/>
          <a:pathLst>
            <a:path>
              <a:moveTo>
                <a:pt x="0" y="0"/>
              </a:moveTo>
              <a:lnTo>
                <a:pt x="0" y="484398"/>
              </a:lnTo>
              <a:lnTo>
                <a:pt x="1493589" y="484398"/>
              </a:lnTo>
              <a:lnTo>
                <a:pt x="1493589" y="7108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5DD2ED-84A0-4137-B6C1-28828EB0929A}">
      <dsp:nvSpPr>
        <dsp:cNvPr id="0" name=""/>
        <dsp:cNvSpPr/>
      </dsp:nvSpPr>
      <dsp:spPr>
        <a:xfrm>
          <a:off x="4212629" y="2106401"/>
          <a:ext cx="1493589" cy="710812"/>
        </a:xfrm>
        <a:custGeom>
          <a:avLst/>
          <a:gdLst/>
          <a:ahLst/>
          <a:cxnLst/>
          <a:rect l="0" t="0" r="0" b="0"/>
          <a:pathLst>
            <a:path>
              <a:moveTo>
                <a:pt x="1493589" y="0"/>
              </a:moveTo>
              <a:lnTo>
                <a:pt x="1493589" y="484398"/>
              </a:lnTo>
              <a:lnTo>
                <a:pt x="0" y="484398"/>
              </a:lnTo>
              <a:lnTo>
                <a:pt x="0" y="7108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4B163F-C5EF-4B8C-A60B-AC920F40C508}">
      <dsp:nvSpPr>
        <dsp:cNvPr id="0" name=""/>
        <dsp:cNvSpPr/>
      </dsp:nvSpPr>
      <dsp:spPr>
        <a:xfrm>
          <a:off x="1225450" y="2106401"/>
          <a:ext cx="4480768" cy="710812"/>
        </a:xfrm>
        <a:custGeom>
          <a:avLst/>
          <a:gdLst/>
          <a:ahLst/>
          <a:cxnLst/>
          <a:rect l="0" t="0" r="0" b="0"/>
          <a:pathLst>
            <a:path>
              <a:moveTo>
                <a:pt x="4480768" y="0"/>
              </a:moveTo>
              <a:lnTo>
                <a:pt x="4480768" y="484398"/>
              </a:lnTo>
              <a:lnTo>
                <a:pt x="0" y="484398"/>
              </a:lnTo>
              <a:lnTo>
                <a:pt x="0" y="7108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53071E-37EC-49FF-90B6-D8951B234479}">
      <dsp:nvSpPr>
        <dsp:cNvPr id="0" name=""/>
        <dsp:cNvSpPr/>
      </dsp:nvSpPr>
      <dsp:spPr>
        <a:xfrm>
          <a:off x="4484191" y="554426"/>
          <a:ext cx="2444055" cy="15519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FEE4527-D368-4D29-B807-27E81F010E11}">
      <dsp:nvSpPr>
        <dsp:cNvPr id="0" name=""/>
        <dsp:cNvSpPr/>
      </dsp:nvSpPr>
      <dsp:spPr>
        <a:xfrm>
          <a:off x="4755753" y="812410"/>
          <a:ext cx="2444055" cy="15519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Target Market &amp; Customer Persona</a:t>
          </a:r>
          <a:endParaRPr lang="en-US" sz="1000" kern="1200"/>
        </a:p>
      </dsp:txBody>
      <dsp:txXfrm>
        <a:off x="4801209" y="857866"/>
        <a:ext cx="2353143" cy="1461063"/>
      </dsp:txXfrm>
    </dsp:sp>
    <dsp:sp modelId="{50733EFC-BBA1-43E5-BB64-E3390315B0C9}">
      <dsp:nvSpPr>
        <dsp:cNvPr id="0" name=""/>
        <dsp:cNvSpPr/>
      </dsp:nvSpPr>
      <dsp:spPr>
        <a:xfrm>
          <a:off x="3423" y="2817214"/>
          <a:ext cx="2444055" cy="15519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C1AAF5E-46CA-422E-913D-9B312EAB69C2}">
      <dsp:nvSpPr>
        <dsp:cNvPr id="0" name=""/>
        <dsp:cNvSpPr/>
      </dsp:nvSpPr>
      <dsp:spPr>
        <a:xfrm>
          <a:off x="274984" y="3075198"/>
          <a:ext cx="2444055" cy="15519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t>Primary market (paying customer):</a:t>
          </a:r>
          <a:r>
            <a:rPr lang="en-US" sz="1000" kern="1200" dirty="0"/>
            <a:t> Government disaster-management bodies  DMC, NBRO, District/Divisional Secretariats in landslide-prone districts (Nuwara Eliya, Kegalle, Badulla, Ratnapura)</a:t>
          </a:r>
        </a:p>
      </dsp:txBody>
      <dsp:txXfrm>
        <a:off x="320440" y="3120654"/>
        <a:ext cx="2353143" cy="1461063"/>
      </dsp:txXfrm>
    </dsp:sp>
    <dsp:sp modelId="{EC785BBE-B6D5-411F-9FAD-34370D57569D}">
      <dsp:nvSpPr>
        <dsp:cNvPr id="0" name=""/>
        <dsp:cNvSpPr/>
      </dsp:nvSpPr>
      <dsp:spPr>
        <a:xfrm>
          <a:off x="2990601" y="2817214"/>
          <a:ext cx="2444055" cy="15519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02CE8E2-7ECD-439D-9941-9D0E2DA67988}">
      <dsp:nvSpPr>
        <dsp:cNvPr id="0" name=""/>
        <dsp:cNvSpPr/>
      </dsp:nvSpPr>
      <dsp:spPr>
        <a:xfrm>
          <a:off x="3262163" y="3075198"/>
          <a:ext cx="2444055" cy="15519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Persona  "The District DMC Officer":</a:t>
          </a:r>
          <a:r>
            <a:rPr lang="en-US" sz="1000" kern="1200"/>
            <a:t> Mid-level official responsible for issuing early warnings and coordinating evacuation. Currently relies on manual rainfall bulletins and static NBRO maps; needs real-time, village-level risk visibility and defensible, explainable justification for evacuation orders</a:t>
          </a:r>
        </a:p>
      </dsp:txBody>
      <dsp:txXfrm>
        <a:off x="3307619" y="3120654"/>
        <a:ext cx="2353143" cy="1461063"/>
      </dsp:txXfrm>
    </dsp:sp>
    <dsp:sp modelId="{53D114D4-F846-4CAE-863C-070F438EE116}">
      <dsp:nvSpPr>
        <dsp:cNvPr id="0" name=""/>
        <dsp:cNvSpPr/>
      </dsp:nvSpPr>
      <dsp:spPr>
        <a:xfrm>
          <a:off x="5977780" y="2817214"/>
          <a:ext cx="2444055" cy="15519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BC8AE7F-4C12-4E2A-9DAA-71182628100E}">
      <dsp:nvSpPr>
        <dsp:cNvPr id="0" name=""/>
        <dsp:cNvSpPr/>
      </dsp:nvSpPr>
      <dsp:spPr>
        <a:xfrm>
          <a:off x="6249342" y="3075198"/>
          <a:ext cx="2444055" cy="15519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Secondary market (non-paying, indirect beneficiary):</a:t>
          </a:r>
          <a:r>
            <a:rPr lang="en-US" sz="1000" kern="1200"/>
            <a:t> Citizens in high-risk rural villages (Ambagamuwa, Kotmale, Walapane), especially elderly and non-technical residents</a:t>
          </a:r>
        </a:p>
      </dsp:txBody>
      <dsp:txXfrm>
        <a:off x="6294798" y="3120654"/>
        <a:ext cx="2353143" cy="1461063"/>
      </dsp:txXfrm>
    </dsp:sp>
    <dsp:sp modelId="{D91CA9C3-6B35-4D5F-BE93-9E78EC58FB2C}">
      <dsp:nvSpPr>
        <dsp:cNvPr id="0" name=""/>
        <dsp:cNvSpPr/>
      </dsp:nvSpPr>
      <dsp:spPr>
        <a:xfrm>
          <a:off x="8964959" y="2817214"/>
          <a:ext cx="2444055" cy="15519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9C1C2A6-9EA6-4FC0-A34E-05C6E0AAC132}">
      <dsp:nvSpPr>
        <dsp:cNvPr id="0" name=""/>
        <dsp:cNvSpPr/>
      </dsp:nvSpPr>
      <dsp:spPr>
        <a:xfrm>
          <a:off x="9236521" y="3075198"/>
          <a:ext cx="2444055" cy="15519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Tertiary market (future/adjacent):</a:t>
          </a:r>
          <a:r>
            <a:rPr lang="en-US" sz="1000" kern="1200"/>
            <a:t> NGOs and international disaster-response agencies (UNDRR, Red Cross) licensing aggregated hazard analytics for planning</a:t>
          </a:r>
        </a:p>
      </dsp:txBody>
      <dsp:txXfrm>
        <a:off x="9281977" y="3120654"/>
        <a:ext cx="2353143" cy="14610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4C2E92-4A41-49ED-A198-00DF46B6E726}">
      <dsp:nvSpPr>
        <dsp:cNvPr id="0" name=""/>
        <dsp:cNvSpPr/>
      </dsp:nvSpPr>
      <dsp:spPr>
        <a:xfrm>
          <a:off x="0" y="0"/>
          <a:ext cx="5384800" cy="0"/>
        </a:xfrm>
        <a:prstGeom prst="line">
          <a:avLst/>
        </a:prstGeom>
        <a:gradFill rotWithShape="0">
          <a:gsLst>
            <a:gs pos="0">
              <a:schemeClr val="accent1">
                <a:hueOff val="0"/>
                <a:satOff val="0"/>
                <a:lumOff val="0"/>
                <a:alphaOff val="0"/>
                <a:tint val="73000"/>
                <a:shade val="100000"/>
                <a:satMod val="150000"/>
              </a:schemeClr>
            </a:gs>
            <a:gs pos="25000">
              <a:schemeClr val="accent1">
                <a:hueOff val="0"/>
                <a:satOff val="0"/>
                <a:lumOff val="0"/>
                <a:alphaOff val="0"/>
                <a:tint val="96000"/>
                <a:shade val="80000"/>
                <a:satMod val="105000"/>
              </a:schemeClr>
            </a:gs>
            <a:gs pos="38000">
              <a:schemeClr val="accent1">
                <a:hueOff val="0"/>
                <a:satOff val="0"/>
                <a:lumOff val="0"/>
                <a:alphaOff val="0"/>
                <a:tint val="96000"/>
                <a:shade val="59000"/>
                <a:satMod val="120000"/>
              </a:schemeClr>
            </a:gs>
            <a:gs pos="55000">
              <a:schemeClr val="accent1">
                <a:hueOff val="0"/>
                <a:satOff val="0"/>
                <a:lumOff val="0"/>
                <a:alphaOff val="0"/>
                <a:tint val="100000"/>
                <a:shade val="57000"/>
                <a:satMod val="120000"/>
              </a:schemeClr>
            </a:gs>
            <a:gs pos="80000">
              <a:schemeClr val="accent1">
                <a:hueOff val="0"/>
                <a:satOff val="0"/>
                <a:lumOff val="0"/>
                <a:alphaOff val="0"/>
                <a:tint val="100000"/>
                <a:shade val="56000"/>
                <a:satMod val="145000"/>
              </a:schemeClr>
            </a:gs>
            <a:gs pos="88000">
              <a:schemeClr val="accent1">
                <a:hueOff val="0"/>
                <a:satOff val="0"/>
                <a:lumOff val="0"/>
                <a:alphaOff val="0"/>
                <a:tint val="100000"/>
                <a:shade val="63000"/>
                <a:satMod val="160000"/>
              </a:schemeClr>
            </a:gs>
            <a:gs pos="100000">
              <a:schemeClr val="accent1">
                <a:hueOff val="0"/>
                <a:satOff val="0"/>
                <a:lumOff val="0"/>
                <a:alphaOff val="0"/>
                <a:tint val="99000"/>
                <a:shade val="100000"/>
                <a:satMod val="155000"/>
              </a:schemeClr>
            </a:gs>
          </a:gsLst>
          <a:lin ang="5400000" scaled="0"/>
        </a:gradFill>
        <a:ln w="9525" cap="flat" cmpd="sng" algn="ctr">
          <a:solidFill>
            <a:schemeClr val="accent1">
              <a:hueOff val="0"/>
              <a:satOff val="0"/>
              <a:lumOff val="0"/>
              <a:alphaOff val="0"/>
            </a:schemeClr>
          </a:solidFill>
          <a:prstDash val="solid"/>
        </a:ln>
        <a:effectLst>
          <a:glow rad="50800">
            <a:schemeClr val="accent1">
              <a:hueOff val="0"/>
              <a:satOff val="0"/>
              <a:lumOff val="0"/>
              <a:alphaOff val="0"/>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accent1">
              <a:hueOff val="0"/>
              <a:satOff val="0"/>
              <a:lumOff val="0"/>
              <a:alphaOff val="0"/>
              <a:shade val="30000"/>
              <a:satMod val="150000"/>
            </a:schemeClr>
          </a:contourClr>
        </a:sp3d>
      </dsp:spPr>
      <dsp:style>
        <a:lnRef idx="1">
          <a:scrgbClr r="0" g="0" b="0"/>
        </a:lnRef>
        <a:fillRef idx="3">
          <a:scrgbClr r="0" g="0" b="0"/>
        </a:fillRef>
        <a:effectRef idx="3">
          <a:scrgbClr r="0" g="0" b="0"/>
        </a:effectRef>
        <a:fontRef idx="minor">
          <a:schemeClr val="lt1"/>
        </a:fontRef>
      </dsp:style>
    </dsp:sp>
    <dsp:sp modelId="{395B2E73-3A27-4775-A9BE-AD9CC01A046D}">
      <dsp:nvSpPr>
        <dsp:cNvPr id="0" name=""/>
        <dsp:cNvSpPr/>
      </dsp:nvSpPr>
      <dsp:spPr>
        <a:xfrm>
          <a:off x="0" y="0"/>
          <a:ext cx="107696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Value Proposition</a:t>
          </a:r>
          <a:endParaRPr lang="en-US" sz="1400" kern="1200"/>
        </a:p>
      </dsp:txBody>
      <dsp:txXfrm>
        <a:off x="0" y="0"/>
        <a:ext cx="1076960" cy="2262981"/>
      </dsp:txXfrm>
    </dsp:sp>
    <dsp:sp modelId="{A1894364-F431-48D9-B28D-5926CE88B746}">
      <dsp:nvSpPr>
        <dsp:cNvPr id="0" name=""/>
        <dsp:cNvSpPr/>
      </dsp:nvSpPr>
      <dsp:spPr>
        <a:xfrm>
          <a:off x="1157731" y="52596"/>
          <a:ext cx="4227068" cy="1051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For government agencies:</a:t>
          </a:r>
          <a:r>
            <a:rPr lang="en-US" sz="1100" kern="1200"/>
            <a:t> a single, explainable, village-level landslide risk system that replaces scattered manual processes across NBRO/DMC/Meteorology, reduces time from rainfall event to actionable warning, and gives an auditable explanation of why an area is flagged high-risk</a:t>
          </a:r>
        </a:p>
      </dsp:txBody>
      <dsp:txXfrm>
        <a:off x="1157731" y="52596"/>
        <a:ext cx="4227068" cy="1051932"/>
      </dsp:txXfrm>
    </dsp:sp>
    <dsp:sp modelId="{42A59562-5F86-4A4B-9096-AC185E61972A}">
      <dsp:nvSpPr>
        <dsp:cNvPr id="0" name=""/>
        <dsp:cNvSpPr/>
      </dsp:nvSpPr>
      <dsp:spPr>
        <a:xfrm>
          <a:off x="1076959" y="1104529"/>
          <a:ext cx="4307840" cy="0"/>
        </a:xfrm>
        <a:prstGeom prst="line">
          <a:avLst/>
        </a:prstGeom>
        <a:noFill/>
        <a:ln w="9525" cap="flat" cmpd="sng" algn="ctr">
          <a:solidFill>
            <a:schemeClr val="accent1">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4B800133-F679-4623-AE6A-3F5DF086A596}">
      <dsp:nvSpPr>
        <dsp:cNvPr id="0" name=""/>
        <dsp:cNvSpPr/>
      </dsp:nvSpPr>
      <dsp:spPr>
        <a:xfrm>
          <a:off x="1157731" y="1157126"/>
          <a:ext cx="4227068" cy="1051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For citizens:</a:t>
          </a:r>
          <a:r>
            <a:rPr lang="en-US" sz="1100" kern="1200"/>
            <a:t> a free, localized, accessible way to check their own area's risk without interpreting technical hazard maps</a:t>
          </a:r>
        </a:p>
      </dsp:txBody>
      <dsp:txXfrm>
        <a:off x="1157731" y="1157126"/>
        <a:ext cx="4227068" cy="1051932"/>
      </dsp:txXfrm>
    </dsp:sp>
    <dsp:sp modelId="{E5846134-4761-4A4F-9CC8-D7F5CBD4826B}">
      <dsp:nvSpPr>
        <dsp:cNvPr id="0" name=""/>
        <dsp:cNvSpPr/>
      </dsp:nvSpPr>
      <dsp:spPr>
        <a:xfrm>
          <a:off x="1076959" y="2209058"/>
          <a:ext cx="4307840" cy="0"/>
        </a:xfrm>
        <a:prstGeom prst="line">
          <a:avLst/>
        </a:prstGeom>
        <a:noFill/>
        <a:ln w="9525" cap="flat" cmpd="sng" algn="ctr">
          <a:solidFill>
            <a:schemeClr val="accent1">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36DC88C2-A08D-4609-8C3A-6D698E919245}">
      <dsp:nvSpPr>
        <dsp:cNvPr id="0" name=""/>
        <dsp:cNvSpPr/>
      </dsp:nvSpPr>
      <dsp:spPr>
        <a:xfrm>
          <a:off x="0" y="2262981"/>
          <a:ext cx="5384800" cy="0"/>
        </a:xfrm>
        <a:prstGeom prst="line">
          <a:avLst/>
        </a:prstGeom>
        <a:gradFill rotWithShape="0">
          <a:gsLst>
            <a:gs pos="0">
              <a:schemeClr val="accent1">
                <a:hueOff val="0"/>
                <a:satOff val="0"/>
                <a:lumOff val="0"/>
                <a:alphaOff val="0"/>
                <a:tint val="73000"/>
                <a:shade val="100000"/>
                <a:satMod val="150000"/>
              </a:schemeClr>
            </a:gs>
            <a:gs pos="25000">
              <a:schemeClr val="accent1">
                <a:hueOff val="0"/>
                <a:satOff val="0"/>
                <a:lumOff val="0"/>
                <a:alphaOff val="0"/>
                <a:tint val="96000"/>
                <a:shade val="80000"/>
                <a:satMod val="105000"/>
              </a:schemeClr>
            </a:gs>
            <a:gs pos="38000">
              <a:schemeClr val="accent1">
                <a:hueOff val="0"/>
                <a:satOff val="0"/>
                <a:lumOff val="0"/>
                <a:alphaOff val="0"/>
                <a:tint val="96000"/>
                <a:shade val="59000"/>
                <a:satMod val="120000"/>
              </a:schemeClr>
            </a:gs>
            <a:gs pos="55000">
              <a:schemeClr val="accent1">
                <a:hueOff val="0"/>
                <a:satOff val="0"/>
                <a:lumOff val="0"/>
                <a:alphaOff val="0"/>
                <a:tint val="100000"/>
                <a:shade val="57000"/>
                <a:satMod val="120000"/>
              </a:schemeClr>
            </a:gs>
            <a:gs pos="80000">
              <a:schemeClr val="accent1">
                <a:hueOff val="0"/>
                <a:satOff val="0"/>
                <a:lumOff val="0"/>
                <a:alphaOff val="0"/>
                <a:tint val="100000"/>
                <a:shade val="56000"/>
                <a:satMod val="145000"/>
              </a:schemeClr>
            </a:gs>
            <a:gs pos="88000">
              <a:schemeClr val="accent1">
                <a:hueOff val="0"/>
                <a:satOff val="0"/>
                <a:lumOff val="0"/>
                <a:alphaOff val="0"/>
                <a:tint val="100000"/>
                <a:shade val="63000"/>
                <a:satMod val="160000"/>
              </a:schemeClr>
            </a:gs>
            <a:gs pos="100000">
              <a:schemeClr val="accent1">
                <a:hueOff val="0"/>
                <a:satOff val="0"/>
                <a:lumOff val="0"/>
                <a:alphaOff val="0"/>
                <a:tint val="99000"/>
                <a:shade val="100000"/>
                <a:satMod val="155000"/>
              </a:schemeClr>
            </a:gs>
          </a:gsLst>
          <a:lin ang="5400000" scaled="0"/>
        </a:gradFill>
        <a:ln w="9525" cap="flat" cmpd="sng" algn="ctr">
          <a:solidFill>
            <a:schemeClr val="accent1">
              <a:hueOff val="0"/>
              <a:satOff val="0"/>
              <a:lumOff val="0"/>
              <a:alphaOff val="0"/>
            </a:schemeClr>
          </a:solidFill>
          <a:prstDash val="solid"/>
        </a:ln>
        <a:effectLst>
          <a:glow rad="50800">
            <a:schemeClr val="accent1">
              <a:hueOff val="0"/>
              <a:satOff val="0"/>
              <a:lumOff val="0"/>
              <a:alphaOff val="0"/>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accent1">
              <a:hueOff val="0"/>
              <a:satOff val="0"/>
              <a:lumOff val="0"/>
              <a:alphaOff val="0"/>
              <a:shade val="30000"/>
              <a:satMod val="150000"/>
            </a:schemeClr>
          </a:contourClr>
        </a:sp3d>
      </dsp:spPr>
      <dsp:style>
        <a:lnRef idx="1">
          <a:scrgbClr r="0" g="0" b="0"/>
        </a:lnRef>
        <a:fillRef idx="3">
          <a:scrgbClr r="0" g="0" b="0"/>
        </a:fillRef>
        <a:effectRef idx="3">
          <a:scrgbClr r="0" g="0" b="0"/>
        </a:effectRef>
        <a:fontRef idx="minor">
          <a:schemeClr val="lt1"/>
        </a:fontRef>
      </dsp:style>
    </dsp:sp>
    <dsp:sp modelId="{ACDCD946-7738-49EC-9C04-B5AFFC66E908}">
      <dsp:nvSpPr>
        <dsp:cNvPr id="0" name=""/>
        <dsp:cNvSpPr/>
      </dsp:nvSpPr>
      <dsp:spPr>
        <a:xfrm>
          <a:off x="0" y="2262981"/>
          <a:ext cx="107696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Revenue Model</a:t>
          </a:r>
          <a:endParaRPr lang="en-US" sz="1400" kern="1200"/>
        </a:p>
      </dsp:txBody>
      <dsp:txXfrm>
        <a:off x="0" y="2262981"/>
        <a:ext cx="1076960" cy="2262981"/>
      </dsp:txXfrm>
    </dsp:sp>
    <dsp:sp modelId="{8C09C92B-0F83-4C42-BC63-74E2840289BA}">
      <dsp:nvSpPr>
        <dsp:cNvPr id="0" name=""/>
        <dsp:cNvSpPr/>
      </dsp:nvSpPr>
      <dsp:spPr>
        <a:xfrm>
          <a:off x="1157731" y="2289583"/>
          <a:ext cx="4227068" cy="53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B2G licensing/SaaS subscription - annual/multi-year fee paid by DMC/NBRO via government IT procurement</a:t>
          </a:r>
        </a:p>
      </dsp:txBody>
      <dsp:txXfrm>
        <a:off x="1157731" y="2289583"/>
        <a:ext cx="4227068" cy="532043"/>
      </dsp:txXfrm>
    </dsp:sp>
    <dsp:sp modelId="{EC80D39D-56AB-4F2D-BA47-EBDF6DD7E69F}">
      <dsp:nvSpPr>
        <dsp:cNvPr id="0" name=""/>
        <dsp:cNvSpPr/>
      </dsp:nvSpPr>
      <dsp:spPr>
        <a:xfrm>
          <a:off x="1076959" y="2821627"/>
          <a:ext cx="4307840" cy="0"/>
        </a:xfrm>
        <a:prstGeom prst="line">
          <a:avLst/>
        </a:prstGeom>
        <a:noFill/>
        <a:ln w="9525" cap="flat" cmpd="sng" algn="ctr">
          <a:solidFill>
            <a:schemeClr val="accent1">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3E92D8B7-338A-486B-A9AD-89C5CD62F4AB}">
      <dsp:nvSpPr>
        <dsp:cNvPr id="0" name=""/>
        <dsp:cNvSpPr/>
      </dsp:nvSpPr>
      <dsp:spPr>
        <a:xfrm>
          <a:off x="1157731" y="2848229"/>
          <a:ext cx="4227068" cy="53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Grant/donor-funded deployment - World Bank, UNDP, ADB disaster-resilience grants, or Sri Lanka's own disaster-risk-reduction budget</a:t>
          </a:r>
        </a:p>
      </dsp:txBody>
      <dsp:txXfrm>
        <a:off x="1157731" y="2848229"/>
        <a:ext cx="4227068" cy="532043"/>
      </dsp:txXfrm>
    </dsp:sp>
    <dsp:sp modelId="{674C7F7F-95C8-4532-9F1A-DC796B64C3C4}">
      <dsp:nvSpPr>
        <dsp:cNvPr id="0" name=""/>
        <dsp:cNvSpPr/>
      </dsp:nvSpPr>
      <dsp:spPr>
        <a:xfrm>
          <a:off x="1076959" y="3380273"/>
          <a:ext cx="4307840" cy="0"/>
        </a:xfrm>
        <a:prstGeom prst="line">
          <a:avLst/>
        </a:prstGeom>
        <a:noFill/>
        <a:ln w="9525" cap="flat" cmpd="sng" algn="ctr">
          <a:solidFill>
            <a:schemeClr val="accent1">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986A12AC-D2AB-4539-8D44-85A6AE4BE74D}">
      <dsp:nvSpPr>
        <dsp:cNvPr id="0" name=""/>
        <dsp:cNvSpPr/>
      </dsp:nvSpPr>
      <dsp:spPr>
        <a:xfrm>
          <a:off x="1157731" y="3406875"/>
          <a:ext cx="4227068" cy="53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Free citizen tier - public Web-GIS map and alerts stay free; this is the public-good delivery mechanism, not a revenue line</a:t>
          </a:r>
        </a:p>
      </dsp:txBody>
      <dsp:txXfrm>
        <a:off x="1157731" y="3406875"/>
        <a:ext cx="4227068" cy="532043"/>
      </dsp:txXfrm>
    </dsp:sp>
    <dsp:sp modelId="{43E71798-2A87-4250-95BC-57AA8A971C72}">
      <dsp:nvSpPr>
        <dsp:cNvPr id="0" name=""/>
        <dsp:cNvSpPr/>
      </dsp:nvSpPr>
      <dsp:spPr>
        <a:xfrm>
          <a:off x="1076959" y="3938919"/>
          <a:ext cx="4307840" cy="0"/>
        </a:xfrm>
        <a:prstGeom prst="line">
          <a:avLst/>
        </a:prstGeom>
        <a:noFill/>
        <a:ln w="9525" cap="flat" cmpd="sng" algn="ctr">
          <a:solidFill>
            <a:schemeClr val="accent1">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E5692C1E-D002-4828-A0E6-4A42A50ECD8D}">
      <dsp:nvSpPr>
        <dsp:cNvPr id="0" name=""/>
        <dsp:cNvSpPr/>
      </dsp:nvSpPr>
      <dsp:spPr>
        <a:xfrm>
          <a:off x="1157731" y="3965521"/>
          <a:ext cx="4227068" cy="53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Optional data/API licensing - aggregated hazard analytics licensed to NGOs/research institutions as a secondary stream</a:t>
          </a:r>
        </a:p>
      </dsp:txBody>
      <dsp:txXfrm>
        <a:off x="1157731" y="3965521"/>
        <a:ext cx="4227068" cy="532043"/>
      </dsp:txXfrm>
    </dsp:sp>
    <dsp:sp modelId="{9F5DE818-0178-48CD-931A-9B5A0422A18F}">
      <dsp:nvSpPr>
        <dsp:cNvPr id="0" name=""/>
        <dsp:cNvSpPr/>
      </dsp:nvSpPr>
      <dsp:spPr>
        <a:xfrm>
          <a:off x="1076959" y="4497565"/>
          <a:ext cx="4307840" cy="0"/>
        </a:xfrm>
        <a:prstGeom prst="line">
          <a:avLst/>
        </a:prstGeom>
        <a:noFill/>
        <a:ln w="9525" cap="flat" cmpd="sng" algn="ctr">
          <a:solidFill>
            <a:schemeClr val="accent1">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3">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9/15/2026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5B499-0EE7-BF8D-4A6C-09E31E931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B0324-8145-7BBF-2D05-EACC527D3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6031B-8563-7CC1-0218-FCFACE22A6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021C02-47B8-4A46-75BD-D7B32C93E98D}"/>
              </a:ext>
            </a:extLst>
          </p:cNvPr>
          <p:cNvSpPr>
            <a:spLocks noGrp="1"/>
          </p:cNvSpPr>
          <p:nvPr>
            <p:ph type="sldNum" sz="quarter" idx="5"/>
          </p:nvPr>
        </p:nvSpPr>
        <p:spPr/>
        <p:txBody>
          <a:bodyPr/>
          <a:lstStyle/>
          <a:p>
            <a:fld id="{6C0B8AC8-E212-48B2-9917-7448FC83DD17}" type="slidenum">
              <a:rPr lang="en-US" smtClean="0"/>
              <a:t>10</a:t>
            </a:fld>
            <a:endParaRPr lang="en-US"/>
          </a:p>
        </p:txBody>
      </p:sp>
    </p:spTree>
    <p:extLst>
      <p:ext uri="{BB962C8B-B14F-4D97-AF65-F5344CB8AC3E}">
        <p14:creationId xmlns:p14="http://schemas.microsoft.com/office/powerpoint/2010/main" val="2464377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0B8AC8-E212-48B2-9917-7448FC83DD17}" type="slidenum">
              <a:rPr lang="en-US" smtClean="0"/>
              <a:t>15</a:t>
            </a:fld>
            <a:endParaRPr lang="en-US"/>
          </a:p>
        </p:txBody>
      </p:sp>
    </p:spTree>
    <p:extLst>
      <p:ext uri="{BB962C8B-B14F-4D97-AF65-F5344CB8AC3E}">
        <p14:creationId xmlns:p14="http://schemas.microsoft.com/office/powerpoint/2010/main" val="2263376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0B8AC8-E212-48B2-9917-7448FC83DD17}" type="slidenum">
              <a:rPr lang="en-US" smtClean="0"/>
              <a:t>17</a:t>
            </a:fld>
            <a:endParaRPr lang="en-US"/>
          </a:p>
        </p:txBody>
      </p:sp>
    </p:spTree>
    <p:extLst>
      <p:ext uri="{BB962C8B-B14F-4D97-AF65-F5344CB8AC3E}">
        <p14:creationId xmlns:p14="http://schemas.microsoft.com/office/powerpoint/2010/main" val="2069503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F477-120D-8477-8B5F-65AC28AAB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6BFAE-27FF-2E04-689F-8F61A902E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1F84B-C475-DAD0-AA32-739925305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BF61F3-4E7E-C7E3-2669-B150C2457031}"/>
              </a:ext>
            </a:extLst>
          </p:cNvPr>
          <p:cNvSpPr>
            <a:spLocks noGrp="1"/>
          </p:cNvSpPr>
          <p:nvPr>
            <p:ph type="sldNum" sz="quarter" idx="5"/>
          </p:nvPr>
        </p:nvSpPr>
        <p:spPr/>
        <p:txBody>
          <a:bodyPr/>
          <a:lstStyle/>
          <a:p>
            <a:fld id="{6C0B8AC8-E212-48B2-9917-7448FC83DD17}" type="slidenum">
              <a:rPr lang="en-US" smtClean="0"/>
              <a:t>24</a:t>
            </a:fld>
            <a:endParaRPr lang="en-US"/>
          </a:p>
        </p:txBody>
      </p:sp>
    </p:spTree>
    <p:extLst>
      <p:ext uri="{BB962C8B-B14F-4D97-AF65-F5344CB8AC3E}">
        <p14:creationId xmlns:p14="http://schemas.microsoft.com/office/powerpoint/2010/main" val="3543161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4AA2-881A-A056-3BA8-0E89064D8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DB03B-EF58-0879-6399-F2A46FDA7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432C1-1CEE-8C94-DD5B-539C63AC30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55FD9C-6328-D32D-DEED-DF99851EB29E}"/>
              </a:ext>
            </a:extLst>
          </p:cNvPr>
          <p:cNvSpPr>
            <a:spLocks noGrp="1"/>
          </p:cNvSpPr>
          <p:nvPr>
            <p:ph type="sldNum" sz="quarter" idx="5"/>
          </p:nvPr>
        </p:nvSpPr>
        <p:spPr/>
        <p:txBody>
          <a:bodyPr/>
          <a:lstStyle/>
          <a:p>
            <a:fld id="{6C0B8AC8-E212-48B2-9917-7448FC83DD17}" type="slidenum">
              <a:rPr lang="en-US" smtClean="0"/>
              <a:t>30</a:t>
            </a:fld>
            <a:endParaRPr lang="en-US"/>
          </a:p>
        </p:txBody>
      </p:sp>
    </p:spTree>
    <p:extLst>
      <p:ext uri="{BB962C8B-B14F-4D97-AF65-F5344CB8AC3E}">
        <p14:creationId xmlns:p14="http://schemas.microsoft.com/office/powerpoint/2010/main" val="3024930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0B8AC8-E212-48B2-9917-7448FC83DD17}" type="slidenum">
              <a:rPr lang="en-US" smtClean="0"/>
              <a:t>38</a:t>
            </a:fld>
            <a:endParaRPr lang="en-US"/>
          </a:p>
        </p:txBody>
      </p:sp>
    </p:spTree>
    <p:extLst>
      <p:ext uri="{BB962C8B-B14F-4D97-AF65-F5344CB8AC3E}">
        <p14:creationId xmlns:p14="http://schemas.microsoft.com/office/powerpoint/2010/main" val="1866905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dirty="0"/>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ITXXXXXXXX</a:t>
            </a:r>
            <a:r>
              <a:rPr lang="en-US" sz="1800" dirty="0">
                <a:solidFill>
                  <a:schemeClr val="tx1"/>
                </a:solidFill>
              </a:rPr>
              <a:t>   |   &lt;</a:t>
            </a:r>
            <a:r>
              <a:rPr lang="en-US" sz="1800" b="1" dirty="0">
                <a:solidFill>
                  <a:schemeClr val="tx1"/>
                </a:solidFill>
              </a:rPr>
              <a:t>&lt;Student Name&gt;&gt;   </a:t>
            </a:r>
            <a:r>
              <a:rPr lang="en-US" sz="1800" dirty="0">
                <a:solidFill>
                  <a:schemeClr val="tx1"/>
                </a:solidFill>
              </a:rPr>
              <a:t>|   </a:t>
            </a:r>
            <a:r>
              <a:rPr lang="en-US" sz="1800" b="0" dirty="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9/15/2026</a:t>
            </a:fld>
            <a:endParaRPr lang="en-US" sz="1200" b="1" dirty="0"/>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75E098-F3D0-453C-BBF5-A7C840F21FD8}"/>
              </a:ext>
            </a:extLst>
          </p:cNvPr>
          <p:cNvSpPr>
            <a:spLocks noGrp="1"/>
          </p:cNvSpPr>
          <p:nvPr>
            <p:ph type="ctrTitle"/>
          </p:nvPr>
        </p:nvSpPr>
        <p:spPr>
          <a:xfrm>
            <a:off x="914400" y="1763711"/>
            <a:ext cx="10363200" cy="1470025"/>
          </a:xfrm>
        </p:spPr>
        <p:txBody>
          <a:bodyPr>
            <a:normAutofit fontScale="90000"/>
          </a:bodyPr>
          <a:lstStyle/>
          <a:p>
            <a:r>
              <a:rPr lang="en-US" dirty="0"/>
              <a:t>Integrated Flood and Landslide Risk Assessment and Response System for Sri Lanka</a:t>
            </a:r>
          </a:p>
        </p:txBody>
      </p:sp>
      <p:sp>
        <p:nvSpPr>
          <p:cNvPr id="5" name="Subtitle 4">
            <a:extLst>
              <a:ext uri="{FF2B5EF4-FFF2-40B4-BE49-F238E27FC236}">
                <a16:creationId xmlns:a16="http://schemas.microsoft.com/office/drawing/2014/main" id="{288F3F03-40A0-499D-BDCC-A8E886D9D7C4}"/>
              </a:ext>
            </a:extLst>
          </p:cNvPr>
          <p:cNvSpPr>
            <a:spLocks noGrp="1"/>
          </p:cNvSpPr>
          <p:nvPr>
            <p:ph type="subTitle" idx="1"/>
          </p:nvPr>
        </p:nvSpPr>
        <p:spPr>
          <a:xfrm>
            <a:off x="4876800" y="4359276"/>
            <a:ext cx="2667000" cy="533400"/>
          </a:xfrm>
        </p:spPr>
        <p:txBody>
          <a:bodyPr>
            <a:normAutofit lnSpcReduction="10000"/>
          </a:bodyPr>
          <a:lstStyle/>
          <a:p>
            <a:r>
              <a:rPr lang="en-GB" dirty="0"/>
              <a:t>J26-IT-334</a:t>
            </a:r>
            <a:endParaRPr lang="en-US" dirty="0"/>
          </a:p>
        </p:txBody>
      </p:sp>
    </p:spTree>
    <p:extLst>
      <p:ext uri="{BB962C8B-B14F-4D97-AF65-F5344CB8AC3E}">
        <p14:creationId xmlns:p14="http://schemas.microsoft.com/office/powerpoint/2010/main" val="381388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FCB7-EC63-495B-9ED3-9E3A0892BB67}"/>
              </a:ext>
            </a:extLst>
          </p:cNvPr>
          <p:cNvSpPr>
            <a:spLocks noGrp="1"/>
          </p:cNvSpPr>
          <p:nvPr>
            <p:ph type="title"/>
          </p:nvPr>
        </p:nvSpPr>
        <p:spPr>
          <a:xfrm>
            <a:off x="304800" y="304800"/>
            <a:ext cx="11684000" cy="792162"/>
          </a:xfrm>
        </p:spPr>
        <p:txBody>
          <a:bodyPr anchor="ctr">
            <a:normAutofit/>
          </a:bodyPr>
          <a:lstStyle/>
          <a:p>
            <a:r>
              <a:rPr lang="en-US" dirty="0"/>
              <a:t>Overall Project Description</a:t>
            </a:r>
          </a:p>
        </p:txBody>
      </p:sp>
      <p:sp>
        <p:nvSpPr>
          <p:cNvPr id="3" name="Subtitle 2">
            <a:extLst>
              <a:ext uri="{FF2B5EF4-FFF2-40B4-BE49-F238E27FC236}">
                <a16:creationId xmlns:a16="http://schemas.microsoft.com/office/drawing/2014/main" id="{7EBE3555-8168-4DEE-B3B9-3186A75E168A}"/>
              </a:ext>
            </a:extLst>
          </p:cNvPr>
          <p:cNvSpPr>
            <a:spLocks noGrp="1"/>
          </p:cNvSpPr>
          <p:nvPr>
            <p:ph type="body" idx="1"/>
          </p:nvPr>
        </p:nvSpPr>
        <p:spPr>
          <a:xfrm>
            <a:off x="838200" y="1353871"/>
            <a:ext cx="5158316" cy="474929"/>
          </a:xfrm>
        </p:spPr>
        <p:txBody>
          <a:bodyPr anchor="b">
            <a:normAutofit/>
          </a:bodyPr>
          <a:lstStyle/>
          <a:p>
            <a:r>
              <a:rPr lang="en-GB" b="1" u="sng" dirty="0"/>
              <a:t>Research Problem</a:t>
            </a:r>
            <a:endParaRPr lang="en-US" b="1" u="sng" dirty="0"/>
          </a:p>
        </p:txBody>
      </p:sp>
      <p:pic>
        <p:nvPicPr>
          <p:cNvPr id="12" name="Content Placeholder 11" descr="Sri Lanka's capital hit by floods as cyclone death toll nears 200 | Sri Lanka | The Guardian">
            <a:extLst>
              <a:ext uri="{FF2B5EF4-FFF2-40B4-BE49-F238E27FC236}">
                <a16:creationId xmlns:a16="http://schemas.microsoft.com/office/drawing/2014/main" id="{36C2A5AA-7465-4594-9116-D10369F4AD30}"/>
              </a:ext>
            </a:extLst>
          </p:cNvPr>
          <p:cNvPicPr>
            <a:picLocks noGrp="1" noChangeAspect="1"/>
          </p:cNvPicPr>
          <p:nvPr>
            <p:ph sz="half" idx="2"/>
          </p:nvPr>
        </p:nvPicPr>
        <p:blipFill>
          <a:blip r:embed="rId2"/>
          <a:stretch>
            <a:fillRect/>
          </a:stretch>
        </p:blipFill>
        <p:spPr>
          <a:xfrm>
            <a:off x="990600" y="1929847"/>
            <a:ext cx="4648200" cy="41910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076D0696-51F6-0DA8-EB81-26B290483E0B}"/>
              </a:ext>
            </a:extLst>
          </p:cNvPr>
          <p:cNvSpPr txBox="1"/>
          <p:nvPr/>
        </p:nvSpPr>
        <p:spPr>
          <a:xfrm>
            <a:off x="6193367" y="1367567"/>
            <a:ext cx="5389033" cy="639762"/>
          </a:xfrm>
          <a:prstGeom prst="rect">
            <a:avLst/>
          </a:prstGeom>
        </p:spPr>
        <p:txBody>
          <a:bodyPr vert="horz" lIns="91440" tIns="45720" rIns="91440" bIns="45720" rtlCol="0" anchor="b">
            <a:normAutofit/>
          </a:bodyPr>
          <a:lstStyle/>
          <a:p>
            <a:pPr lvl="0">
              <a:lnSpc>
                <a:spcPct val="90000"/>
              </a:lnSpc>
              <a:spcBef>
                <a:spcPct val="20000"/>
              </a:spcBef>
            </a:pPr>
            <a:r>
              <a:rPr lang="en-US" sz="1300" kern="1200" dirty="0"/>
              <a:t>Sri Lanka faces recurring, high-casualty flood and landslide disasters that current response systems address in a fragmented, reactive manner rather than through predictive, coordinated action</a:t>
            </a:r>
            <a:r>
              <a:rPr lang="en-US" sz="1300" b="1" kern="1200" dirty="0"/>
              <a:t>.</a:t>
            </a:r>
          </a:p>
        </p:txBody>
      </p:sp>
      <p:graphicFrame>
        <p:nvGraphicFramePr>
          <p:cNvPr id="23" name="TextBox 4">
            <a:extLst>
              <a:ext uri="{FF2B5EF4-FFF2-40B4-BE49-F238E27FC236}">
                <a16:creationId xmlns:a16="http://schemas.microsoft.com/office/drawing/2014/main" id="{A65BE025-D874-8139-B97F-AA2C2EE3D3C7}"/>
              </a:ext>
            </a:extLst>
          </p:cNvPr>
          <p:cNvGraphicFramePr/>
          <p:nvPr>
            <p:extLst>
              <p:ext uri="{D42A27DB-BD31-4B8C-83A1-F6EECF244321}">
                <p14:modId xmlns:p14="http://schemas.microsoft.com/office/powerpoint/2010/main" val="1643837243"/>
              </p:ext>
            </p:extLst>
          </p:nvPr>
        </p:nvGraphicFramePr>
        <p:xfrm>
          <a:off x="6193368" y="2174875"/>
          <a:ext cx="5389033" cy="395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095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906508F-6376-6D7D-9DB1-3F99F1C654C0}"/>
              </a:ext>
            </a:extLst>
          </p:cNvPr>
          <p:cNvSpPr>
            <a:spLocks noGrp="1"/>
          </p:cNvSpPr>
          <p:nvPr>
            <p:ph type="subTitle" idx="1"/>
          </p:nvPr>
        </p:nvSpPr>
        <p:spPr>
          <a:xfrm>
            <a:off x="0" y="0"/>
            <a:ext cx="5181600" cy="304800"/>
          </a:xfrm>
        </p:spPr>
        <p:txBody>
          <a:bodyPr>
            <a:noAutofit/>
          </a:bodyPr>
          <a:lstStyle/>
          <a:p>
            <a:r>
              <a:rPr lang="en-US" sz="2500" b="1">
                <a:solidFill>
                  <a:schemeClr val="tx1"/>
                </a:solidFill>
              </a:rPr>
              <a:t>Existing Solutions and Limitations </a:t>
            </a:r>
            <a:endParaRPr lang="en-US" sz="2500" b="1" dirty="0">
              <a:solidFill>
                <a:schemeClr val="tx1"/>
              </a:solidFill>
            </a:endParaRPr>
          </a:p>
        </p:txBody>
      </p:sp>
      <p:graphicFrame>
        <p:nvGraphicFramePr>
          <p:cNvPr id="7" name="Table 6">
            <a:extLst>
              <a:ext uri="{FF2B5EF4-FFF2-40B4-BE49-F238E27FC236}">
                <a16:creationId xmlns:a16="http://schemas.microsoft.com/office/drawing/2014/main" id="{3885F7E7-4E1B-3BA3-C3CB-CD3283772B50}"/>
              </a:ext>
            </a:extLst>
          </p:cNvPr>
          <p:cNvGraphicFramePr>
            <a:graphicFrameLocks noGrp="1"/>
          </p:cNvGraphicFramePr>
          <p:nvPr>
            <p:extLst>
              <p:ext uri="{D42A27DB-BD31-4B8C-83A1-F6EECF244321}">
                <p14:modId xmlns:p14="http://schemas.microsoft.com/office/powerpoint/2010/main" val="224743179"/>
              </p:ext>
            </p:extLst>
          </p:nvPr>
        </p:nvGraphicFramePr>
        <p:xfrm>
          <a:off x="609600" y="881444"/>
          <a:ext cx="10591800" cy="5063872"/>
        </p:xfrm>
        <a:graphic>
          <a:graphicData uri="http://schemas.openxmlformats.org/drawingml/2006/table">
            <a:tbl>
              <a:tblPr>
                <a:tableStyleId>{5C22544A-7EE6-4342-B048-85BDC9FD1C3A}</a:tableStyleId>
              </a:tblPr>
              <a:tblGrid>
                <a:gridCol w="3352800">
                  <a:extLst>
                    <a:ext uri="{9D8B030D-6E8A-4147-A177-3AD203B41FA5}">
                      <a16:colId xmlns:a16="http://schemas.microsoft.com/office/drawing/2014/main" val="1611254988"/>
                    </a:ext>
                  </a:extLst>
                </a:gridCol>
                <a:gridCol w="7239000">
                  <a:extLst>
                    <a:ext uri="{9D8B030D-6E8A-4147-A177-3AD203B41FA5}">
                      <a16:colId xmlns:a16="http://schemas.microsoft.com/office/drawing/2014/main" val="4259055658"/>
                    </a:ext>
                  </a:extLst>
                </a:gridCol>
              </a:tblGrid>
              <a:tr h="263697">
                <a:tc>
                  <a:txBody>
                    <a:bodyPr/>
                    <a:lstStyle/>
                    <a:p>
                      <a:pPr>
                        <a:buNone/>
                      </a:pPr>
                      <a:r>
                        <a:rPr lang="en-US" sz="1300" dirty="0"/>
                        <a:t>Aspect</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Details</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420623"/>
                  </a:ext>
                </a:extLst>
              </a:tr>
              <a:tr h="460536">
                <a:tc>
                  <a:txBody>
                    <a:bodyPr/>
                    <a:lstStyle/>
                    <a:p>
                      <a:pPr>
                        <a:buNone/>
                      </a:pPr>
                      <a:r>
                        <a:rPr lang="en-US" sz="1300" dirty="0"/>
                        <a:t>Operator</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National Building Research </a:t>
                      </a:r>
                      <a:r>
                        <a:rPr lang="en-US" sz="1300" dirty="0" err="1"/>
                        <a:t>Organisation</a:t>
                      </a:r>
                      <a:r>
                        <a:rPr lang="en-US" sz="1300" dirty="0"/>
                        <a:t> (NBRO)  now referred to in some sources as NBRI</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9065838"/>
                  </a:ext>
                </a:extLst>
              </a:tr>
              <a:tr h="854213">
                <a:tc>
                  <a:txBody>
                    <a:bodyPr/>
                    <a:lstStyle/>
                    <a:p>
                      <a:pPr>
                        <a:buNone/>
                      </a:pPr>
                      <a:r>
                        <a:rPr lang="en-US" sz="1300" dirty="0"/>
                        <a:t>Type 1: Regional Landslide Early Warning (RLEW)</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Running since 2007; issues warnings based on rainfall thresholds set at three levels — watch, alert, and evacuation — triggered at roughly 75 mm/day, 100 mm/day, and 150 mm/day, or 75 mm in one hour</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8790949"/>
                  </a:ext>
                </a:extLst>
              </a:tr>
              <a:tr h="657374">
                <a:tc>
                  <a:txBody>
                    <a:bodyPr/>
                    <a:lstStyle/>
                    <a:p>
                      <a:pPr>
                        <a:buNone/>
                      </a:pPr>
                      <a:r>
                        <a:rPr lang="en-US" sz="1300" dirty="0"/>
                        <a:t>Data collection</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An automated network of 325 rain gauges installed across landslide-prone areas feeds real-time rainfall data into the system</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6531186"/>
                  </a:ext>
                </a:extLst>
              </a:tr>
              <a:tr h="657374">
                <a:tc>
                  <a:txBody>
                    <a:bodyPr/>
                    <a:lstStyle/>
                    <a:p>
                      <a:pPr>
                        <a:buNone/>
                      </a:pPr>
                      <a:r>
                        <a:rPr lang="en-US" sz="1300"/>
                        <a:t>Type 2</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Site-Specific Landslide Early Warning, which relies on dedicated ground-monitoring instruments at individual high-risk sites</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0358111"/>
                  </a:ext>
                </a:extLst>
              </a:tr>
              <a:tr h="657374">
                <a:tc>
                  <a:txBody>
                    <a:bodyPr/>
                    <a:lstStyle/>
                    <a:p>
                      <a:pPr>
                        <a:buNone/>
                      </a:pPr>
                      <a:r>
                        <a:rPr lang="en-US" sz="1300"/>
                        <a:t>Warning dissemination</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Alerts reach the public through NBRO's website as well as radio, television, phone, and on-site sirens run by local agencies</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058772"/>
                  </a:ext>
                </a:extLst>
              </a:tr>
              <a:tr h="854213">
                <a:tc>
                  <a:txBody>
                    <a:bodyPr/>
                    <a:lstStyle/>
                    <a:p>
                      <a:pPr>
                        <a:buNone/>
                      </a:pPr>
                      <a:r>
                        <a:rPr lang="en-US" sz="1300"/>
                        <a:t>Ongoing R&amp;D</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Since 2020, NBRO and the International Consortium on Landslides (ICL) have run project RRLL, a 5-year SATREPS-backed effort focused on rain-induced rapid, long-travelling landslides</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901096"/>
                  </a:ext>
                </a:extLst>
              </a:tr>
              <a:tr h="657374">
                <a:tc>
                  <a:txBody>
                    <a:bodyPr/>
                    <a:lstStyle/>
                    <a:p>
                      <a:pPr>
                        <a:buNone/>
                      </a:pPr>
                      <a:r>
                        <a:rPr lang="en-US" sz="1300" dirty="0"/>
                        <a:t>Related mechanism</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300" dirty="0"/>
                        <a:t>Slope Failure Hazard Zonation and Yellow Zone/Red Zone methodology used for debris-flow risk mapping (e.g. </a:t>
                      </a:r>
                      <a:r>
                        <a:rPr lang="en-US" sz="1300" dirty="0" err="1"/>
                        <a:t>Aranayake</a:t>
                      </a:r>
                      <a:r>
                        <a:rPr lang="en-US" sz="1300" dirty="0"/>
                        <a:t>, Kegalle)</a:t>
                      </a:r>
                    </a:p>
                  </a:txBody>
                  <a:tcPr marL="67294" marR="67294" marT="33647" marB="33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0045274"/>
                  </a:ext>
                </a:extLst>
              </a:tr>
            </a:tbl>
          </a:graphicData>
        </a:graphic>
      </p:graphicFrame>
      <p:sp>
        <p:nvSpPr>
          <p:cNvPr id="10" name="TextBox 9">
            <a:extLst>
              <a:ext uri="{FF2B5EF4-FFF2-40B4-BE49-F238E27FC236}">
                <a16:creationId xmlns:a16="http://schemas.microsoft.com/office/drawing/2014/main" id="{3CC71790-DA85-2542-A311-CDD2E48BD5AB}"/>
              </a:ext>
            </a:extLst>
          </p:cNvPr>
          <p:cNvSpPr txBox="1"/>
          <p:nvPr/>
        </p:nvSpPr>
        <p:spPr>
          <a:xfrm>
            <a:off x="4876800" y="457200"/>
            <a:ext cx="1947969" cy="646331"/>
          </a:xfrm>
          <a:prstGeom prst="rect">
            <a:avLst/>
          </a:prstGeom>
          <a:noFill/>
        </p:spPr>
        <p:txBody>
          <a:bodyPr wrap="none" rtlCol="0">
            <a:spAutoFit/>
          </a:bodyPr>
          <a:lstStyle/>
          <a:p>
            <a:r>
              <a:rPr lang="en-US" u="sng"/>
              <a:t>Existing Solutions</a:t>
            </a:r>
          </a:p>
          <a:p>
            <a:endParaRPr lang="en-US" dirty="0"/>
          </a:p>
        </p:txBody>
      </p:sp>
    </p:spTree>
    <p:extLst>
      <p:ext uri="{BB962C8B-B14F-4D97-AF65-F5344CB8AC3E}">
        <p14:creationId xmlns:p14="http://schemas.microsoft.com/office/powerpoint/2010/main" val="233453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E989C5-C1AB-A856-1F44-571F8E6A1399}"/>
              </a:ext>
            </a:extLst>
          </p:cNvPr>
          <p:cNvSpPr txBox="1"/>
          <p:nvPr/>
        </p:nvSpPr>
        <p:spPr>
          <a:xfrm>
            <a:off x="76200" y="76200"/>
            <a:ext cx="5281382" cy="477054"/>
          </a:xfrm>
          <a:prstGeom prst="rect">
            <a:avLst/>
          </a:prstGeom>
          <a:noFill/>
        </p:spPr>
        <p:txBody>
          <a:bodyPr wrap="none" rtlCol="0">
            <a:spAutoFit/>
          </a:bodyPr>
          <a:lstStyle/>
          <a:p>
            <a:r>
              <a:rPr lang="en-US" sz="2500" b="1" u="sng" dirty="0"/>
              <a:t>Existing Solutions and Limitations </a:t>
            </a:r>
          </a:p>
        </p:txBody>
      </p:sp>
      <p:sp>
        <p:nvSpPr>
          <p:cNvPr id="3" name="TextBox 2">
            <a:extLst>
              <a:ext uri="{FF2B5EF4-FFF2-40B4-BE49-F238E27FC236}">
                <a16:creationId xmlns:a16="http://schemas.microsoft.com/office/drawing/2014/main" id="{146DC18B-C64F-BF0E-18E7-EEC4AEC771CD}"/>
              </a:ext>
            </a:extLst>
          </p:cNvPr>
          <p:cNvSpPr txBox="1"/>
          <p:nvPr/>
        </p:nvSpPr>
        <p:spPr>
          <a:xfrm>
            <a:off x="5105400" y="445532"/>
            <a:ext cx="1311578" cy="369332"/>
          </a:xfrm>
          <a:prstGeom prst="rect">
            <a:avLst/>
          </a:prstGeom>
          <a:noFill/>
        </p:spPr>
        <p:txBody>
          <a:bodyPr wrap="none" rtlCol="0">
            <a:spAutoFit/>
          </a:bodyPr>
          <a:lstStyle/>
          <a:p>
            <a:r>
              <a:rPr lang="en-US" u="sng" dirty="0"/>
              <a:t>Limitations</a:t>
            </a:r>
            <a:endParaRPr lang="en-US" dirty="0"/>
          </a:p>
        </p:txBody>
      </p:sp>
      <p:sp>
        <p:nvSpPr>
          <p:cNvPr id="4" name="TextBox 3">
            <a:extLst>
              <a:ext uri="{FF2B5EF4-FFF2-40B4-BE49-F238E27FC236}">
                <a16:creationId xmlns:a16="http://schemas.microsoft.com/office/drawing/2014/main" id="{3B091FF8-D169-6085-69D7-EC6A965540A9}"/>
              </a:ext>
            </a:extLst>
          </p:cNvPr>
          <p:cNvSpPr txBox="1"/>
          <p:nvPr/>
        </p:nvSpPr>
        <p:spPr>
          <a:xfrm>
            <a:off x="960120" y="1197864"/>
            <a:ext cx="184731" cy="369332"/>
          </a:xfrm>
          <a:prstGeom prst="rect">
            <a:avLst/>
          </a:prstGeom>
          <a:noFill/>
        </p:spPr>
        <p:txBody>
          <a:bodyPr wrap="none" rtlCol="0">
            <a:spAutoFit/>
          </a:bodyPr>
          <a:lstStyle/>
          <a:p>
            <a:endParaRPr lang="en-US" dirty="0"/>
          </a:p>
        </p:txBody>
      </p:sp>
      <p:graphicFrame>
        <p:nvGraphicFramePr>
          <p:cNvPr id="6" name="Table 5">
            <a:extLst>
              <a:ext uri="{FF2B5EF4-FFF2-40B4-BE49-F238E27FC236}">
                <a16:creationId xmlns:a16="http://schemas.microsoft.com/office/drawing/2014/main" id="{1A2F05FA-5CE2-AC3E-FF50-FD0EC80E8FA6}"/>
              </a:ext>
            </a:extLst>
          </p:cNvPr>
          <p:cNvGraphicFramePr>
            <a:graphicFrameLocks noGrp="1"/>
          </p:cNvGraphicFramePr>
          <p:nvPr>
            <p:extLst>
              <p:ext uri="{D42A27DB-BD31-4B8C-83A1-F6EECF244321}">
                <p14:modId xmlns:p14="http://schemas.microsoft.com/office/powerpoint/2010/main" val="1979260891"/>
              </p:ext>
            </p:extLst>
          </p:nvPr>
        </p:nvGraphicFramePr>
        <p:xfrm>
          <a:off x="1524000" y="837351"/>
          <a:ext cx="9525000" cy="5290334"/>
        </p:xfrm>
        <a:graphic>
          <a:graphicData uri="http://schemas.openxmlformats.org/drawingml/2006/table">
            <a:tbl>
              <a:tblPr>
                <a:tableStyleId>{5C22544A-7EE6-4342-B048-85BDC9FD1C3A}</a:tableStyleId>
              </a:tblPr>
              <a:tblGrid>
                <a:gridCol w="3124200">
                  <a:extLst>
                    <a:ext uri="{9D8B030D-6E8A-4147-A177-3AD203B41FA5}">
                      <a16:colId xmlns:a16="http://schemas.microsoft.com/office/drawing/2014/main" val="915006069"/>
                    </a:ext>
                  </a:extLst>
                </a:gridCol>
                <a:gridCol w="6400800">
                  <a:extLst>
                    <a:ext uri="{9D8B030D-6E8A-4147-A177-3AD203B41FA5}">
                      <a16:colId xmlns:a16="http://schemas.microsoft.com/office/drawing/2014/main" val="2344720637"/>
                    </a:ext>
                  </a:extLst>
                </a:gridCol>
              </a:tblGrid>
              <a:tr h="276214">
                <a:tc>
                  <a:txBody>
                    <a:bodyPr/>
                    <a:lstStyle/>
                    <a:p>
                      <a:pPr>
                        <a:buNone/>
                      </a:pPr>
                      <a:r>
                        <a:rPr lang="en-US" sz="1100" dirty="0"/>
                        <a:t>Limitation</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Explanation</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3639675"/>
                  </a:ext>
                </a:extLst>
              </a:tr>
              <a:tr h="709326">
                <a:tc>
                  <a:txBody>
                    <a:bodyPr/>
                    <a:lstStyle/>
                    <a:p>
                      <a:pPr algn="just">
                        <a:buNone/>
                      </a:pPr>
                      <a:r>
                        <a:rPr lang="en-US" sz="1100" dirty="0"/>
                        <a:t>Rainfall-only trigger logic</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The current approach relies almost entirely on rainfall volume, even though rainfall is only one of the two known triggering factors  more accurate predictive parameters exist but aren't systematically used</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3828679"/>
                  </a:ext>
                </a:extLst>
              </a:tr>
              <a:tr h="876534">
                <a:tc>
                  <a:txBody>
                    <a:bodyPr/>
                    <a:lstStyle/>
                    <a:p>
                      <a:pPr algn="just">
                        <a:buNone/>
                      </a:pPr>
                      <a:r>
                        <a:rPr lang="en-US" sz="1100" dirty="0"/>
                        <a:t>Can't predict rapid/long-travel slides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The technology to identify and stabilize already-reactivated, slow-creeping landslides has advanced, but rapid, long-travelling landslides can't be located or predicted in advance  once they begin moving, they can't be stopped, as shown by the 2016 </a:t>
                      </a:r>
                      <a:r>
                        <a:rPr lang="en-US" sz="1100" dirty="0" err="1"/>
                        <a:t>Aranayake</a:t>
                      </a:r>
                      <a:r>
                        <a:rPr lang="en-US" sz="1100" dirty="0"/>
                        <a:t> disaster which killed 125 people</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2366493"/>
                  </a:ext>
                </a:extLst>
              </a:tr>
              <a:tr h="542117">
                <a:tc>
                  <a:txBody>
                    <a:bodyPr/>
                    <a:lstStyle/>
                    <a:p>
                      <a:pPr algn="just">
                        <a:buNone/>
                      </a:pPr>
                      <a:r>
                        <a:rPr lang="en-US" sz="1100"/>
                        <a:t>Regional, not hyperlocal</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RLEW issues broad regional/DS-division-level alerts rather than village- or household-level, precision guidance — this is a gap your IDMERS localized Web-GIS approach targets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0185473"/>
                  </a:ext>
                </a:extLst>
              </a:tr>
              <a:tr h="542117">
                <a:tc>
                  <a:txBody>
                    <a:bodyPr/>
                    <a:lstStyle/>
                    <a:p>
                      <a:pPr algn="just">
                        <a:buNone/>
                      </a:pPr>
                      <a:r>
                        <a:rPr lang="en-US" sz="1100"/>
                        <a:t>No soil/geotechnical modeling at scale</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Doesn't integrate soil saturation, slope geometry, or human factors (road cuts, building loads) into a unified probability model the way your multi-factor ML approach proposes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0605314"/>
                  </a:ext>
                </a:extLst>
              </a:tr>
              <a:tr h="542117">
                <a:tc>
                  <a:txBody>
                    <a:bodyPr/>
                    <a:lstStyle/>
                    <a:p>
                      <a:pPr algn="just">
                        <a:buNone/>
                      </a:pPr>
                      <a:r>
                        <a:rPr lang="en-US" sz="1100"/>
                        <a:t>No explainability</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The system issues a warning level but doesn't break down why  no XAI-style breakdown of environmental vs. human contribution, which your project adds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4543877"/>
                  </a:ext>
                </a:extLst>
              </a:tr>
              <a:tr h="542117">
                <a:tc>
                  <a:txBody>
                    <a:bodyPr/>
                    <a:lstStyle/>
                    <a:p>
                      <a:pPr algn="just">
                        <a:buNone/>
                      </a:pPr>
                      <a:r>
                        <a:rPr lang="en-US" sz="1100"/>
                        <a:t>Language/accessibility gaps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Alerts often assume the public checks NBRO's website, radio, or TV  limited built-in support for elderly users or full Sinhala/Tamil village-level localization</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0883843"/>
                  </a:ext>
                </a:extLst>
              </a:tr>
              <a:tr h="374909">
                <a:tc>
                  <a:txBody>
                    <a:bodyPr/>
                    <a:lstStyle/>
                    <a:p>
                      <a:pPr algn="just">
                        <a:buNone/>
                      </a:pPr>
                      <a:r>
                        <a:rPr lang="en-US" sz="1100"/>
                        <a:t>Static thresholds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Uses fixed nationwide rainfall thresholds rather than a model that adapts to terrain, soil type, and historical local landslide data</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6117069"/>
                  </a:ext>
                </a:extLst>
              </a:tr>
              <a:tr h="876534">
                <a:tc>
                  <a:txBody>
                    <a:bodyPr/>
                    <a:lstStyle/>
                    <a:p>
                      <a:pPr algn="just">
                        <a:buNone/>
                      </a:pPr>
                      <a:r>
                        <a:rPr lang="en-US" sz="1100"/>
                        <a:t>Fragmented data sources</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sz="1100" dirty="0"/>
                        <a:t>Landslide, weather, and geotechnical data are spread across agencies (NBRO, DMC, Dept. of Meteorology) rather than integrated into one decision-support system  the gap your broader IDMERS project (multi-hazard + emergency response + flood) is designed to close</a:t>
                      </a:r>
                    </a:p>
                  </a:txBody>
                  <a:tcPr marL="47978" marR="47978" marT="23989" marB="23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3581981"/>
                  </a:ext>
                </a:extLst>
              </a:tr>
            </a:tbl>
          </a:graphicData>
        </a:graphic>
      </p:graphicFrame>
    </p:spTree>
    <p:extLst>
      <p:ext uri="{BB962C8B-B14F-4D97-AF65-F5344CB8AC3E}">
        <p14:creationId xmlns:p14="http://schemas.microsoft.com/office/powerpoint/2010/main" val="111904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CB92FB-5A66-8461-B3CA-D2610E78E8CA}"/>
              </a:ext>
            </a:extLst>
          </p:cNvPr>
          <p:cNvSpPr txBox="1"/>
          <p:nvPr/>
        </p:nvSpPr>
        <p:spPr>
          <a:xfrm>
            <a:off x="304800" y="228600"/>
            <a:ext cx="3435941" cy="553998"/>
          </a:xfrm>
          <a:prstGeom prst="rect">
            <a:avLst/>
          </a:prstGeom>
          <a:noFill/>
        </p:spPr>
        <p:txBody>
          <a:bodyPr wrap="none" rtlCol="0">
            <a:spAutoFit/>
          </a:bodyPr>
          <a:lstStyle/>
          <a:p>
            <a:r>
              <a:rPr lang="en-GB" sz="3000" b="1"/>
              <a:t>Proposed Solution</a:t>
            </a:r>
            <a:endParaRPr lang="en-US" sz="3000" b="1" dirty="0"/>
          </a:p>
        </p:txBody>
      </p:sp>
      <p:sp>
        <p:nvSpPr>
          <p:cNvPr id="5" name="TextBox 4">
            <a:extLst>
              <a:ext uri="{FF2B5EF4-FFF2-40B4-BE49-F238E27FC236}">
                <a16:creationId xmlns:a16="http://schemas.microsoft.com/office/drawing/2014/main" id="{F1ABA1AD-0472-E220-5817-72B2AC86FD49}"/>
              </a:ext>
            </a:extLst>
          </p:cNvPr>
          <p:cNvSpPr txBox="1"/>
          <p:nvPr/>
        </p:nvSpPr>
        <p:spPr>
          <a:xfrm>
            <a:off x="312174" y="893801"/>
            <a:ext cx="4945625" cy="830997"/>
          </a:xfrm>
          <a:prstGeom prst="rect">
            <a:avLst/>
          </a:prstGeom>
          <a:noFill/>
        </p:spPr>
        <p:txBody>
          <a:bodyPr wrap="square" rtlCol="0">
            <a:spAutoFit/>
          </a:bodyPr>
          <a:lstStyle/>
          <a:p>
            <a:r>
              <a:rPr lang="en-US" sz="1500" b="1" dirty="0"/>
              <a:t>Component 1: </a:t>
            </a:r>
            <a:r>
              <a:rPr lang="en-GB" sz="1500" b="1" dirty="0"/>
              <a:t>Probabilistic Assessment and Forecasting of Occurrences of Landslides</a:t>
            </a:r>
            <a:endParaRPr lang="en-US" sz="1500" b="1" dirty="0"/>
          </a:p>
          <a:p>
            <a:endParaRPr lang="en-US" dirty="0"/>
          </a:p>
        </p:txBody>
      </p:sp>
      <p:sp>
        <p:nvSpPr>
          <p:cNvPr id="9" name="TextBox 8">
            <a:extLst>
              <a:ext uri="{FF2B5EF4-FFF2-40B4-BE49-F238E27FC236}">
                <a16:creationId xmlns:a16="http://schemas.microsoft.com/office/drawing/2014/main" id="{A2224180-E4E2-1128-BA37-E5CAD8D9931C}"/>
              </a:ext>
            </a:extLst>
          </p:cNvPr>
          <p:cNvSpPr txBox="1"/>
          <p:nvPr/>
        </p:nvSpPr>
        <p:spPr>
          <a:xfrm>
            <a:off x="6889956" y="986134"/>
            <a:ext cx="4844846" cy="323165"/>
          </a:xfrm>
          <a:prstGeom prst="rect">
            <a:avLst/>
          </a:prstGeom>
          <a:noFill/>
        </p:spPr>
        <p:txBody>
          <a:bodyPr wrap="square" rtlCol="0">
            <a:spAutoFit/>
          </a:bodyPr>
          <a:lstStyle/>
          <a:p>
            <a:r>
              <a:rPr lang="en-US" sz="1500" b="1" dirty="0"/>
              <a:t>Component 2: Flood Severity Assessment &amp; Mapping</a:t>
            </a:r>
          </a:p>
        </p:txBody>
      </p:sp>
      <p:sp>
        <p:nvSpPr>
          <p:cNvPr id="11" name="TextBox 10">
            <a:extLst>
              <a:ext uri="{FF2B5EF4-FFF2-40B4-BE49-F238E27FC236}">
                <a16:creationId xmlns:a16="http://schemas.microsoft.com/office/drawing/2014/main" id="{650A4B57-B1D4-DD94-DB86-CDEF3371ABCE}"/>
              </a:ext>
            </a:extLst>
          </p:cNvPr>
          <p:cNvSpPr txBox="1"/>
          <p:nvPr/>
        </p:nvSpPr>
        <p:spPr>
          <a:xfrm>
            <a:off x="6916994" y="3664920"/>
            <a:ext cx="5449529" cy="553998"/>
          </a:xfrm>
          <a:prstGeom prst="rect">
            <a:avLst/>
          </a:prstGeom>
          <a:noFill/>
        </p:spPr>
        <p:txBody>
          <a:bodyPr wrap="square" rtlCol="0">
            <a:spAutoFit/>
          </a:bodyPr>
          <a:lstStyle/>
          <a:p>
            <a:r>
              <a:rPr lang="en-US" sz="1500" b="1" dirty="0"/>
              <a:t>Component 4: Emergency Response and Resource Coordination</a:t>
            </a:r>
          </a:p>
        </p:txBody>
      </p:sp>
      <p:sp>
        <p:nvSpPr>
          <p:cNvPr id="20" name="TextBox 19">
            <a:extLst>
              <a:ext uri="{FF2B5EF4-FFF2-40B4-BE49-F238E27FC236}">
                <a16:creationId xmlns:a16="http://schemas.microsoft.com/office/drawing/2014/main" id="{D97B3183-174B-745A-8342-9C7E18A1F5BE}"/>
              </a:ext>
            </a:extLst>
          </p:cNvPr>
          <p:cNvSpPr txBox="1"/>
          <p:nvPr/>
        </p:nvSpPr>
        <p:spPr>
          <a:xfrm>
            <a:off x="381000" y="3797851"/>
            <a:ext cx="4715009" cy="553998"/>
          </a:xfrm>
          <a:prstGeom prst="rect">
            <a:avLst/>
          </a:prstGeom>
          <a:noFill/>
        </p:spPr>
        <p:txBody>
          <a:bodyPr wrap="none" rtlCol="0">
            <a:spAutoFit/>
          </a:bodyPr>
          <a:lstStyle/>
          <a:p>
            <a:pPr algn="just"/>
            <a:r>
              <a:rPr lang="en-US" sz="1500" b="1" dirty="0"/>
              <a:t>Component 3: Human Impact And Decision Support</a:t>
            </a:r>
          </a:p>
          <a:p>
            <a:endParaRPr lang="en-US" sz="1500" b="1" dirty="0"/>
          </a:p>
        </p:txBody>
      </p:sp>
      <p:sp>
        <p:nvSpPr>
          <p:cNvPr id="25" name="Rectangle 24">
            <a:extLst>
              <a:ext uri="{FF2B5EF4-FFF2-40B4-BE49-F238E27FC236}">
                <a16:creationId xmlns:a16="http://schemas.microsoft.com/office/drawing/2014/main" id="{99269838-3FA9-F7FD-616F-52D42740CCEF}"/>
              </a:ext>
            </a:extLst>
          </p:cNvPr>
          <p:cNvSpPr/>
          <p:nvPr/>
        </p:nvSpPr>
        <p:spPr>
          <a:xfrm>
            <a:off x="381001" y="4191000"/>
            <a:ext cx="4876800" cy="20574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300" dirty="0">
                <a:solidFill>
                  <a:schemeClr val="tx1"/>
                </a:solidFill>
              </a:rPr>
              <a:t>Human Impact Prediction – Combines flood and landslide severity with population, demographic vulnerability, and infrastructure data to predict the potential human impact at GN-division level. Risk Prioritization and Explainable Alerts – Classifies affected areas into graded risk levels and uses SHAP to explain the main factors contributing to each prediction. Decision Support and Action Recommendations – Generates colour-coded, prioritized alerts with recommended actions and provides the results through an API to support emergency resource allocation and response.</a:t>
            </a:r>
            <a:endParaRPr lang="en-US" sz="1300" dirty="0">
              <a:solidFill>
                <a:schemeClr val="tx1"/>
              </a:solidFill>
            </a:endParaRPr>
          </a:p>
        </p:txBody>
      </p:sp>
      <p:sp>
        <p:nvSpPr>
          <p:cNvPr id="26" name="Rectangle 25">
            <a:extLst>
              <a:ext uri="{FF2B5EF4-FFF2-40B4-BE49-F238E27FC236}">
                <a16:creationId xmlns:a16="http://schemas.microsoft.com/office/drawing/2014/main" id="{676B1BD9-FC19-A159-7D06-E63B7068FC65}"/>
              </a:ext>
            </a:extLst>
          </p:cNvPr>
          <p:cNvSpPr/>
          <p:nvPr/>
        </p:nvSpPr>
        <p:spPr>
          <a:xfrm>
            <a:off x="381000" y="1544597"/>
            <a:ext cx="4876800" cy="205740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300" dirty="0">
                <a:solidFill>
                  <a:schemeClr val="tx1"/>
                </a:solidFill>
              </a:rPr>
              <a:t>predicting landslides in three hill-country areas of Nuwara Eliya  </a:t>
            </a:r>
            <a:r>
              <a:rPr lang="en-GB" sz="1300" dirty="0" err="1">
                <a:solidFill>
                  <a:schemeClr val="tx1"/>
                </a:solidFill>
              </a:rPr>
              <a:t>Ambagamuwa</a:t>
            </a:r>
            <a:r>
              <a:rPr lang="en-GB" sz="1300" dirty="0">
                <a:solidFill>
                  <a:schemeClr val="tx1"/>
                </a:solidFill>
              </a:rPr>
              <a:t>, </a:t>
            </a:r>
            <a:r>
              <a:rPr lang="en-GB" sz="1300" dirty="0" err="1">
                <a:solidFill>
                  <a:schemeClr val="tx1"/>
                </a:solidFill>
              </a:rPr>
              <a:t>Kothmale</a:t>
            </a:r>
            <a:r>
              <a:rPr lang="en-GB" sz="1300" dirty="0">
                <a:solidFill>
                  <a:schemeClr val="tx1"/>
                </a:solidFill>
              </a:rPr>
              <a:t>, and </a:t>
            </a:r>
            <a:r>
              <a:rPr lang="en-GB" sz="1300" dirty="0" err="1">
                <a:solidFill>
                  <a:schemeClr val="tx1"/>
                </a:solidFill>
              </a:rPr>
              <a:t>Walapane</a:t>
            </a:r>
            <a:r>
              <a:rPr lang="en-GB" sz="1300" dirty="0">
                <a:solidFill>
                  <a:schemeClr val="tx1"/>
                </a:solidFill>
              </a:rPr>
              <a:t> Using machine learning. I'm training a model on factors like rainfall, soil type, historical landslide records, and slope angle (how steep the terrain is, since steeper slopes are physically more prone to failing) to predict where a landslide is likely to occur before it happens, rather than reacting after. On top of the basic prediction</a:t>
            </a:r>
            <a:endParaRPr lang="en-US" sz="1300" dirty="0">
              <a:solidFill>
                <a:schemeClr val="tx1"/>
              </a:solidFill>
            </a:endParaRPr>
          </a:p>
        </p:txBody>
      </p:sp>
      <p:sp>
        <p:nvSpPr>
          <p:cNvPr id="27" name="Rectangle 26">
            <a:extLst>
              <a:ext uri="{FF2B5EF4-FFF2-40B4-BE49-F238E27FC236}">
                <a16:creationId xmlns:a16="http://schemas.microsoft.com/office/drawing/2014/main" id="{92BD091F-A33D-EA70-2D09-1CE3D9243E58}"/>
              </a:ext>
            </a:extLst>
          </p:cNvPr>
          <p:cNvSpPr/>
          <p:nvPr/>
        </p:nvSpPr>
        <p:spPr>
          <a:xfrm>
            <a:off x="6916994" y="1499589"/>
            <a:ext cx="4648198" cy="205740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dirty="0">
                <a:solidFill>
                  <a:schemeClr val="tx1"/>
                </a:solidFill>
              </a:rPr>
              <a:t>My component focuses on flood severity assessment and mapping. It uses rainfall, river water levels, DEM, historical flood records, land use, population, and satellite data to understand how severe a flood could be and which areas may be affected. The system estimates flood extent and potential impacts, then produces clear flood severity maps to support authorities in planning evacuations and disaster response.</a:t>
            </a:r>
            <a:endParaRPr lang="en-US" sz="1300" dirty="0">
              <a:solidFill>
                <a:schemeClr val="tx1"/>
              </a:solidFill>
            </a:endParaRPr>
          </a:p>
        </p:txBody>
      </p:sp>
      <p:sp>
        <p:nvSpPr>
          <p:cNvPr id="28" name="Rectangle 27">
            <a:extLst>
              <a:ext uri="{FF2B5EF4-FFF2-40B4-BE49-F238E27FC236}">
                <a16:creationId xmlns:a16="http://schemas.microsoft.com/office/drawing/2014/main" id="{746BCFEB-7332-973B-6664-424FDA8FC2A2}"/>
              </a:ext>
            </a:extLst>
          </p:cNvPr>
          <p:cNvSpPr/>
          <p:nvPr/>
        </p:nvSpPr>
        <p:spPr>
          <a:xfrm>
            <a:off x="6934201" y="4191000"/>
            <a:ext cx="4648200" cy="205740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300" dirty="0">
                <a:solidFill>
                  <a:schemeClr val="tx1"/>
                </a:solidFill>
              </a:rPr>
              <a:t>The Emergency Response and Resource Coordination component focuses on transforming high-priority disaster alerts into automated, real-time dispatch and evacuation actions for Sri Lanka's disaster management authorities. It features an intelligent allocation framework that assesses live resource availability and prioritizes urgent districts during shortages, while generating safe, hazard-aware navigation routes that avoid active floods or landslides.</a:t>
            </a:r>
            <a:endParaRPr lang="en-US" sz="1300" dirty="0">
              <a:solidFill>
                <a:schemeClr val="tx1"/>
              </a:solidFill>
            </a:endParaRPr>
          </a:p>
        </p:txBody>
      </p:sp>
    </p:spTree>
    <p:extLst>
      <p:ext uri="{BB962C8B-B14F-4D97-AF65-F5344CB8AC3E}">
        <p14:creationId xmlns:p14="http://schemas.microsoft.com/office/powerpoint/2010/main" val="3842853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EA09-B150-D498-F26B-6E5CDD465466}"/>
              </a:ext>
            </a:extLst>
          </p:cNvPr>
          <p:cNvSpPr>
            <a:spLocks noGrp="1"/>
          </p:cNvSpPr>
          <p:nvPr>
            <p:ph type="ctrTitle"/>
          </p:nvPr>
        </p:nvSpPr>
        <p:spPr>
          <a:xfrm>
            <a:off x="0" y="0"/>
            <a:ext cx="4114800" cy="714807"/>
          </a:xfrm>
        </p:spPr>
        <p:txBody>
          <a:bodyPr>
            <a:normAutofit/>
          </a:bodyPr>
          <a:lstStyle/>
          <a:p>
            <a:r>
              <a:rPr lang="en-US" sz="2500" b="1" dirty="0">
                <a:latin typeface="+mn-lt"/>
              </a:rPr>
              <a:t>System Overview Diagram</a:t>
            </a:r>
          </a:p>
        </p:txBody>
      </p:sp>
      <p:sp>
        <p:nvSpPr>
          <p:cNvPr id="3" name="Subtitle 2">
            <a:extLst>
              <a:ext uri="{FF2B5EF4-FFF2-40B4-BE49-F238E27FC236}">
                <a16:creationId xmlns:a16="http://schemas.microsoft.com/office/drawing/2014/main" id="{4123BBB2-4D18-B217-2C53-E853540C9250}"/>
              </a:ext>
            </a:extLst>
          </p:cNvPr>
          <p:cNvSpPr>
            <a:spLocks noGrp="1"/>
          </p:cNvSpPr>
          <p:nvPr>
            <p:ph type="subTitle" idx="1"/>
          </p:nvPr>
        </p:nvSpPr>
        <p:spPr>
          <a:xfrm>
            <a:off x="4800600" y="6172200"/>
            <a:ext cx="2362200" cy="685800"/>
          </a:xfrm>
        </p:spPr>
        <p:txBody>
          <a:bodyPr>
            <a:normAutofit/>
          </a:bodyPr>
          <a:lstStyle/>
          <a:p>
            <a:r>
              <a:rPr lang="en-GB" sz="2000" dirty="0"/>
              <a:t>J26-IT-334</a:t>
            </a:r>
            <a:endParaRPr lang="en-US" sz="2000" dirty="0"/>
          </a:p>
        </p:txBody>
      </p:sp>
      <p:pic>
        <p:nvPicPr>
          <p:cNvPr id="5" name="Picture 4">
            <a:extLst>
              <a:ext uri="{FF2B5EF4-FFF2-40B4-BE49-F238E27FC236}">
                <a16:creationId xmlns:a16="http://schemas.microsoft.com/office/drawing/2014/main" id="{81503DD3-B711-CC71-8B94-C19ECEC1D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714807"/>
            <a:ext cx="6781800" cy="5428385"/>
          </a:xfrm>
          <a:prstGeom prst="rect">
            <a:avLst/>
          </a:prstGeom>
        </p:spPr>
      </p:pic>
    </p:spTree>
    <p:extLst>
      <p:ext uri="{BB962C8B-B14F-4D97-AF65-F5344CB8AC3E}">
        <p14:creationId xmlns:p14="http://schemas.microsoft.com/office/powerpoint/2010/main" val="2256650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E41F86-091D-76F0-ECF7-514FC40941A2}"/>
              </a:ext>
            </a:extLst>
          </p:cNvPr>
          <p:cNvSpPr txBox="1"/>
          <p:nvPr/>
        </p:nvSpPr>
        <p:spPr>
          <a:xfrm>
            <a:off x="52350" y="83025"/>
            <a:ext cx="7342075" cy="1138773"/>
          </a:xfrm>
          <a:prstGeom prst="rect">
            <a:avLst/>
          </a:prstGeom>
          <a:noFill/>
        </p:spPr>
        <p:txBody>
          <a:bodyPr wrap="none" rtlCol="0">
            <a:spAutoFit/>
          </a:bodyPr>
          <a:lstStyle/>
          <a:p>
            <a:r>
              <a:rPr lang="en-GB" sz="2500" dirty="0"/>
              <a:t>Component 01 </a:t>
            </a:r>
          </a:p>
          <a:p>
            <a:endParaRPr lang="en-GB" dirty="0"/>
          </a:p>
          <a:p>
            <a:r>
              <a:rPr lang="en-US" sz="2500" b="1" dirty="0"/>
              <a:t>Flood Impact Assessment and Dynamic Mapping</a:t>
            </a:r>
            <a:r>
              <a:rPr lang="en-GB" sz="2500" b="1" dirty="0"/>
              <a:t> </a:t>
            </a:r>
            <a:endParaRPr lang="en-US" sz="2500" b="1" dirty="0"/>
          </a:p>
        </p:txBody>
      </p:sp>
      <p:sp>
        <p:nvSpPr>
          <p:cNvPr id="3" name="TextBox 2">
            <a:extLst>
              <a:ext uri="{FF2B5EF4-FFF2-40B4-BE49-F238E27FC236}">
                <a16:creationId xmlns:a16="http://schemas.microsoft.com/office/drawing/2014/main" id="{DF995DBA-EB6F-F6E5-2A46-83F139DE2EDD}"/>
              </a:ext>
            </a:extLst>
          </p:cNvPr>
          <p:cNvSpPr txBox="1"/>
          <p:nvPr/>
        </p:nvSpPr>
        <p:spPr>
          <a:xfrm>
            <a:off x="395749" y="5181600"/>
            <a:ext cx="2961388" cy="646331"/>
          </a:xfrm>
          <a:prstGeom prst="rect">
            <a:avLst/>
          </a:prstGeom>
          <a:noFill/>
        </p:spPr>
        <p:txBody>
          <a:bodyPr wrap="none" rtlCol="0">
            <a:spAutoFit/>
          </a:bodyPr>
          <a:lstStyle/>
          <a:p>
            <a:r>
              <a:rPr lang="en-GB" dirty="0"/>
              <a:t>Presented By : </a:t>
            </a:r>
            <a:r>
              <a:rPr lang="en-US" dirty="0"/>
              <a:t>IT23280892</a:t>
            </a:r>
            <a:endParaRPr lang="en-GB" dirty="0"/>
          </a:p>
          <a:p>
            <a:r>
              <a:rPr lang="en-US" dirty="0" err="1"/>
              <a:t>Sinhalagoda</a:t>
            </a:r>
            <a:r>
              <a:rPr lang="en-US" dirty="0"/>
              <a:t> S.A.U.R.A.V </a:t>
            </a:r>
          </a:p>
        </p:txBody>
      </p:sp>
      <p:pic>
        <p:nvPicPr>
          <p:cNvPr id="5" name="Picture 4">
            <a:extLst>
              <a:ext uri="{FF2B5EF4-FFF2-40B4-BE49-F238E27FC236}">
                <a16:creationId xmlns:a16="http://schemas.microsoft.com/office/drawing/2014/main" id="{0D18F775-1CE5-416C-80C1-677F4D8A36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5400" y="838200"/>
            <a:ext cx="2819400" cy="2819400"/>
          </a:xfrm>
          <a:prstGeom prst="rect">
            <a:avLst/>
          </a:prstGeom>
          <a:ln>
            <a:solidFill>
              <a:schemeClr val="tx1"/>
            </a:solidFill>
          </a:ln>
        </p:spPr>
      </p:pic>
      <p:sp>
        <p:nvSpPr>
          <p:cNvPr id="7" name="TextBox 6">
            <a:extLst>
              <a:ext uri="{FF2B5EF4-FFF2-40B4-BE49-F238E27FC236}">
                <a16:creationId xmlns:a16="http://schemas.microsoft.com/office/drawing/2014/main" id="{36EAA9B9-4471-1A8C-2684-031514E3B1DE}"/>
              </a:ext>
            </a:extLst>
          </p:cNvPr>
          <p:cNvSpPr txBox="1"/>
          <p:nvPr/>
        </p:nvSpPr>
        <p:spPr>
          <a:xfrm>
            <a:off x="3723388" y="6396335"/>
            <a:ext cx="5556504" cy="923330"/>
          </a:xfrm>
          <a:prstGeom prst="rect">
            <a:avLst/>
          </a:prstGeom>
          <a:noFill/>
        </p:spPr>
        <p:txBody>
          <a:bodyPr wrap="square" rtlCol="0">
            <a:spAutoFit/>
          </a:bodyPr>
          <a:lstStyle/>
          <a:p>
            <a:r>
              <a:rPr lang="en-US" dirty="0"/>
              <a:t>IT23280892 | </a:t>
            </a:r>
            <a:r>
              <a:rPr lang="en-US" dirty="0" err="1"/>
              <a:t>Sinhalagoda</a:t>
            </a:r>
            <a:r>
              <a:rPr lang="en-US" dirty="0"/>
              <a:t> S.A.U.R.A.V |J26-IT-334</a:t>
            </a:r>
          </a:p>
          <a:p>
            <a:endParaRPr lang="en-GB" dirty="0"/>
          </a:p>
          <a:p>
            <a:endParaRPr lang="en-US" dirty="0"/>
          </a:p>
        </p:txBody>
      </p:sp>
      <p:sp>
        <p:nvSpPr>
          <p:cNvPr id="9" name="Rectangle: Diagonal Corners Rounded 8">
            <a:extLst>
              <a:ext uri="{FF2B5EF4-FFF2-40B4-BE49-F238E27FC236}">
                <a16:creationId xmlns:a16="http://schemas.microsoft.com/office/drawing/2014/main" id="{4585330D-6A79-6070-B6FA-25A4344105D6}"/>
              </a:ext>
            </a:extLst>
          </p:cNvPr>
          <p:cNvSpPr/>
          <p:nvPr/>
        </p:nvSpPr>
        <p:spPr>
          <a:xfrm>
            <a:off x="373626" y="1741539"/>
            <a:ext cx="5636203" cy="2286000"/>
          </a:xfrm>
          <a:prstGeom prst="round2Diag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dirty="0">
                <a:solidFill>
                  <a:schemeClr val="tx1"/>
                </a:solidFill>
              </a:rPr>
              <a:t>I am Amasha, and I specialize in flood severity assessment and spatial impact mapping by developing an AI-driven flood assessment system focused on identifying and classifying flood-affected areas, assessing their severity, and estimating potential damage using satellite imagery, GIS, environmental factors, and historical flood data.</a:t>
            </a:r>
            <a:endParaRPr lang="en-US" dirty="0">
              <a:solidFill>
                <a:schemeClr val="tx1"/>
              </a:solidFill>
            </a:endParaRPr>
          </a:p>
        </p:txBody>
      </p:sp>
    </p:spTree>
    <p:extLst>
      <p:ext uri="{BB962C8B-B14F-4D97-AF65-F5344CB8AC3E}">
        <p14:creationId xmlns:p14="http://schemas.microsoft.com/office/powerpoint/2010/main" val="4196044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403934-C0DD-D6FF-E5FA-CAA5CEFF8284}"/>
              </a:ext>
            </a:extLst>
          </p:cNvPr>
          <p:cNvSpPr txBox="1"/>
          <p:nvPr/>
        </p:nvSpPr>
        <p:spPr>
          <a:xfrm>
            <a:off x="152400" y="152400"/>
            <a:ext cx="3441327" cy="861774"/>
          </a:xfrm>
          <a:prstGeom prst="rect">
            <a:avLst/>
          </a:prstGeom>
          <a:noFill/>
        </p:spPr>
        <p:txBody>
          <a:bodyPr wrap="none" rtlCol="0">
            <a:spAutoFit/>
          </a:bodyPr>
          <a:lstStyle/>
          <a:p>
            <a:r>
              <a:rPr lang="en-US" sz="3200" u="sng" dirty="0"/>
              <a:t>Research Question</a:t>
            </a:r>
          </a:p>
          <a:p>
            <a:endParaRPr lang="en-US" u="sng" dirty="0"/>
          </a:p>
        </p:txBody>
      </p:sp>
      <p:sp>
        <p:nvSpPr>
          <p:cNvPr id="4" name="TextBox 3">
            <a:extLst>
              <a:ext uri="{FF2B5EF4-FFF2-40B4-BE49-F238E27FC236}">
                <a16:creationId xmlns:a16="http://schemas.microsoft.com/office/drawing/2014/main" id="{B799176E-D306-B1EF-0359-35B7E4A2CFCA}"/>
              </a:ext>
            </a:extLst>
          </p:cNvPr>
          <p:cNvSpPr txBox="1"/>
          <p:nvPr/>
        </p:nvSpPr>
        <p:spPr>
          <a:xfrm>
            <a:off x="990600" y="1552782"/>
            <a:ext cx="10055352" cy="923330"/>
          </a:xfrm>
          <a:prstGeom prst="rect">
            <a:avLst/>
          </a:prstGeom>
          <a:noFill/>
        </p:spPr>
        <p:txBody>
          <a:bodyPr wrap="square" rtlCol="0">
            <a:spAutoFit/>
          </a:bodyPr>
          <a:lstStyle/>
          <a:p>
            <a:r>
              <a:rPr lang="en-GB" dirty="0"/>
              <a:t>Can an integrated GIS, satellite imagery, and machine learning approach assess flood severity and estimate flood-related damage more accurately than conventional flood assessment methods in selected high-risk areas of Sri Lanka?</a:t>
            </a:r>
            <a:endParaRPr lang="en-US" dirty="0"/>
          </a:p>
        </p:txBody>
      </p:sp>
      <p:sp>
        <p:nvSpPr>
          <p:cNvPr id="6" name="TextBox 5">
            <a:extLst>
              <a:ext uri="{FF2B5EF4-FFF2-40B4-BE49-F238E27FC236}">
                <a16:creationId xmlns:a16="http://schemas.microsoft.com/office/drawing/2014/main" id="{1CE37067-FCFA-89DB-0D00-F8B49B72782D}"/>
              </a:ext>
            </a:extLst>
          </p:cNvPr>
          <p:cNvSpPr txBox="1"/>
          <p:nvPr/>
        </p:nvSpPr>
        <p:spPr>
          <a:xfrm>
            <a:off x="662379" y="960313"/>
            <a:ext cx="1970668" cy="646331"/>
          </a:xfrm>
          <a:prstGeom prst="rect">
            <a:avLst/>
          </a:prstGeom>
          <a:noFill/>
        </p:spPr>
        <p:txBody>
          <a:bodyPr wrap="none" rtlCol="0">
            <a:spAutoFit/>
          </a:bodyPr>
          <a:lstStyle/>
          <a:p>
            <a:r>
              <a:rPr lang="en-US" u="sng" dirty="0"/>
              <a:t>Research Problem</a:t>
            </a:r>
          </a:p>
          <a:p>
            <a:endParaRPr lang="en-US" dirty="0"/>
          </a:p>
        </p:txBody>
      </p:sp>
      <p:sp>
        <p:nvSpPr>
          <p:cNvPr id="8" name="TextBox 7">
            <a:extLst>
              <a:ext uri="{FF2B5EF4-FFF2-40B4-BE49-F238E27FC236}">
                <a16:creationId xmlns:a16="http://schemas.microsoft.com/office/drawing/2014/main" id="{A2D1CB35-3041-728A-CAD1-A9DF8DC1B953}"/>
              </a:ext>
            </a:extLst>
          </p:cNvPr>
          <p:cNvSpPr txBox="1"/>
          <p:nvPr/>
        </p:nvSpPr>
        <p:spPr>
          <a:xfrm>
            <a:off x="667295" y="2737721"/>
            <a:ext cx="2831737" cy="646331"/>
          </a:xfrm>
          <a:prstGeom prst="rect">
            <a:avLst/>
          </a:prstGeom>
          <a:noFill/>
        </p:spPr>
        <p:txBody>
          <a:bodyPr wrap="none" rtlCol="0">
            <a:spAutoFit/>
          </a:bodyPr>
          <a:lstStyle/>
          <a:p>
            <a:r>
              <a:rPr lang="en-US" u="sng" dirty="0"/>
              <a:t>Component Wise Objective</a:t>
            </a:r>
          </a:p>
          <a:p>
            <a:endParaRPr lang="en-US" dirty="0"/>
          </a:p>
        </p:txBody>
      </p:sp>
      <p:sp>
        <p:nvSpPr>
          <p:cNvPr id="10" name="TextBox 9">
            <a:extLst>
              <a:ext uri="{FF2B5EF4-FFF2-40B4-BE49-F238E27FC236}">
                <a16:creationId xmlns:a16="http://schemas.microsoft.com/office/drawing/2014/main" id="{A6C06BF6-1D6E-BC10-E8E0-669D1E7CF550}"/>
              </a:ext>
            </a:extLst>
          </p:cNvPr>
          <p:cNvSpPr txBox="1"/>
          <p:nvPr/>
        </p:nvSpPr>
        <p:spPr>
          <a:xfrm>
            <a:off x="6629400" y="2651422"/>
            <a:ext cx="3303020" cy="646331"/>
          </a:xfrm>
          <a:prstGeom prst="rect">
            <a:avLst/>
          </a:prstGeom>
          <a:noFill/>
        </p:spPr>
        <p:txBody>
          <a:bodyPr wrap="none" rtlCol="0">
            <a:spAutoFit/>
          </a:bodyPr>
          <a:lstStyle/>
          <a:p>
            <a:r>
              <a:rPr lang="en-US" u="sng" dirty="0"/>
              <a:t>Component Wise Sub Objective</a:t>
            </a:r>
          </a:p>
          <a:p>
            <a:endParaRPr lang="en-US" dirty="0"/>
          </a:p>
        </p:txBody>
      </p:sp>
      <p:sp>
        <p:nvSpPr>
          <p:cNvPr id="12" name="Rectangle 11">
            <a:extLst>
              <a:ext uri="{FF2B5EF4-FFF2-40B4-BE49-F238E27FC236}">
                <a16:creationId xmlns:a16="http://schemas.microsoft.com/office/drawing/2014/main" id="{A2C18C9C-7F78-AE13-0249-4B237DD3ACD6}"/>
              </a:ext>
            </a:extLst>
          </p:cNvPr>
          <p:cNvSpPr/>
          <p:nvPr/>
        </p:nvSpPr>
        <p:spPr>
          <a:xfrm>
            <a:off x="5475317" y="3048000"/>
            <a:ext cx="6049388" cy="320040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lgn="just">
              <a:buFont typeface="Arial" panose="020B0604020202020204" pitchFamily="34" charset="0"/>
              <a:buChar char="•"/>
            </a:pPr>
            <a:r>
              <a:rPr lang="en-GB" sz="1500" dirty="0">
                <a:solidFill>
                  <a:schemeClr val="tx1"/>
                </a:solidFill>
              </a:rPr>
              <a:t>1. Collect and prepare flood-related data * Historical flood records    * River water levels    * Rainfall data * DEM/elevation    * Land use/land cover    * Satellite images    * Population/building information</a:t>
            </a:r>
          </a:p>
          <a:p>
            <a:pPr marL="285750" lvl="0" indent="-285750" algn="just">
              <a:buFont typeface="Arial" panose="020B0604020202020204" pitchFamily="34" charset="0"/>
              <a:buChar char="•"/>
            </a:pPr>
            <a:r>
              <a:rPr lang="en-GB" sz="1500" dirty="0">
                <a:solidFill>
                  <a:schemeClr val="tx1"/>
                </a:solidFill>
              </a:rPr>
              <a:t>2. Identify flooded areas * Use satellite images to detect the areas covered by floodwater.</a:t>
            </a:r>
          </a:p>
          <a:p>
            <a:pPr marL="285750" lvl="0" indent="-285750" algn="just">
              <a:buFont typeface="Arial" panose="020B0604020202020204" pitchFamily="34" charset="0"/>
              <a:buChar char="•"/>
            </a:pPr>
            <a:r>
              <a:rPr lang="en-GB" sz="1500" dirty="0">
                <a:solidFill>
                  <a:schemeClr val="tx1"/>
                </a:solidFill>
              </a:rPr>
              <a:t>3. Assess flood severity  * Combine factors such as water level, flood extent, elevation, land use and population exposure.    * Classify areas into Low, Moderate, High and Severe flood-risk/impact levels.</a:t>
            </a:r>
          </a:p>
          <a:p>
            <a:pPr marL="285750" lvl="0" indent="-285750" algn="just">
              <a:buFont typeface="Arial" panose="020B0604020202020204" pitchFamily="34" charset="0"/>
              <a:buChar char="•"/>
            </a:pPr>
            <a:r>
              <a:rPr lang="en-GB" sz="1500" dirty="0">
                <a:solidFill>
                  <a:schemeClr val="tx1"/>
                </a:solidFill>
              </a:rPr>
              <a:t>4. Estimate damage/impact using AI    * Use AI/ML to estimate possible damage to buildings and other exposed areas.</a:t>
            </a:r>
          </a:p>
          <a:p>
            <a:pPr marL="285750" lvl="0" indent="-285750" algn="just">
              <a:buFont typeface="Arial" panose="020B0604020202020204" pitchFamily="34" charset="0"/>
              <a:buChar char="•"/>
            </a:pPr>
            <a:r>
              <a:rPr lang="en-GB" sz="1500" dirty="0">
                <a:solidFill>
                  <a:schemeClr val="tx1"/>
                </a:solidFill>
              </a:rPr>
              <a:t>5. Create an interactive flood severity map * Display flooded areas and severity levels using GIS/web mapping.</a:t>
            </a:r>
            <a:endParaRPr lang="en-US" dirty="0">
              <a:solidFill>
                <a:schemeClr val="tx1"/>
              </a:solidFill>
            </a:endParaRPr>
          </a:p>
        </p:txBody>
      </p:sp>
      <p:sp>
        <p:nvSpPr>
          <p:cNvPr id="14" name="Rectangle 13">
            <a:extLst>
              <a:ext uri="{FF2B5EF4-FFF2-40B4-BE49-F238E27FC236}">
                <a16:creationId xmlns:a16="http://schemas.microsoft.com/office/drawing/2014/main" id="{677E131B-AA6C-AFBE-144A-215C000C1D39}"/>
              </a:ext>
            </a:extLst>
          </p:cNvPr>
          <p:cNvSpPr/>
          <p:nvPr/>
        </p:nvSpPr>
        <p:spPr>
          <a:xfrm>
            <a:off x="773595" y="3330190"/>
            <a:ext cx="4595421" cy="177335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main objective is to assess how severe a flood is and show the affected areas on a map.</a:t>
            </a:r>
            <a:endParaRPr lang="en-US" dirty="0">
              <a:solidFill>
                <a:schemeClr val="tx1"/>
              </a:solidFill>
            </a:endParaRPr>
          </a:p>
        </p:txBody>
      </p:sp>
    </p:spTree>
    <p:extLst>
      <p:ext uri="{BB962C8B-B14F-4D97-AF65-F5344CB8AC3E}">
        <p14:creationId xmlns:p14="http://schemas.microsoft.com/office/powerpoint/2010/main" val="392129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46BA7-4196-9170-C940-9A8FE8A75D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B19D31-F0E7-AA7D-65D1-7F03245F6186}"/>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a:ea typeface="+mj-ea"/>
                <a:cs typeface="Adobe Devanagari" pitchFamily="18" charset="0"/>
              </a:rPr>
              <a:t>Features And Gaps</a:t>
            </a:r>
            <a:endParaRPr lang="en-US" sz="2500" b="1" u="sng" kern="1200" dirty="0">
              <a:ea typeface="+mj-ea"/>
              <a:cs typeface="Adobe Devanagari" pitchFamily="18" charset="0"/>
            </a:endParaRPr>
          </a:p>
        </p:txBody>
      </p:sp>
      <p:sp>
        <p:nvSpPr>
          <p:cNvPr id="3" name="TextBox 2">
            <a:extLst>
              <a:ext uri="{FF2B5EF4-FFF2-40B4-BE49-F238E27FC236}">
                <a16:creationId xmlns:a16="http://schemas.microsoft.com/office/drawing/2014/main" id="{A88D9B83-6C02-E0A1-89D3-514948516934}"/>
              </a:ext>
            </a:extLst>
          </p:cNvPr>
          <p:cNvSpPr txBox="1"/>
          <p:nvPr/>
        </p:nvSpPr>
        <p:spPr>
          <a:xfrm>
            <a:off x="3897210" y="6584950"/>
            <a:ext cx="3913715" cy="546099"/>
          </a:xfrm>
          <a:prstGeom prst="rect">
            <a:avLst/>
          </a:prstGeom>
        </p:spPr>
        <p:txBody>
          <a:bodyPr vert="horz" lIns="91440" tIns="45720" rIns="91440" bIns="45720" rtlCol="0">
            <a:normAutofit/>
          </a:bodyPr>
          <a:lstStyle/>
          <a:p>
            <a:pPr>
              <a:spcBef>
                <a:spcPct val="20000"/>
              </a:spcBef>
            </a:pPr>
            <a:r>
              <a:rPr lang="en-US" sz="1400" dirty="0"/>
              <a:t>IT23280892 </a:t>
            </a:r>
            <a:r>
              <a:rPr lang="en-US" sz="1400" kern="1200" dirty="0">
                <a:latin typeface="+mn-lt"/>
                <a:ea typeface="+mn-ea"/>
                <a:cs typeface="+mn-cs"/>
              </a:rPr>
              <a:t>|</a:t>
            </a:r>
            <a:r>
              <a:rPr lang="en-US" sz="1400" dirty="0" err="1"/>
              <a:t>Sinhalagoda</a:t>
            </a:r>
            <a:r>
              <a:rPr lang="en-US" sz="1400" dirty="0"/>
              <a:t> S.A.U.R.A.V</a:t>
            </a:r>
            <a:r>
              <a:rPr lang="en-US" sz="1400" kern="1200" dirty="0">
                <a:latin typeface="+mn-lt"/>
                <a:ea typeface="+mn-ea"/>
                <a:cs typeface="+mn-cs"/>
              </a:rPr>
              <a:t>|J26-IT-334</a:t>
            </a:r>
          </a:p>
          <a:p>
            <a:pPr>
              <a:spcBef>
                <a:spcPct val="20000"/>
              </a:spcBef>
            </a:pPr>
            <a:endParaRPr lang="en-US" sz="1400" kern="1200" dirty="0">
              <a:latin typeface="+mn-lt"/>
              <a:ea typeface="+mn-ea"/>
              <a:cs typeface="+mn-cs"/>
            </a:endParaRPr>
          </a:p>
        </p:txBody>
      </p:sp>
      <p:sp>
        <p:nvSpPr>
          <p:cNvPr id="4" name="TextBox 3">
            <a:extLst>
              <a:ext uri="{FF2B5EF4-FFF2-40B4-BE49-F238E27FC236}">
                <a16:creationId xmlns:a16="http://schemas.microsoft.com/office/drawing/2014/main" id="{6E07F9A4-C3AF-04D9-A857-48692827949A}"/>
              </a:ext>
            </a:extLst>
          </p:cNvPr>
          <p:cNvSpPr txBox="1"/>
          <p:nvPr/>
        </p:nvSpPr>
        <p:spPr>
          <a:xfrm>
            <a:off x="894735" y="1376516"/>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DE2ECDE8-4A36-1B31-FF54-AD77B52EAB5F}"/>
              </a:ext>
            </a:extLst>
          </p:cNvPr>
          <p:cNvSpPr txBox="1"/>
          <p:nvPr/>
        </p:nvSpPr>
        <p:spPr>
          <a:xfrm>
            <a:off x="5761703" y="1956619"/>
            <a:ext cx="184731" cy="369332"/>
          </a:xfrm>
          <a:prstGeom prst="rect">
            <a:avLst/>
          </a:prstGeom>
          <a:noFill/>
        </p:spPr>
        <p:txBody>
          <a:bodyPr wrap="none" rtlCol="0">
            <a:spAutoFit/>
          </a:bodyPr>
          <a:lstStyle/>
          <a:p>
            <a:endParaRPr lang="en-US" dirty="0"/>
          </a:p>
        </p:txBody>
      </p:sp>
      <p:graphicFrame>
        <p:nvGraphicFramePr>
          <p:cNvPr id="12" name="Table 11">
            <a:extLst>
              <a:ext uri="{FF2B5EF4-FFF2-40B4-BE49-F238E27FC236}">
                <a16:creationId xmlns:a16="http://schemas.microsoft.com/office/drawing/2014/main" id="{50A38862-97E3-3474-0304-EF1B39DBD75B}"/>
              </a:ext>
            </a:extLst>
          </p:cNvPr>
          <p:cNvGraphicFramePr>
            <a:graphicFrameLocks noGrp="1"/>
          </p:cNvGraphicFramePr>
          <p:nvPr>
            <p:extLst>
              <p:ext uri="{D42A27DB-BD31-4B8C-83A1-F6EECF244321}">
                <p14:modId xmlns:p14="http://schemas.microsoft.com/office/powerpoint/2010/main" val="2056601802"/>
              </p:ext>
            </p:extLst>
          </p:nvPr>
        </p:nvGraphicFramePr>
        <p:xfrm>
          <a:off x="4583788" y="228600"/>
          <a:ext cx="6877666" cy="6281221"/>
        </p:xfrm>
        <a:graphic>
          <a:graphicData uri="http://schemas.openxmlformats.org/drawingml/2006/table">
            <a:tbl>
              <a:tblPr>
                <a:tableStyleId>{5C22544A-7EE6-4342-B048-85BDC9FD1C3A}</a:tableStyleId>
              </a:tblPr>
              <a:tblGrid>
                <a:gridCol w="3438833">
                  <a:extLst>
                    <a:ext uri="{9D8B030D-6E8A-4147-A177-3AD203B41FA5}">
                      <a16:colId xmlns:a16="http://schemas.microsoft.com/office/drawing/2014/main" val="4268975017"/>
                    </a:ext>
                  </a:extLst>
                </a:gridCol>
                <a:gridCol w="3438833">
                  <a:extLst>
                    <a:ext uri="{9D8B030D-6E8A-4147-A177-3AD203B41FA5}">
                      <a16:colId xmlns:a16="http://schemas.microsoft.com/office/drawing/2014/main" val="2711076989"/>
                    </a:ext>
                  </a:extLst>
                </a:gridCol>
              </a:tblGrid>
              <a:tr h="165229">
                <a:tc>
                  <a:txBody>
                    <a:bodyPr/>
                    <a:lstStyle/>
                    <a:p>
                      <a:pPr marL="0" marR="0" rtl="0">
                        <a:spcAft>
                          <a:spcPts val="2400"/>
                        </a:spcAft>
                        <a:buNone/>
                      </a:pPr>
                      <a:r>
                        <a:rPr lang="en-US" sz="1000" dirty="0">
                          <a:effectLst/>
                        </a:rPr>
                        <a:t>Existing Gap (from Literature / Systems)</a:t>
                      </a: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rtl="0">
                        <a:spcAft>
                          <a:spcPts val="2400"/>
                        </a:spcAft>
                        <a:buNone/>
                      </a:pPr>
                      <a:r>
                        <a:rPr lang="en-US" sz="1000" dirty="0">
                          <a:effectLst/>
                        </a:rPr>
                        <a:t>Feature (How Component Closes It)</a:t>
                      </a: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34144077"/>
                  </a:ext>
                </a:extLst>
              </a:tr>
              <a:tr h="1322084">
                <a:tc>
                  <a:txBody>
                    <a:bodyPr/>
                    <a:lstStyle/>
                    <a:p>
                      <a:pPr marL="0" marR="0" rtl="0">
                        <a:spcAft>
                          <a:spcPts val="2400"/>
                        </a:spcAft>
                        <a:buNone/>
                      </a:pPr>
                      <a:r>
                        <a:rPr lang="en-US" sz="1000" dirty="0">
                          <a:effectLst/>
                        </a:rPr>
                        <a:t>Fragmented and multi-source flood data: Flood data is scattered across multiple agencies (river levels, meteorology, population data) without unified ingestion.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000" dirty="0">
                          <a:effectLst/>
                        </a:rPr>
                        <a:t>Multi-Source Data Fusion Engine: Automatically ingests and spatially aligns historical flood records, river gauge levels, rainfall data, elevation (DEM), land use, and census records into a single integrated pipeline.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083026"/>
                  </a:ext>
                </a:extLst>
              </a:tr>
              <a:tr h="1170631">
                <a:tc>
                  <a:txBody>
                    <a:bodyPr/>
                    <a:lstStyle/>
                    <a:p>
                      <a:pPr marL="0" marR="0" rtl="0">
                        <a:spcAft>
                          <a:spcPts val="2400"/>
                        </a:spcAft>
                        <a:buNone/>
                      </a:pPr>
                      <a:r>
                        <a:rPr lang="en-US" sz="1000" dirty="0">
                          <a:effectLst/>
                        </a:rPr>
                        <a:t>Lack of spatial clarity on flood extents: Traditional monitoring relies on point-based water levels, making it difficult to visualize the true spatial extent of flooded terrain.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000" dirty="0">
                          <a:effectLst/>
                        </a:rPr>
                        <a:t>Remote Sensing-Based Flood Extent Mapping: Detects and delineates active floodwater boundaries using satellite imagery processing to generate dynamic flood extent layers.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6852769"/>
                  </a:ext>
                </a:extLst>
              </a:tr>
              <a:tr h="1170631">
                <a:tc>
                  <a:txBody>
                    <a:bodyPr/>
                    <a:lstStyle/>
                    <a:p>
                      <a:pPr marL="0" marR="0" rtl="0">
                        <a:spcAft>
                          <a:spcPts val="2400"/>
                        </a:spcAft>
                        <a:buNone/>
                      </a:pPr>
                      <a:r>
                        <a:rPr lang="en-US" sz="1000" dirty="0">
                          <a:effectLst/>
                        </a:rPr>
                        <a:t>Coarse and non-standardized severity outputs: Existing flood maps often show inundated areas without categorizing the intensity or severity of the hazard.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000" dirty="0">
                          <a:effectLst/>
                        </a:rPr>
                        <a:t>Multi-Factor Flood Severity Classifier: Combines water level, flood extent, elevation, land use, and population exposure to classify areas into Low, Moderate, High, and Severe impact tiers.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6449012"/>
                  </a:ext>
                </a:extLst>
              </a:tr>
              <a:tr h="1170631">
                <a:tc>
                  <a:txBody>
                    <a:bodyPr/>
                    <a:lstStyle/>
                    <a:p>
                      <a:pPr marL="0" marR="0" rtl="0">
                        <a:spcAft>
                          <a:spcPts val="2400"/>
                        </a:spcAft>
                        <a:buNone/>
                      </a:pPr>
                      <a:r>
                        <a:rPr lang="en-US" sz="1000" dirty="0">
                          <a:effectLst/>
                        </a:rPr>
                        <a:t>Limited integration of satellite imagery with spatial databases: Remote sensing outputs are often isolated from operational GIS environments used for decision support.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000" dirty="0">
                          <a:effectLst/>
                        </a:rPr>
                        <a:t>Integrated Remote Sensing &amp; GIS Pipeline: Merges satellite-detected flood masks directly with </a:t>
                      </a:r>
                      <a:r>
                        <a:rPr lang="en-US" sz="1000" dirty="0" err="1">
                          <a:effectLst/>
                        </a:rPr>
                        <a:t>PostGIS</a:t>
                      </a:r>
                      <a:r>
                        <a:rPr lang="en-US" sz="1000" dirty="0">
                          <a:effectLst/>
                        </a:rPr>
                        <a:t>/OSM spatial layers for real-time spatial analysis.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3322655"/>
                  </a:ext>
                </a:extLst>
              </a:tr>
              <a:tr h="1170631">
                <a:tc>
                  <a:txBody>
                    <a:bodyPr/>
                    <a:lstStyle/>
                    <a:p>
                      <a:pPr marL="0" marR="0" rtl="0">
                        <a:spcAft>
                          <a:spcPts val="2400"/>
                        </a:spcAft>
                        <a:buNone/>
                      </a:pPr>
                      <a:r>
                        <a:rPr lang="en-US" sz="1000" dirty="0">
                          <a:effectLst/>
                        </a:rPr>
                        <a:t>Static, non-interactive warning presentations: Bulletins and reports are published as static text or raw maps, making them difficult for non-technical stakeholders to interpret. </a:t>
                      </a:r>
                    </a:p>
                    <a:p>
                      <a:pPr marL="0" marR="0" rtl="0">
                        <a:spcAft>
                          <a:spcPts val="2400"/>
                        </a:spcAft>
                        <a:buNone/>
                      </a:pPr>
                      <a:br>
                        <a:rPr lang="en-US" sz="1000" dirty="0">
                          <a:effectLst/>
                        </a:rPr>
                      </a:b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000" dirty="0">
                          <a:effectLst/>
                        </a:rPr>
                        <a:t>Interactive Web-GIS Visualization Platform: Presents dynamic severity levels and flood extents through an accessible, high-contrast, interactive mapping UI. </a:t>
                      </a:r>
                      <a:endParaRPr lang="en-US" sz="1000" dirty="0">
                        <a:solidFill>
                          <a:srgbClr val="1F1F1F"/>
                        </a:solidFill>
                        <a:effectLst/>
                        <a:latin typeface="Google Sans Text"/>
                      </a:endParaRPr>
                    </a:p>
                  </a:txBody>
                  <a:tcPr marL="28366" marR="28366" marT="18911" marB="18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350960"/>
                  </a:ext>
                </a:extLst>
              </a:tr>
            </a:tbl>
          </a:graphicData>
        </a:graphic>
      </p:graphicFrame>
      <p:sp>
        <p:nvSpPr>
          <p:cNvPr id="13" name="TextBox 12">
            <a:extLst>
              <a:ext uri="{FF2B5EF4-FFF2-40B4-BE49-F238E27FC236}">
                <a16:creationId xmlns:a16="http://schemas.microsoft.com/office/drawing/2014/main" id="{2499E8A6-C033-BA38-909A-5AD81FBBEE5C}"/>
              </a:ext>
            </a:extLst>
          </p:cNvPr>
          <p:cNvSpPr txBox="1"/>
          <p:nvPr/>
        </p:nvSpPr>
        <p:spPr>
          <a:xfrm>
            <a:off x="462013" y="282982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856186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6EAD-F414-F4E9-21D9-592BC51643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BDB407-B8B3-E4E7-5DF4-F60D2FADE286}"/>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dirty="0" err="1">
                <a:ea typeface="+mj-ea"/>
                <a:cs typeface="Adobe Devanagari" pitchFamily="18" charset="0"/>
              </a:rPr>
              <a:t>Methdology</a:t>
            </a:r>
            <a:endParaRPr lang="en-US" sz="2500" b="1" u="sng" kern="1200" dirty="0">
              <a:ea typeface="+mj-ea"/>
              <a:cs typeface="Adobe Devanagari" pitchFamily="18" charset="0"/>
            </a:endParaRPr>
          </a:p>
          <a:p>
            <a:pPr>
              <a:spcBef>
                <a:spcPct val="0"/>
              </a:spcBef>
              <a:spcAft>
                <a:spcPts val="600"/>
              </a:spcAft>
            </a:pPr>
            <a:endParaRPr lang="en-US" sz="2000" b="1" u="sng" kern="1200" dirty="0">
              <a:latin typeface="Adobe Devanagari" pitchFamily="18" charset="0"/>
              <a:ea typeface="+mj-ea"/>
              <a:cs typeface="Adobe Devanagari" pitchFamily="18" charset="0"/>
            </a:endParaRPr>
          </a:p>
        </p:txBody>
      </p:sp>
      <p:sp>
        <p:nvSpPr>
          <p:cNvPr id="3" name="TextBox 2">
            <a:extLst>
              <a:ext uri="{FF2B5EF4-FFF2-40B4-BE49-F238E27FC236}">
                <a16:creationId xmlns:a16="http://schemas.microsoft.com/office/drawing/2014/main" id="{CBCEB5E5-AA30-3426-A067-681EC83D24FD}"/>
              </a:ext>
            </a:extLst>
          </p:cNvPr>
          <p:cNvSpPr txBox="1"/>
          <p:nvPr/>
        </p:nvSpPr>
        <p:spPr>
          <a:xfrm>
            <a:off x="623603" y="1843768"/>
            <a:ext cx="3033997" cy="2804432"/>
          </a:xfrm>
          <a:prstGeom prst="rect">
            <a:avLst/>
          </a:prstGeom>
        </p:spPr>
        <p:txBody>
          <a:bodyPr vert="horz" lIns="91440" tIns="45720" rIns="91440" bIns="45720" rtlCol="0">
            <a:normAutofit/>
          </a:bodyPr>
          <a:lstStyle/>
          <a:p>
            <a:pPr>
              <a:spcBef>
                <a:spcPct val="20000"/>
              </a:spcBef>
            </a:pPr>
            <a:r>
              <a:rPr lang="en-US" sz="1400" dirty="0"/>
              <a:t>This methodology combines multi-source environmental and satellite data through automated preprocessing and multi-temporal remote sensing to delineate flood extents, calculate localized severity scores, predict infrastructure damage using machine learning, and deliver dynamic spatial risk visualizations via an interactive Web-GIS platform</a:t>
            </a:r>
            <a:endParaRPr lang="en-US" sz="1400" kern="1200" dirty="0">
              <a:latin typeface="+mn-lt"/>
              <a:ea typeface="+mn-ea"/>
              <a:cs typeface="+mn-cs"/>
            </a:endParaRPr>
          </a:p>
        </p:txBody>
      </p:sp>
      <p:sp>
        <p:nvSpPr>
          <p:cNvPr id="5" name="TextBox 4">
            <a:extLst>
              <a:ext uri="{FF2B5EF4-FFF2-40B4-BE49-F238E27FC236}">
                <a16:creationId xmlns:a16="http://schemas.microsoft.com/office/drawing/2014/main" id="{0D9A5854-511A-1629-D43E-C3AB33F4D324}"/>
              </a:ext>
            </a:extLst>
          </p:cNvPr>
          <p:cNvSpPr txBox="1"/>
          <p:nvPr/>
        </p:nvSpPr>
        <p:spPr>
          <a:xfrm>
            <a:off x="3886200" y="6507134"/>
            <a:ext cx="5013808" cy="701731"/>
          </a:xfrm>
          <a:prstGeom prst="rect">
            <a:avLst/>
          </a:prstGeom>
          <a:noFill/>
        </p:spPr>
        <p:txBody>
          <a:bodyPr wrap="none" rtlCol="0">
            <a:spAutoFit/>
          </a:bodyPr>
          <a:lstStyle/>
          <a:p>
            <a:pPr>
              <a:spcBef>
                <a:spcPct val="20000"/>
              </a:spcBef>
            </a:pPr>
            <a:r>
              <a:rPr lang="en-US" dirty="0"/>
              <a:t>IT23280892 |</a:t>
            </a:r>
            <a:r>
              <a:rPr lang="en-US" dirty="0" err="1"/>
              <a:t>Sinhalagoda</a:t>
            </a:r>
            <a:r>
              <a:rPr lang="en-US" dirty="0"/>
              <a:t> S.A.U.R.A.V|J26-IT-334</a:t>
            </a:r>
          </a:p>
          <a:p>
            <a:pPr>
              <a:spcBef>
                <a:spcPct val="20000"/>
              </a:spcBef>
            </a:pPr>
            <a:endParaRPr lang="en-US" dirty="0"/>
          </a:p>
        </p:txBody>
      </p:sp>
      <p:sp>
        <p:nvSpPr>
          <p:cNvPr id="6" name="TextBox 5">
            <a:extLst>
              <a:ext uri="{FF2B5EF4-FFF2-40B4-BE49-F238E27FC236}">
                <a16:creationId xmlns:a16="http://schemas.microsoft.com/office/drawing/2014/main" id="{E7A4BAEF-EFA9-88B9-4ED5-C8F6D98A8A49}"/>
              </a:ext>
            </a:extLst>
          </p:cNvPr>
          <p:cNvSpPr txBox="1"/>
          <p:nvPr/>
        </p:nvSpPr>
        <p:spPr>
          <a:xfrm>
            <a:off x="609601" y="1340607"/>
            <a:ext cx="1927579" cy="646331"/>
          </a:xfrm>
          <a:prstGeom prst="rect">
            <a:avLst/>
          </a:prstGeom>
          <a:noFill/>
        </p:spPr>
        <p:txBody>
          <a:bodyPr wrap="none" rtlCol="0">
            <a:spAutoFit/>
          </a:bodyPr>
          <a:lstStyle/>
          <a:p>
            <a:r>
              <a:rPr lang="en-US" b="1" dirty="0"/>
              <a:t>Research Design</a:t>
            </a:r>
            <a:endParaRPr lang="en-US" dirty="0"/>
          </a:p>
          <a:p>
            <a:endParaRPr lang="en-US" dirty="0"/>
          </a:p>
        </p:txBody>
      </p:sp>
      <p:graphicFrame>
        <p:nvGraphicFramePr>
          <p:cNvPr id="7" name="Table 6">
            <a:extLst>
              <a:ext uri="{FF2B5EF4-FFF2-40B4-BE49-F238E27FC236}">
                <a16:creationId xmlns:a16="http://schemas.microsoft.com/office/drawing/2014/main" id="{5F4BA5C0-626A-6422-B561-7CF07BDF552F}"/>
              </a:ext>
            </a:extLst>
          </p:cNvPr>
          <p:cNvGraphicFramePr>
            <a:graphicFrameLocks noGrp="1"/>
          </p:cNvGraphicFramePr>
          <p:nvPr>
            <p:extLst>
              <p:ext uri="{D42A27DB-BD31-4B8C-83A1-F6EECF244321}">
                <p14:modId xmlns:p14="http://schemas.microsoft.com/office/powerpoint/2010/main" val="1537942139"/>
              </p:ext>
            </p:extLst>
          </p:nvPr>
        </p:nvGraphicFramePr>
        <p:xfrm>
          <a:off x="3886200" y="297113"/>
          <a:ext cx="7998444" cy="5875089"/>
        </p:xfrm>
        <a:graphic>
          <a:graphicData uri="http://schemas.openxmlformats.org/drawingml/2006/table">
            <a:tbl>
              <a:tblPr>
                <a:tableStyleId>{073A0DAA-6AF3-43AB-8588-CEC1D06C72B9}</a:tableStyleId>
              </a:tblPr>
              <a:tblGrid>
                <a:gridCol w="1999611">
                  <a:extLst>
                    <a:ext uri="{9D8B030D-6E8A-4147-A177-3AD203B41FA5}">
                      <a16:colId xmlns:a16="http://schemas.microsoft.com/office/drawing/2014/main" val="1624204179"/>
                    </a:ext>
                  </a:extLst>
                </a:gridCol>
                <a:gridCol w="1999611">
                  <a:extLst>
                    <a:ext uri="{9D8B030D-6E8A-4147-A177-3AD203B41FA5}">
                      <a16:colId xmlns:a16="http://schemas.microsoft.com/office/drawing/2014/main" val="1469820437"/>
                    </a:ext>
                  </a:extLst>
                </a:gridCol>
                <a:gridCol w="1999611">
                  <a:extLst>
                    <a:ext uri="{9D8B030D-6E8A-4147-A177-3AD203B41FA5}">
                      <a16:colId xmlns:a16="http://schemas.microsoft.com/office/drawing/2014/main" val="4205137664"/>
                    </a:ext>
                  </a:extLst>
                </a:gridCol>
                <a:gridCol w="1999611">
                  <a:extLst>
                    <a:ext uri="{9D8B030D-6E8A-4147-A177-3AD203B41FA5}">
                      <a16:colId xmlns:a16="http://schemas.microsoft.com/office/drawing/2014/main" val="3489806297"/>
                    </a:ext>
                  </a:extLst>
                </a:gridCol>
              </a:tblGrid>
              <a:tr h="291783">
                <a:tc>
                  <a:txBody>
                    <a:bodyPr/>
                    <a:lstStyle/>
                    <a:p>
                      <a:pPr marL="0" marR="0">
                        <a:spcAft>
                          <a:spcPts val="2400"/>
                        </a:spcAft>
                        <a:buNone/>
                      </a:pPr>
                      <a:r>
                        <a:rPr lang="en-US" sz="1200" dirty="0" err="1">
                          <a:effectLst/>
                        </a:rPr>
                        <a:t>tage</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spcAft>
                          <a:spcPts val="2400"/>
                        </a:spcAft>
                        <a:buNone/>
                      </a:pPr>
                      <a:r>
                        <a:rPr lang="en-US" sz="1200" dirty="0">
                          <a:effectLst/>
                        </a:rPr>
                        <a:t>Key Actions</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spcAft>
                          <a:spcPts val="2400"/>
                        </a:spcAft>
                        <a:buNone/>
                      </a:pPr>
                      <a:r>
                        <a:rPr lang="en-US" sz="1200" dirty="0">
                          <a:effectLst/>
                        </a:rPr>
                        <a:t>Technical Approach &amp; Inputs</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spcAft>
                          <a:spcPts val="2400"/>
                        </a:spcAft>
                        <a:buNone/>
                      </a:pPr>
                      <a:r>
                        <a:rPr lang="en-US" sz="1200" dirty="0">
                          <a:effectLst/>
                        </a:rPr>
                        <a:t>Key Output</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714500801"/>
                  </a:ext>
                </a:extLst>
              </a:tr>
              <a:tr h="930551">
                <a:tc>
                  <a:txBody>
                    <a:bodyPr/>
                    <a:lstStyle/>
                    <a:p>
                      <a:pPr marL="0" marR="0">
                        <a:spcAft>
                          <a:spcPts val="2400"/>
                        </a:spcAft>
                        <a:buNone/>
                      </a:pPr>
                      <a:r>
                        <a:rPr lang="en-US" sz="1200" dirty="0">
                          <a:effectLst/>
                        </a:rPr>
                        <a:t>Step 1 – Data Collection</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Gather multi-source environmental, geospatial, and demographic datasets.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Ingest data from government agencies (DMC, Met Dept) and open repositories (OSM, satellite feeds).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Raw heterogeneous multi-source dataset.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8964563"/>
                  </a:ext>
                </a:extLst>
              </a:tr>
              <a:tr h="930551">
                <a:tc>
                  <a:txBody>
                    <a:bodyPr/>
                    <a:lstStyle/>
                    <a:p>
                      <a:pPr marL="0" marR="0">
                        <a:spcAft>
                          <a:spcPts val="2400"/>
                        </a:spcAft>
                        <a:buNone/>
                      </a:pPr>
                      <a:r>
                        <a:rPr lang="en-US" sz="1200">
                          <a:effectLst/>
                        </a:rPr>
                        <a:t>Step 2 – Data Preprocessing</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Clean, format, and align spatial data layers.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Standardize spatial coordinate reference systems, process DEM tiles, and prepare satellite rasters.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Unified, GIS-compatible spatial feature layers.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7406856"/>
                  </a:ext>
                </a:extLst>
              </a:tr>
              <a:tr h="930551">
                <a:tc>
                  <a:txBody>
                    <a:bodyPr/>
                    <a:lstStyle/>
                    <a:p>
                      <a:pPr marL="0" marR="0">
                        <a:spcAft>
                          <a:spcPts val="2400"/>
                        </a:spcAft>
                        <a:buNone/>
                      </a:pPr>
                      <a:r>
                        <a:rPr lang="en-US" sz="1200">
                          <a:effectLst/>
                        </a:rPr>
                        <a:t>Step 3 – Flood Extent Mapping</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Delineate active floodwater boundaries.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Perform multi-temporal analysis comparing pre-event and post-event satellite imagery.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Satellite-derived flood extent vector masks.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8797472"/>
                  </a:ext>
                </a:extLst>
              </a:tr>
              <a:tr h="930551">
                <a:tc>
                  <a:txBody>
                    <a:bodyPr/>
                    <a:lstStyle/>
                    <a:p>
                      <a:pPr marL="0" marR="0">
                        <a:spcAft>
                          <a:spcPts val="2400"/>
                        </a:spcAft>
                        <a:buNone/>
                      </a:pPr>
                      <a:r>
                        <a:rPr lang="en-US" sz="1200">
                          <a:effectLst/>
                        </a:rPr>
                        <a:t>Step 4 – Flood Severity Assessment</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Calculate localized hazard intensity scores.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Combine flood extent, river water levels, DEM elevation, land use, population density, and historical records.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Classified flood severity scores (Low, Moderate, High, Severe).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8019958"/>
                  </a:ext>
                </a:extLst>
              </a:tr>
              <a:tr h="930551">
                <a:tc>
                  <a:txBody>
                    <a:bodyPr/>
                    <a:lstStyle/>
                    <a:p>
                      <a:pPr marL="0" marR="0">
                        <a:spcAft>
                          <a:spcPts val="2400"/>
                        </a:spcAft>
                        <a:buNone/>
                      </a:pPr>
                      <a:r>
                        <a:rPr lang="en-US" sz="1200">
                          <a:effectLst/>
                        </a:rPr>
                        <a:t>Step 5 – AI Damage Estimation</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Predict structural and localized impact.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Apply machine learning models to analyze exposed building footprints and infrastructure assets.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Quantitative damage and impact estimates.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765603"/>
                  </a:ext>
                </a:extLst>
              </a:tr>
              <a:tr h="930551">
                <a:tc>
                  <a:txBody>
                    <a:bodyPr/>
                    <a:lstStyle/>
                    <a:p>
                      <a:pPr marL="0" marR="0">
                        <a:spcAft>
                          <a:spcPts val="2400"/>
                        </a:spcAft>
                        <a:buNone/>
                      </a:pPr>
                      <a:r>
                        <a:rPr lang="en-US" sz="1200">
                          <a:effectLst/>
                        </a:rPr>
                        <a:t>Step 6 – Mapping &amp; Visualization</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Render spatial outputs for decision-makers.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a:effectLst/>
                        </a:rPr>
                        <a:t>Integrate spatial database layers (PostGIS/QGIS) into an interactive Web-GIS dashboard. </a:t>
                      </a:r>
                      <a:endParaRPr lang="en-US" sz="120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Aft>
                          <a:spcPts val="2400"/>
                        </a:spcAft>
                        <a:buNone/>
                      </a:pPr>
                      <a:r>
                        <a:rPr lang="en-US" sz="1200" dirty="0">
                          <a:effectLst/>
                        </a:rPr>
                        <a:t>Dynamic live flood map showing extents, severity, and damage. </a:t>
                      </a:r>
                      <a:endParaRPr lang="en-US" sz="1200" dirty="0">
                        <a:effectLst/>
                        <a:latin typeface="Google Sans Text"/>
                      </a:endParaRPr>
                    </a:p>
                  </a:txBody>
                  <a:tcPr marL="52164" marR="52164" marT="34776" marB="34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29582158"/>
                  </a:ext>
                </a:extLst>
              </a:tr>
            </a:tbl>
          </a:graphicData>
        </a:graphic>
      </p:graphicFrame>
    </p:spTree>
    <p:extLst>
      <p:ext uri="{BB962C8B-B14F-4D97-AF65-F5344CB8AC3E}">
        <p14:creationId xmlns:p14="http://schemas.microsoft.com/office/powerpoint/2010/main" val="222295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972F-A64A-1A1B-DB52-81CE3D8566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FAC7E0-6E00-4BB5-DE46-DC6ABF0A68AF}"/>
              </a:ext>
            </a:extLst>
          </p:cNvPr>
          <p:cNvSpPr txBox="1"/>
          <p:nvPr/>
        </p:nvSpPr>
        <p:spPr>
          <a:xfrm>
            <a:off x="118712" y="101184"/>
            <a:ext cx="5006563" cy="369332"/>
          </a:xfrm>
          <a:prstGeom prst="rect">
            <a:avLst/>
          </a:prstGeom>
          <a:noFill/>
        </p:spPr>
        <p:txBody>
          <a:bodyPr wrap="none" rtlCol="0">
            <a:spAutoFit/>
          </a:bodyPr>
          <a:lstStyle/>
          <a:p>
            <a:r>
              <a:rPr lang="en-US" b="1" dirty="0"/>
              <a:t>Functional and Non-Functional Requirements</a:t>
            </a:r>
          </a:p>
        </p:txBody>
      </p:sp>
      <p:sp>
        <p:nvSpPr>
          <p:cNvPr id="5" name="TextBox 4">
            <a:extLst>
              <a:ext uri="{FF2B5EF4-FFF2-40B4-BE49-F238E27FC236}">
                <a16:creationId xmlns:a16="http://schemas.microsoft.com/office/drawing/2014/main" id="{DB20FF55-A6B3-BB2D-06BF-6F5CA3C423E2}"/>
              </a:ext>
            </a:extLst>
          </p:cNvPr>
          <p:cNvSpPr txBox="1"/>
          <p:nvPr/>
        </p:nvSpPr>
        <p:spPr>
          <a:xfrm>
            <a:off x="152400" y="521732"/>
            <a:ext cx="2666371" cy="369332"/>
          </a:xfrm>
          <a:prstGeom prst="rect">
            <a:avLst/>
          </a:prstGeom>
          <a:noFill/>
        </p:spPr>
        <p:txBody>
          <a:bodyPr wrap="none" rtlCol="0">
            <a:spAutoFit/>
          </a:bodyPr>
          <a:lstStyle/>
          <a:p>
            <a:r>
              <a:rPr lang="en-US" dirty="0"/>
              <a:t>Functional Requirements</a:t>
            </a:r>
          </a:p>
        </p:txBody>
      </p:sp>
      <p:sp>
        <p:nvSpPr>
          <p:cNvPr id="8" name="TextBox 7">
            <a:extLst>
              <a:ext uri="{FF2B5EF4-FFF2-40B4-BE49-F238E27FC236}">
                <a16:creationId xmlns:a16="http://schemas.microsoft.com/office/drawing/2014/main" id="{9A55415B-9652-068F-2095-34AC585A8FFD}"/>
              </a:ext>
            </a:extLst>
          </p:cNvPr>
          <p:cNvSpPr txBox="1"/>
          <p:nvPr/>
        </p:nvSpPr>
        <p:spPr>
          <a:xfrm>
            <a:off x="5891981" y="521732"/>
            <a:ext cx="3201774" cy="369332"/>
          </a:xfrm>
          <a:prstGeom prst="rect">
            <a:avLst/>
          </a:prstGeom>
          <a:noFill/>
        </p:spPr>
        <p:txBody>
          <a:bodyPr wrap="none" rtlCol="0">
            <a:spAutoFit/>
          </a:bodyPr>
          <a:lstStyle/>
          <a:p>
            <a:r>
              <a:rPr lang="en-US" dirty="0"/>
              <a:t>Non -Functional Requirements</a:t>
            </a:r>
          </a:p>
        </p:txBody>
      </p:sp>
      <p:sp>
        <p:nvSpPr>
          <p:cNvPr id="13" name="TextBox 12">
            <a:extLst>
              <a:ext uri="{FF2B5EF4-FFF2-40B4-BE49-F238E27FC236}">
                <a16:creationId xmlns:a16="http://schemas.microsoft.com/office/drawing/2014/main" id="{741528CE-C22F-F607-3047-6980E25D1B85}"/>
              </a:ext>
            </a:extLst>
          </p:cNvPr>
          <p:cNvSpPr txBox="1"/>
          <p:nvPr/>
        </p:nvSpPr>
        <p:spPr>
          <a:xfrm>
            <a:off x="3810000" y="6507134"/>
            <a:ext cx="5013808" cy="701731"/>
          </a:xfrm>
          <a:prstGeom prst="rect">
            <a:avLst/>
          </a:prstGeom>
          <a:noFill/>
        </p:spPr>
        <p:txBody>
          <a:bodyPr wrap="none" rtlCol="0">
            <a:spAutoFit/>
          </a:bodyPr>
          <a:lstStyle/>
          <a:p>
            <a:pPr>
              <a:spcBef>
                <a:spcPct val="20000"/>
              </a:spcBef>
            </a:pPr>
            <a:r>
              <a:rPr lang="en-US" dirty="0"/>
              <a:t>IT23280892 |</a:t>
            </a:r>
            <a:r>
              <a:rPr lang="en-US" dirty="0" err="1"/>
              <a:t>Sinhalagoda</a:t>
            </a:r>
            <a:r>
              <a:rPr lang="en-US" dirty="0"/>
              <a:t> S.A.U.R.A.V|J26-IT-334</a:t>
            </a:r>
          </a:p>
          <a:p>
            <a:pPr>
              <a:spcBef>
                <a:spcPct val="20000"/>
              </a:spcBef>
            </a:pPr>
            <a:endParaRPr lang="en-US" dirty="0"/>
          </a:p>
        </p:txBody>
      </p:sp>
      <p:sp>
        <p:nvSpPr>
          <p:cNvPr id="4" name="TextBox 3">
            <a:extLst>
              <a:ext uri="{FF2B5EF4-FFF2-40B4-BE49-F238E27FC236}">
                <a16:creationId xmlns:a16="http://schemas.microsoft.com/office/drawing/2014/main" id="{82AFFB3C-F291-ED32-94FE-434DF785E675}"/>
              </a:ext>
            </a:extLst>
          </p:cNvPr>
          <p:cNvSpPr txBox="1"/>
          <p:nvPr/>
        </p:nvSpPr>
        <p:spPr>
          <a:xfrm>
            <a:off x="152400" y="1123058"/>
            <a:ext cx="5105400" cy="5093702"/>
          </a:xfrm>
          <a:prstGeom prst="rect">
            <a:avLst/>
          </a:prstGeom>
          <a:noFill/>
        </p:spPr>
        <p:txBody>
          <a:bodyPr wrap="square">
            <a:spAutoFit/>
          </a:bodyPr>
          <a:lstStyle/>
          <a:p>
            <a:pPr marL="285750" marR="0" lvl="0" indent="-285750" algn="just">
              <a:buFont typeface="Arial" panose="020B0604020202020204" pitchFamily="34" charset="0"/>
              <a:buChar char="•"/>
            </a:pPr>
            <a:r>
              <a:rPr lang="en-US" sz="1300" b="1" dirty="0">
                <a:effectLst/>
                <a:latin typeface="+mn-lt"/>
              </a:rPr>
              <a:t>Data Ingestion &amp; Multi-Source Fusion:</a:t>
            </a:r>
            <a:r>
              <a:rPr lang="en-US" sz="1300" dirty="0">
                <a:effectLst/>
                <a:latin typeface="+mn-lt"/>
              </a:rPr>
              <a:t> The system shall ingest rainfall records, river water-level measurements, elevation profiles (DEM), land use/cover datasets, and census population data across target river basins. </a:t>
            </a:r>
          </a:p>
          <a:p>
            <a:pPr marL="285750" marR="0" lvl="0" indent="-285750" algn="just">
              <a:buFont typeface="Arial" panose="020B0604020202020204" pitchFamily="34" charset="0"/>
              <a:buChar char="•"/>
            </a:pPr>
            <a:r>
              <a:rPr lang="en-US" sz="1300" b="1" dirty="0">
                <a:effectLst/>
                <a:latin typeface="+mn-lt"/>
              </a:rPr>
              <a:t>Satellite Image Processing &amp; Extent Detection:</a:t>
            </a:r>
            <a:r>
              <a:rPr lang="en-US" sz="1300" dirty="0">
                <a:effectLst/>
                <a:latin typeface="+mn-lt"/>
              </a:rPr>
              <a:t> The system shall process multi-temporal satellite imagery (pre- and post-event) to identify and delineate active floodwater boundaries. </a:t>
            </a:r>
          </a:p>
          <a:p>
            <a:pPr marL="285750" marR="0" lvl="0" indent="-285750" algn="just">
              <a:buFont typeface="Arial" panose="020B0604020202020204" pitchFamily="34" charset="0"/>
              <a:buChar char="•"/>
            </a:pPr>
            <a:r>
              <a:rPr lang="en-US" sz="1300" b="1" dirty="0">
                <a:effectLst/>
                <a:latin typeface="+mn-lt"/>
              </a:rPr>
              <a:t>Multi-Factor Flood Severity Assessment:</a:t>
            </a:r>
            <a:r>
              <a:rPr lang="en-US" sz="1300" dirty="0">
                <a:effectLst/>
                <a:latin typeface="+mn-lt"/>
              </a:rPr>
              <a:t> The system shall combine water levels, flood extents, terrain elevation, land use, and population exposure data to calculate composite flood severity scores. </a:t>
            </a:r>
          </a:p>
          <a:p>
            <a:pPr marL="285750" marR="0" lvl="0" indent="-285750" algn="just">
              <a:buFont typeface="Arial" panose="020B0604020202020204" pitchFamily="34" charset="0"/>
              <a:buChar char="•"/>
            </a:pPr>
            <a:r>
              <a:rPr lang="en-US" sz="1300" b="1" dirty="0">
                <a:effectLst/>
                <a:latin typeface="+mn-lt"/>
              </a:rPr>
              <a:t>Flood Severity Risk Classification:</a:t>
            </a:r>
            <a:r>
              <a:rPr lang="en-US" sz="1300" dirty="0">
                <a:effectLst/>
                <a:latin typeface="+mn-lt"/>
              </a:rPr>
              <a:t> The system shall classify evaluated regions into four discrete risk categories: Low, Moderate, High, and Very High (Severe). </a:t>
            </a:r>
          </a:p>
          <a:p>
            <a:pPr marL="285750" marR="0" lvl="0" indent="-285750" algn="just">
              <a:buFont typeface="Arial" panose="020B0604020202020204" pitchFamily="34" charset="0"/>
              <a:buChar char="•"/>
            </a:pPr>
            <a:r>
              <a:rPr lang="en-US" sz="1300" b="1" dirty="0">
                <a:effectLst/>
                <a:latin typeface="+mn-lt"/>
              </a:rPr>
              <a:t>AI-Driven Infrastructure &amp; Asset Damage Estimation:</a:t>
            </a:r>
            <a:r>
              <a:rPr lang="en-US" sz="1300" dirty="0">
                <a:effectLst/>
                <a:latin typeface="+mn-lt"/>
              </a:rPr>
              <a:t> The system shall apply machine learning models to exposed building footprints and infrastructure layers to predict structural and asset damage. </a:t>
            </a:r>
          </a:p>
          <a:p>
            <a:pPr marL="285750" marR="0" lvl="0" indent="-285750" algn="just">
              <a:buFont typeface="Arial" panose="020B0604020202020204" pitchFamily="34" charset="0"/>
              <a:buChar char="•"/>
            </a:pPr>
            <a:r>
              <a:rPr lang="en-US" sz="1300" b="1" dirty="0">
                <a:effectLst/>
                <a:latin typeface="+mn-lt"/>
              </a:rPr>
              <a:t>GIS-Based Interactive Visualization:</a:t>
            </a:r>
            <a:r>
              <a:rPr lang="en-US" sz="1300" dirty="0">
                <a:effectLst/>
                <a:latin typeface="+mn-lt"/>
              </a:rPr>
              <a:t> The system shall display dynamic flood extents, severity classifications, and damage estimates on an interactive Web-GIS mapping interface. </a:t>
            </a:r>
          </a:p>
          <a:p>
            <a:pPr marL="285750" marR="0" lvl="0" indent="-285750" algn="just">
              <a:buFont typeface="Arial" panose="020B0604020202020204" pitchFamily="34" charset="0"/>
              <a:buChar char="•"/>
            </a:pPr>
            <a:r>
              <a:rPr lang="en-US" sz="1300" b="1" dirty="0">
                <a:effectLst/>
                <a:latin typeface="+mn-lt"/>
              </a:rPr>
              <a:t>Structured Output Transmission:</a:t>
            </a:r>
            <a:r>
              <a:rPr lang="en-US" sz="1300" dirty="0">
                <a:effectLst/>
                <a:latin typeface="+mn-lt"/>
              </a:rPr>
              <a:t> The system shall generate and expose a structured JSON API output containing geotagged flood extent maps, severity classifications, and damage data for downstream components. </a:t>
            </a:r>
            <a:endParaRPr lang="en-US" sz="1300" dirty="0">
              <a:effectLst/>
              <a:latin typeface="Google Sans Text"/>
            </a:endParaRPr>
          </a:p>
        </p:txBody>
      </p:sp>
      <p:sp>
        <p:nvSpPr>
          <p:cNvPr id="7" name="TextBox 6">
            <a:extLst>
              <a:ext uri="{FF2B5EF4-FFF2-40B4-BE49-F238E27FC236}">
                <a16:creationId xmlns:a16="http://schemas.microsoft.com/office/drawing/2014/main" id="{FCE77DF4-720E-5F14-9E09-8DF618B8134F}"/>
              </a:ext>
            </a:extLst>
          </p:cNvPr>
          <p:cNvSpPr txBox="1"/>
          <p:nvPr/>
        </p:nvSpPr>
        <p:spPr>
          <a:xfrm>
            <a:off x="5715000" y="1138223"/>
            <a:ext cx="6097604" cy="3693319"/>
          </a:xfrm>
          <a:prstGeom prst="rect">
            <a:avLst/>
          </a:prstGeom>
          <a:noFill/>
        </p:spPr>
        <p:txBody>
          <a:bodyPr wrap="square">
            <a:spAutoFit/>
          </a:bodyPr>
          <a:lstStyle/>
          <a:p>
            <a:pPr marL="285750" marR="0" lvl="0" indent="-285750">
              <a:buFont typeface="Arial" panose="020B0604020202020204" pitchFamily="34" charset="0"/>
              <a:buChar char="•"/>
            </a:pPr>
            <a:r>
              <a:rPr lang="en-US" sz="1300" b="1" dirty="0">
                <a:effectLst/>
                <a:latin typeface="+mn-lt"/>
              </a:rPr>
              <a:t>Performance &amp; Processing Latency:</a:t>
            </a:r>
            <a:r>
              <a:rPr lang="en-US" sz="1300" dirty="0">
                <a:effectLst/>
                <a:latin typeface="+mn-lt"/>
              </a:rPr>
              <a:t> The system shall complete spatial data fusion, severity assessment, and map generation for a queried basin within 5 seconds under standard operational conditions. </a:t>
            </a:r>
          </a:p>
          <a:p>
            <a:pPr marL="285750" marR="0" lvl="0" indent="-285750">
              <a:buFont typeface="Arial" panose="020B0604020202020204" pitchFamily="34" charset="0"/>
              <a:buChar char="•"/>
            </a:pPr>
            <a:r>
              <a:rPr lang="en-US" sz="1300" b="1" dirty="0">
                <a:effectLst/>
                <a:latin typeface="+mn-lt"/>
              </a:rPr>
              <a:t>Accuracy &amp; Model Evaluation:</a:t>
            </a:r>
            <a:r>
              <a:rPr lang="en-US" sz="1300" dirty="0">
                <a:effectLst/>
                <a:latin typeface="+mn-lt"/>
              </a:rPr>
              <a:t> The AI damage estimation model shall report per-class precision, recall, and F1-scores alongside overall accuracy to prevent misclassification of high-severity zones. </a:t>
            </a:r>
          </a:p>
          <a:p>
            <a:pPr marL="285750" marR="0" lvl="0" indent="-285750">
              <a:buFont typeface="Arial" panose="020B0604020202020204" pitchFamily="34" charset="0"/>
              <a:buChar char="•"/>
            </a:pPr>
            <a:r>
              <a:rPr lang="en-US" sz="1300" b="1" dirty="0">
                <a:effectLst/>
                <a:latin typeface="+mn-lt"/>
              </a:rPr>
              <a:t>Spatial Reliability &amp; Precision:</a:t>
            </a:r>
            <a:r>
              <a:rPr lang="en-US" sz="1300" dirty="0">
                <a:effectLst/>
                <a:latin typeface="+mn-lt"/>
              </a:rPr>
              <a:t> The satellite-derived flood extent mapping shall achieve a spatial resolution sufficient to accurately delineate village and Grama </a:t>
            </a:r>
            <a:r>
              <a:rPr lang="en-US" sz="1300" dirty="0" err="1">
                <a:effectLst/>
                <a:latin typeface="+mn-lt"/>
              </a:rPr>
              <a:t>Niladhari</a:t>
            </a:r>
            <a:r>
              <a:rPr lang="en-US" sz="1300" dirty="0">
                <a:effectLst/>
                <a:latin typeface="+mn-lt"/>
              </a:rPr>
              <a:t> division boundaries. </a:t>
            </a:r>
          </a:p>
          <a:p>
            <a:pPr marL="285750" marR="0" lvl="0" indent="-285750">
              <a:buFont typeface="Arial" panose="020B0604020202020204" pitchFamily="34" charset="0"/>
              <a:buChar char="•"/>
            </a:pPr>
            <a:r>
              <a:rPr lang="en-US" sz="1300" b="1" dirty="0">
                <a:effectLst/>
                <a:latin typeface="+mn-lt"/>
              </a:rPr>
              <a:t>Scalability:</a:t>
            </a:r>
            <a:r>
              <a:rPr lang="en-US" sz="1300" dirty="0">
                <a:effectLst/>
                <a:latin typeface="+mn-lt"/>
              </a:rPr>
              <a:t> The system architecture shall support concurrent data processing and alert requests across all target river basins without exceeding response time thresholds. </a:t>
            </a:r>
          </a:p>
          <a:p>
            <a:pPr marL="285750" marR="0" lvl="0" indent="-285750">
              <a:buFont typeface="Arial" panose="020B0604020202020204" pitchFamily="34" charset="0"/>
              <a:buChar char="•"/>
            </a:pPr>
            <a:r>
              <a:rPr lang="en-US" sz="1300" b="1" dirty="0">
                <a:effectLst/>
                <a:latin typeface="+mn-lt"/>
              </a:rPr>
              <a:t>Accessibility &amp; Usability:</a:t>
            </a:r>
            <a:r>
              <a:rPr lang="en-US" sz="1300" dirty="0">
                <a:effectLst/>
                <a:latin typeface="+mn-lt"/>
              </a:rPr>
              <a:t> The Web-GIS mapping dashboard shall feature localized Sinhala and Tamil support with a high-contrast UI accessible to non-technical users. </a:t>
            </a:r>
          </a:p>
          <a:p>
            <a:pPr marL="285750" marR="0" lvl="0" indent="-285750">
              <a:buFont typeface="Arial" panose="020B0604020202020204" pitchFamily="34" charset="0"/>
              <a:buChar char="•"/>
            </a:pPr>
            <a:r>
              <a:rPr lang="en-US" sz="1300" b="1" dirty="0">
                <a:effectLst/>
                <a:latin typeface="+mn-lt"/>
              </a:rPr>
              <a:t>Security &amp; Interoperability:</a:t>
            </a:r>
            <a:r>
              <a:rPr lang="en-US" sz="1300" dirty="0">
                <a:effectLst/>
                <a:latin typeface="+mn-lt"/>
              </a:rPr>
              <a:t> All data transmission between source databases, processing pipelines, and API endpoints shall use encrypted HTTPS/TLS connections with versioned RESTful contracts. </a:t>
            </a:r>
            <a:endParaRPr lang="en-US" sz="1300" dirty="0">
              <a:effectLst/>
              <a:latin typeface="Google Sans Text"/>
            </a:endParaRPr>
          </a:p>
        </p:txBody>
      </p:sp>
    </p:spTree>
    <p:extLst>
      <p:ext uri="{BB962C8B-B14F-4D97-AF65-F5344CB8AC3E}">
        <p14:creationId xmlns:p14="http://schemas.microsoft.com/office/powerpoint/2010/main" val="646505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0B4DF-5445-377B-FBFD-42A6044CE9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FA4403-E2A9-2626-B982-2054751A5D23}"/>
              </a:ext>
            </a:extLst>
          </p:cNvPr>
          <p:cNvSpPr txBox="1"/>
          <p:nvPr/>
        </p:nvSpPr>
        <p:spPr>
          <a:xfrm>
            <a:off x="4267200" y="762000"/>
            <a:ext cx="2981585" cy="477054"/>
          </a:xfrm>
          <a:prstGeom prst="rect">
            <a:avLst/>
          </a:prstGeom>
          <a:noFill/>
        </p:spPr>
        <p:txBody>
          <a:bodyPr wrap="none" rtlCol="0">
            <a:spAutoFit/>
          </a:bodyPr>
          <a:lstStyle/>
          <a:p>
            <a:r>
              <a:rPr lang="en-US" sz="2500" b="1"/>
              <a:t>Validation Strategy</a:t>
            </a:r>
            <a:endParaRPr lang="en-US" sz="2500" b="1" dirty="0"/>
          </a:p>
        </p:txBody>
      </p:sp>
      <p:sp>
        <p:nvSpPr>
          <p:cNvPr id="4" name="TextBox 3">
            <a:extLst>
              <a:ext uri="{FF2B5EF4-FFF2-40B4-BE49-F238E27FC236}">
                <a16:creationId xmlns:a16="http://schemas.microsoft.com/office/drawing/2014/main" id="{C4FDFC3D-A0BB-66EB-06E6-DD3421FE226F}"/>
              </a:ext>
            </a:extLst>
          </p:cNvPr>
          <p:cNvSpPr txBox="1"/>
          <p:nvPr/>
        </p:nvSpPr>
        <p:spPr>
          <a:xfrm>
            <a:off x="3733800" y="6507134"/>
            <a:ext cx="5013808" cy="701731"/>
          </a:xfrm>
          <a:prstGeom prst="rect">
            <a:avLst/>
          </a:prstGeom>
          <a:noFill/>
        </p:spPr>
        <p:txBody>
          <a:bodyPr wrap="none" rtlCol="0">
            <a:spAutoFit/>
          </a:bodyPr>
          <a:lstStyle/>
          <a:p>
            <a:pPr>
              <a:spcBef>
                <a:spcPct val="20000"/>
              </a:spcBef>
            </a:pPr>
            <a:r>
              <a:rPr lang="en-US" dirty="0"/>
              <a:t>IT23280892 |</a:t>
            </a:r>
            <a:r>
              <a:rPr lang="en-US" dirty="0" err="1"/>
              <a:t>Sinhalagoda</a:t>
            </a:r>
            <a:r>
              <a:rPr lang="en-US" dirty="0"/>
              <a:t> S.A.U.R.A.V|J26-IT-334</a:t>
            </a:r>
          </a:p>
          <a:p>
            <a:pPr>
              <a:spcBef>
                <a:spcPct val="20000"/>
              </a:spcBef>
            </a:pPr>
            <a:endParaRPr lang="en-US" dirty="0"/>
          </a:p>
        </p:txBody>
      </p:sp>
      <p:sp>
        <p:nvSpPr>
          <p:cNvPr id="5" name="TextBox 4">
            <a:extLst>
              <a:ext uri="{FF2B5EF4-FFF2-40B4-BE49-F238E27FC236}">
                <a16:creationId xmlns:a16="http://schemas.microsoft.com/office/drawing/2014/main" id="{E8A42409-13EF-2883-A4FC-05C6F18C700F}"/>
              </a:ext>
            </a:extLst>
          </p:cNvPr>
          <p:cNvSpPr txBox="1"/>
          <p:nvPr/>
        </p:nvSpPr>
        <p:spPr>
          <a:xfrm>
            <a:off x="1295400" y="1582340"/>
            <a:ext cx="9446341" cy="2862322"/>
          </a:xfrm>
          <a:prstGeom prst="rect">
            <a:avLst/>
          </a:prstGeom>
          <a:noFill/>
        </p:spPr>
        <p:txBody>
          <a:bodyPr wrap="square" rtlCol="0">
            <a:spAutoFit/>
          </a:bodyPr>
          <a:lstStyle/>
          <a:p>
            <a:pPr algn="just"/>
            <a:r>
              <a:rPr lang="en-GB" dirty="0"/>
              <a:t>Validation means checking whether my system’s results are actually correct. </a:t>
            </a:r>
          </a:p>
          <a:p>
            <a:pPr marL="342900" indent="-342900" algn="just">
              <a:buAutoNum type="arabicPeriod"/>
            </a:pPr>
            <a:r>
              <a:rPr lang="en-GB" dirty="0"/>
              <a:t>Historical flood events* Test the system using previous floods.* Compare your detected flood areas with officially recorded flood areas.</a:t>
            </a:r>
          </a:p>
          <a:p>
            <a:pPr marL="342900" indent="-342900" algn="just">
              <a:buAutoNum type="arabicPeriod"/>
            </a:pPr>
            <a:r>
              <a:rPr lang="en-GB" dirty="0"/>
              <a:t>Satellite image validation* Compare your flood map with actual satellite imagery from known flood events.</a:t>
            </a:r>
          </a:p>
          <a:p>
            <a:pPr marL="342900" indent="-342900" algn="just">
              <a:buAutoNum type="arabicPeriod"/>
            </a:pPr>
            <a:r>
              <a:rPr lang="en-GB" dirty="0"/>
              <a:t>Ground/official data* Compare predicted/assessed severity with:  * Irrigation Department water-level records    * DMC flood records    * Field/ground information where available.</a:t>
            </a:r>
          </a:p>
          <a:p>
            <a:pPr marL="342900" indent="-342900" algn="just">
              <a:buAutoNum type="arabicPeriod"/>
            </a:pPr>
            <a:r>
              <a:rPr lang="en-GB" dirty="0"/>
              <a:t>AI model validation* Split the data into training and testing data.* Use metrics such as Accuracy, Precision, Recall, and F1-score for classification.</a:t>
            </a:r>
          </a:p>
          <a:p>
            <a:pPr marL="342900" indent="-342900" algn="just">
              <a:buAutoNum type="arabicPeriod"/>
            </a:pPr>
            <a:r>
              <a:rPr lang="en-GB" dirty="0"/>
              <a:t>GIS accuracy* Check whether the mapped flood boundaries match the actual affected areas.</a:t>
            </a:r>
            <a:endParaRPr lang="en-US" dirty="0"/>
          </a:p>
        </p:txBody>
      </p:sp>
    </p:spTree>
    <p:extLst>
      <p:ext uri="{BB962C8B-B14F-4D97-AF65-F5344CB8AC3E}">
        <p14:creationId xmlns:p14="http://schemas.microsoft.com/office/powerpoint/2010/main" val="924101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896A-1956-CC06-91AD-9F2ED32DA8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3D1083-057B-13FF-571C-FD0AEE1FEBAA}"/>
              </a:ext>
            </a:extLst>
          </p:cNvPr>
          <p:cNvSpPr txBox="1"/>
          <p:nvPr/>
        </p:nvSpPr>
        <p:spPr>
          <a:xfrm>
            <a:off x="609601" y="273050"/>
            <a:ext cx="4011084" cy="458786"/>
          </a:xfrm>
          <a:prstGeom prst="rect">
            <a:avLst/>
          </a:prstGeom>
        </p:spPr>
        <p:txBody>
          <a:bodyPr vert="horz" lIns="91440" tIns="45720" rIns="91440" bIns="45720" rtlCol="0" anchor="b">
            <a:normAutofit fontScale="85000" lnSpcReduction="10000"/>
          </a:bodyPr>
          <a:lstStyle/>
          <a:p>
            <a:pPr>
              <a:spcBef>
                <a:spcPct val="0"/>
              </a:spcBef>
              <a:spcAft>
                <a:spcPts val="600"/>
              </a:spcAft>
            </a:pPr>
            <a:r>
              <a:rPr lang="en-US" sz="2000" b="1" kern="1200" dirty="0">
                <a:ea typeface="+mj-ea"/>
                <a:cs typeface="Adobe Devanagari" pitchFamily="18" charset="0"/>
              </a:rPr>
              <a:t>System Architecture – </a:t>
            </a:r>
            <a:r>
              <a:rPr lang="en-US" sz="2000" b="1" dirty="0"/>
              <a:t>IT23280892</a:t>
            </a:r>
            <a:endParaRPr lang="en-US" sz="2000" b="1" kern="1200" dirty="0">
              <a:ea typeface="+mj-ea"/>
              <a:cs typeface="Adobe Devanagari"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F5EEF6D-91B7-20B3-E62C-879DE162A559}"/>
                  </a:ext>
                </a:extLst>
              </p:cNvPr>
              <p:cNvSpPr txBox="1"/>
              <p:nvPr/>
            </p:nvSpPr>
            <p:spPr>
              <a:xfrm>
                <a:off x="609600" y="838201"/>
                <a:ext cx="4343399" cy="5287964"/>
              </a:xfrm>
              <a:prstGeom prst="rect">
                <a:avLst/>
              </a:prstGeom>
            </p:spPr>
            <p:txBody>
              <a:bodyPr vert="horz" lIns="91440" tIns="45720" rIns="91440" bIns="45720" rtlCol="0">
                <a:normAutofit/>
              </a:bodyPr>
              <a:lstStyle/>
              <a:p>
                <a:r>
                  <a:rPr lang="en-US" sz="1400" b="1" dirty="0"/>
                  <a:t>Inputs (4 feeds):</a:t>
                </a:r>
                <a:r>
                  <a:rPr lang="en-US" sz="1400" dirty="0">
                    <a:effectLst/>
                  </a:rPr>
                  <a:t> Rainfall Data, River Water-Level Data, Spatial Data, Satellite Data </a:t>
                </a:r>
              </a:p>
              <a:p>
                <a:r>
                  <a:rPr lang="en-US" sz="1400" b="1" dirty="0">
                    <a:effectLst/>
                  </a:rPr>
                  <a:t>Temporal </a:t>
                </a:r>
                <a:r>
                  <a:rPr lang="en-US" sz="1400" b="1" dirty="0" err="1">
                    <a:effectLst/>
                  </a:rPr>
                  <a:t>Alignmentporaling</a:t>
                </a:r>
                <a:r>
                  <a:rPr lang="en-US" sz="1400" b="1" dirty="0">
                    <a:effectLst/>
                  </a:rPr>
                  <a:t> &amp; Integration:</a:t>
                </a:r>
                <a:r>
                  <a:rPr lang="en-US" sz="1400" dirty="0">
                    <a:effectLst/>
                  </a:rPr>
                  <a:t> Data cleaning </a:t>
                </a:r>
                <a14:m>
                  <m:oMath xmlns:m="http://schemas.openxmlformats.org/officeDocument/2006/math">
                    <m:r>
                      <a:rPr lang="en-US"/>
                      <m:t>→</m:t>
                    </m:r>
                  </m:oMath>
                </a14:m>
                <a:r>
                  <a:rPr lang="en-US" sz="1400" dirty="0">
                    <a:effectLst/>
                  </a:rPr>
                  <a:t>Temporal alignment </a:t>
                </a:r>
                <a14:m>
                  <m:oMath xmlns:m="http://schemas.openxmlformats.org/officeDocument/2006/math">
                    <m:r>
                      <a:rPr lang="en-US"/>
                      <m:t>→</m:t>
                    </m:r>
                  </m:oMath>
                </a14:m>
                <a:r>
                  <a:rPr lang="en-US" sz="1400" dirty="0">
                    <a:effectLst/>
                  </a:rPr>
                  <a:t>Spatial processing </a:t>
                </a:r>
                <a14:m>
                  <m:oMath xmlns:m="http://schemas.openxmlformats.org/officeDocument/2006/math">
                    <m:r>
                      <a:rPr lang="en-US"/>
                      <m:t>→</m:t>
                    </m:r>
                  </m:oMath>
                </a14:m>
                <a:r>
                  <a:rPr lang="en-US" sz="1400" dirty="0">
                    <a:effectLst/>
                  </a:rPr>
                  <a:t>Multi-source data integration </a:t>
                </a:r>
              </a:p>
              <a:p>
                <a:r>
                  <a:rPr lang="en-US" sz="1400" b="1" dirty="0">
                    <a:effectLst/>
                  </a:rPr>
                  <a:t>Feature Engineering:</a:t>
                </a:r>
                <a:r>
                  <a:rPr lang="en-US" sz="1400" dirty="0">
                    <a:effectLst/>
                  </a:rPr>
                  <a:t> Rainfall features + River water-level features + Terrain features + Land use features + Soil features + Satellite-derived features </a:t>
                </a:r>
              </a:p>
              <a:p>
                <a:r>
                  <a:rPr lang="en-US" sz="1400" b="1" dirty="0">
                    <a:effectLst/>
                  </a:rPr>
                  <a:t>Flood Severity Assessment (Machine Learning):</a:t>
                </a:r>
                <a:r>
                  <a:rPr lang="en-US" sz="1400" dirty="0">
                    <a:effectLst/>
                  </a:rPr>
                  <a:t> Model training and </a:t>
                </a:r>
                <a:r>
                  <a:rPr lang="en-US" sz="1400" dirty="0" err="1">
                    <a:effectLst/>
                  </a:rPr>
                  <a:t>comparisonto</a:t>
                </a:r>
                <a:r>
                  <a:rPr lang="en-US" sz="1400" dirty="0">
                    <a:effectLst/>
                  </a:rPr>
                  <a:t> feature selection to model evaluation </a:t>
                </a:r>
              </a:p>
              <a:p>
                <a:r>
                  <a:rPr lang="en-US" sz="1400" b="1" dirty="0">
                    <a:effectLst/>
                  </a:rPr>
                  <a:t>Flood Severity Classification:</a:t>
                </a:r>
                <a:r>
                  <a:rPr lang="en-US" sz="1400" dirty="0">
                    <a:effectLst/>
                  </a:rPr>
                  <a:t> Risk Categorization (Low / Moderate / High / Very High) </a:t>
                </a:r>
              </a:p>
              <a:p>
                <a:r>
                  <a:rPr lang="en-US" sz="1400" b="1" dirty="0">
                    <a:effectLst/>
                  </a:rPr>
                  <a:t>GIS-Based Dynamic Mapping:</a:t>
                </a:r>
                <a:r>
                  <a:rPr lang="en-US" sz="1400" dirty="0">
                    <a:effectLst/>
                  </a:rPr>
                  <a:t> Spatial representation of flood </a:t>
                </a:r>
                <a:r>
                  <a:rPr lang="en-US" sz="1400" dirty="0" err="1">
                    <a:effectLst/>
                  </a:rPr>
                  <a:t>severityto</a:t>
                </a:r>
                <a:r>
                  <a:rPr lang="en-US" sz="1400" dirty="0">
                    <a:effectLst/>
                  </a:rPr>
                  <a:t> integration with GIS layers to generation of dynamic flood maps </a:t>
                </a:r>
              </a:p>
              <a:p>
                <a:r>
                  <a:rPr lang="en-US" sz="1400" b="1" dirty="0">
                    <a:effectLst/>
                  </a:rPr>
                  <a:t>Outputs:</a:t>
                </a:r>
                <a:r>
                  <a:rPr lang="en-US" sz="1400" dirty="0">
                    <a:effectLst/>
                  </a:rPr>
                  <a:t> All stages converge into three core deliverables: Flood Severity Map, Flood Extent Information, and Structured Flood Information </a:t>
                </a:r>
              </a:p>
              <a:p>
                <a:r>
                  <a:rPr lang="en-US" sz="1400" b="1" dirty="0">
                    <a:effectLst/>
                  </a:rPr>
                  <a:t>Handoff:</a:t>
                </a:r>
                <a:r>
                  <a:rPr lang="en-US" sz="1400" dirty="0">
                    <a:effectLst/>
                  </a:rPr>
                  <a:t> Transmitted directly to the Multi-Hazard Early Warning Decision Support Component for joint risk prioritization </a:t>
                </a:r>
              </a:p>
            </p:txBody>
          </p:sp>
        </mc:Choice>
        <mc:Fallback>
          <p:sp>
            <p:nvSpPr>
              <p:cNvPr id="3" name="TextBox 2">
                <a:extLst>
                  <a:ext uri="{FF2B5EF4-FFF2-40B4-BE49-F238E27FC236}">
                    <a16:creationId xmlns:a16="http://schemas.microsoft.com/office/drawing/2014/main" id="{EF5EEF6D-91B7-20B3-E62C-879DE162A559}"/>
                  </a:ext>
                </a:extLst>
              </p:cNvPr>
              <p:cNvSpPr txBox="1">
                <a:spLocks noRot="1" noChangeAspect="1" noMove="1" noResize="1" noEditPoints="1" noAdjustHandles="1" noChangeArrowheads="1" noChangeShapeType="1" noTextEdit="1"/>
              </p:cNvSpPr>
              <p:nvPr/>
            </p:nvSpPr>
            <p:spPr>
              <a:xfrm>
                <a:off x="609600" y="838201"/>
                <a:ext cx="4343399" cy="5287964"/>
              </a:xfrm>
              <a:prstGeom prst="rect">
                <a:avLst/>
              </a:prstGeom>
              <a:blipFill>
                <a:blip r:embed="rId2"/>
                <a:stretch>
                  <a:fillRect l="-421" t="-346" r="-2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2E61203-1D45-3AB2-5ECA-4A83F9D293A0}"/>
              </a:ext>
            </a:extLst>
          </p:cNvPr>
          <p:cNvSpPr txBox="1"/>
          <p:nvPr/>
        </p:nvSpPr>
        <p:spPr>
          <a:xfrm>
            <a:off x="3733800" y="6507134"/>
            <a:ext cx="5013808" cy="701731"/>
          </a:xfrm>
          <a:prstGeom prst="rect">
            <a:avLst/>
          </a:prstGeom>
          <a:noFill/>
        </p:spPr>
        <p:txBody>
          <a:bodyPr wrap="none" rtlCol="0">
            <a:spAutoFit/>
          </a:bodyPr>
          <a:lstStyle/>
          <a:p>
            <a:pPr>
              <a:spcBef>
                <a:spcPct val="20000"/>
              </a:spcBef>
            </a:pPr>
            <a:r>
              <a:rPr lang="en-US" dirty="0"/>
              <a:t>IT23280892 |</a:t>
            </a:r>
            <a:r>
              <a:rPr lang="en-US" dirty="0" err="1"/>
              <a:t>Sinhalagoda</a:t>
            </a:r>
            <a:r>
              <a:rPr lang="en-US" dirty="0"/>
              <a:t> S.A.U.R.A.V|J26-IT-334</a:t>
            </a:r>
          </a:p>
          <a:p>
            <a:pPr>
              <a:spcBef>
                <a:spcPct val="20000"/>
              </a:spcBef>
            </a:pPr>
            <a:endParaRPr lang="en-US" dirty="0"/>
          </a:p>
        </p:txBody>
      </p:sp>
      <p:pic>
        <p:nvPicPr>
          <p:cNvPr id="5" name="Picture 4">
            <a:extLst>
              <a:ext uri="{FF2B5EF4-FFF2-40B4-BE49-F238E27FC236}">
                <a16:creationId xmlns:a16="http://schemas.microsoft.com/office/drawing/2014/main" id="{08F33C12-48B1-6585-9349-D22AE4D97310}"/>
              </a:ext>
            </a:extLst>
          </p:cNvPr>
          <p:cNvPicPr>
            <a:picLocks noChangeAspect="1"/>
          </p:cNvPicPr>
          <p:nvPr/>
        </p:nvPicPr>
        <p:blipFill>
          <a:blip r:embed="rId3"/>
          <a:stretch>
            <a:fillRect/>
          </a:stretch>
        </p:blipFill>
        <p:spPr>
          <a:xfrm>
            <a:off x="6096000" y="381000"/>
            <a:ext cx="5257799" cy="5461673"/>
          </a:xfrm>
          <a:prstGeom prst="rect">
            <a:avLst/>
          </a:prstGeom>
          <a:ln>
            <a:solidFill>
              <a:schemeClr val="tx1"/>
            </a:solidFill>
          </a:ln>
        </p:spPr>
      </p:pic>
      <p:sp>
        <p:nvSpPr>
          <p:cNvPr id="8" name="TextBox 7">
            <a:extLst>
              <a:ext uri="{FF2B5EF4-FFF2-40B4-BE49-F238E27FC236}">
                <a16:creationId xmlns:a16="http://schemas.microsoft.com/office/drawing/2014/main" id="{E57066E5-5575-D674-A21C-43F2A3701092}"/>
              </a:ext>
            </a:extLst>
          </p:cNvPr>
          <p:cNvSpPr txBox="1"/>
          <p:nvPr/>
        </p:nvSpPr>
        <p:spPr>
          <a:xfrm>
            <a:off x="3339966" y="57751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979379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B0EA90-B4DF-39A1-1D33-DFECCDBB4BFC}"/>
              </a:ext>
            </a:extLst>
          </p:cNvPr>
          <p:cNvSpPr txBox="1"/>
          <p:nvPr/>
        </p:nvSpPr>
        <p:spPr>
          <a:xfrm>
            <a:off x="295246" y="228600"/>
            <a:ext cx="7162800" cy="1800493"/>
          </a:xfrm>
          <a:prstGeom prst="rect">
            <a:avLst/>
          </a:prstGeom>
          <a:noFill/>
        </p:spPr>
        <p:txBody>
          <a:bodyPr wrap="square" rtlCol="0">
            <a:spAutoFit/>
          </a:bodyPr>
          <a:lstStyle/>
          <a:p>
            <a:r>
              <a:rPr lang="en-GB" sz="2500" dirty="0"/>
              <a:t>Component 02 </a:t>
            </a:r>
          </a:p>
          <a:p>
            <a:endParaRPr lang="en-GB" dirty="0"/>
          </a:p>
          <a:p>
            <a:r>
              <a:rPr lang="en-GB" sz="2500" b="1" dirty="0"/>
              <a:t>Probabilistic Assessment and Forecasting of Occurrences of Landslides</a:t>
            </a:r>
            <a:endParaRPr lang="en-US" sz="2500" b="1" dirty="0"/>
          </a:p>
          <a:p>
            <a:endParaRPr lang="en-US" dirty="0"/>
          </a:p>
        </p:txBody>
      </p:sp>
      <p:sp>
        <p:nvSpPr>
          <p:cNvPr id="3" name="TextBox 2">
            <a:extLst>
              <a:ext uri="{FF2B5EF4-FFF2-40B4-BE49-F238E27FC236}">
                <a16:creationId xmlns:a16="http://schemas.microsoft.com/office/drawing/2014/main" id="{65814420-07F6-AA72-D5C4-EDFE971A2BC7}"/>
              </a:ext>
            </a:extLst>
          </p:cNvPr>
          <p:cNvSpPr txBox="1"/>
          <p:nvPr/>
        </p:nvSpPr>
        <p:spPr>
          <a:xfrm>
            <a:off x="295246" y="5105400"/>
            <a:ext cx="2886046" cy="923330"/>
          </a:xfrm>
          <a:prstGeom prst="rect">
            <a:avLst/>
          </a:prstGeom>
          <a:noFill/>
        </p:spPr>
        <p:txBody>
          <a:bodyPr wrap="none" rtlCol="0">
            <a:spAutoFit/>
          </a:bodyPr>
          <a:lstStyle/>
          <a:p>
            <a:r>
              <a:rPr lang="en-GB" dirty="0"/>
              <a:t>Presented By : </a:t>
            </a:r>
            <a:r>
              <a:rPr lang="en-US" dirty="0"/>
              <a:t>IT23394124</a:t>
            </a:r>
            <a:endParaRPr lang="en-GB" dirty="0"/>
          </a:p>
          <a:p>
            <a:r>
              <a:rPr lang="en-US" dirty="0" err="1"/>
              <a:t>Bagya</a:t>
            </a:r>
            <a:r>
              <a:rPr lang="en-US" dirty="0"/>
              <a:t> R M S </a:t>
            </a:r>
          </a:p>
          <a:p>
            <a:endParaRPr lang="en-US" dirty="0"/>
          </a:p>
        </p:txBody>
      </p:sp>
      <p:pic>
        <p:nvPicPr>
          <p:cNvPr id="5" name="Picture 4">
            <a:extLst>
              <a:ext uri="{FF2B5EF4-FFF2-40B4-BE49-F238E27FC236}">
                <a16:creationId xmlns:a16="http://schemas.microsoft.com/office/drawing/2014/main" id="{2F21CAE8-4506-F30F-9DBF-02F49CC47E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34400" y="886093"/>
            <a:ext cx="2985796" cy="2286000"/>
          </a:xfrm>
          <a:prstGeom prst="rect">
            <a:avLst/>
          </a:prstGeom>
          <a:ln>
            <a:solidFill>
              <a:schemeClr val="tx1"/>
            </a:solidFill>
          </a:ln>
        </p:spPr>
      </p:pic>
      <p:sp>
        <p:nvSpPr>
          <p:cNvPr id="7" name="Rectangle: Diagonal Corners Rounded 6">
            <a:extLst>
              <a:ext uri="{FF2B5EF4-FFF2-40B4-BE49-F238E27FC236}">
                <a16:creationId xmlns:a16="http://schemas.microsoft.com/office/drawing/2014/main" id="{85FF8F38-AEB9-179E-2C81-9867F798DEFB}"/>
              </a:ext>
            </a:extLst>
          </p:cNvPr>
          <p:cNvSpPr/>
          <p:nvPr/>
        </p:nvSpPr>
        <p:spPr>
          <a:xfrm>
            <a:off x="459796" y="2036467"/>
            <a:ext cx="5636203" cy="2286000"/>
          </a:xfrm>
          <a:prstGeom prst="round2Diag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rPr>
              <a:t>I am Sadumina Rathnayaka, and I specialize in the probabilistic assessment and forecasting of landslides by developing a machine learning-driven forecasting engine focused on high-risk regions in the Nuwara Eliya District, including </a:t>
            </a:r>
            <a:r>
              <a:rPr lang="en-US" dirty="0" err="1">
                <a:solidFill>
                  <a:schemeClr val="tx1"/>
                </a:solidFill>
              </a:rPr>
              <a:t>Walapane</a:t>
            </a:r>
            <a:r>
              <a:rPr lang="en-US" dirty="0">
                <a:solidFill>
                  <a:schemeClr val="tx1"/>
                </a:solidFill>
              </a:rPr>
              <a:t>, </a:t>
            </a:r>
            <a:r>
              <a:rPr lang="en-US" dirty="0" err="1">
                <a:solidFill>
                  <a:schemeClr val="tx1"/>
                </a:solidFill>
              </a:rPr>
              <a:t>Ambagamuwa</a:t>
            </a:r>
            <a:r>
              <a:rPr lang="en-US" dirty="0">
                <a:solidFill>
                  <a:schemeClr val="tx1"/>
                </a:solidFill>
              </a:rPr>
              <a:t>, and Kotmale.</a:t>
            </a:r>
          </a:p>
        </p:txBody>
      </p:sp>
    </p:spTree>
    <p:extLst>
      <p:ext uri="{BB962C8B-B14F-4D97-AF65-F5344CB8AC3E}">
        <p14:creationId xmlns:p14="http://schemas.microsoft.com/office/powerpoint/2010/main" val="2208094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0674E-F38F-244B-6EFE-25DCF0EB3C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E091A6-2A96-0202-81EB-73EE8FB5DE91}"/>
              </a:ext>
            </a:extLst>
          </p:cNvPr>
          <p:cNvSpPr txBox="1"/>
          <p:nvPr/>
        </p:nvSpPr>
        <p:spPr>
          <a:xfrm>
            <a:off x="152400" y="152400"/>
            <a:ext cx="3441327" cy="861774"/>
          </a:xfrm>
          <a:prstGeom prst="rect">
            <a:avLst/>
          </a:prstGeom>
          <a:noFill/>
        </p:spPr>
        <p:txBody>
          <a:bodyPr wrap="none" rtlCol="0">
            <a:spAutoFit/>
          </a:bodyPr>
          <a:lstStyle/>
          <a:p>
            <a:r>
              <a:rPr lang="en-US" sz="3200" u="sng" dirty="0"/>
              <a:t>Research Question</a:t>
            </a:r>
          </a:p>
          <a:p>
            <a:endParaRPr lang="en-US" u="sng" dirty="0"/>
          </a:p>
        </p:txBody>
      </p:sp>
      <p:sp>
        <p:nvSpPr>
          <p:cNvPr id="3" name="TextBox 2">
            <a:extLst>
              <a:ext uri="{FF2B5EF4-FFF2-40B4-BE49-F238E27FC236}">
                <a16:creationId xmlns:a16="http://schemas.microsoft.com/office/drawing/2014/main" id="{FC58AB17-2AF2-F529-5914-8626C0688A81}"/>
              </a:ext>
            </a:extLst>
          </p:cNvPr>
          <p:cNvSpPr txBox="1"/>
          <p:nvPr/>
        </p:nvSpPr>
        <p:spPr>
          <a:xfrm>
            <a:off x="990600" y="1552782"/>
            <a:ext cx="10055352" cy="646331"/>
          </a:xfrm>
          <a:prstGeom prst="rect">
            <a:avLst/>
          </a:prstGeom>
          <a:noFill/>
        </p:spPr>
        <p:txBody>
          <a:bodyPr wrap="square" rtlCol="0">
            <a:spAutoFit/>
          </a:bodyPr>
          <a:lstStyle/>
          <a:p>
            <a:r>
              <a:rPr lang="en-US" dirty="0"/>
              <a:t>Can a machine-learning model predict landslide occurrence probability more accurately than existing heuristic methods for Nuwara Eliya District?</a:t>
            </a:r>
          </a:p>
        </p:txBody>
      </p:sp>
      <p:sp>
        <p:nvSpPr>
          <p:cNvPr id="4" name="TextBox 3">
            <a:extLst>
              <a:ext uri="{FF2B5EF4-FFF2-40B4-BE49-F238E27FC236}">
                <a16:creationId xmlns:a16="http://schemas.microsoft.com/office/drawing/2014/main" id="{0B5A512A-C342-3F72-DA24-0449300543A0}"/>
              </a:ext>
            </a:extLst>
          </p:cNvPr>
          <p:cNvSpPr txBox="1"/>
          <p:nvPr/>
        </p:nvSpPr>
        <p:spPr>
          <a:xfrm>
            <a:off x="662379" y="960313"/>
            <a:ext cx="1970668" cy="646331"/>
          </a:xfrm>
          <a:prstGeom prst="rect">
            <a:avLst/>
          </a:prstGeom>
          <a:noFill/>
        </p:spPr>
        <p:txBody>
          <a:bodyPr wrap="none" rtlCol="0">
            <a:spAutoFit/>
          </a:bodyPr>
          <a:lstStyle/>
          <a:p>
            <a:r>
              <a:rPr lang="en-US" u="sng" dirty="0"/>
              <a:t>Research Problem</a:t>
            </a:r>
          </a:p>
          <a:p>
            <a:endParaRPr lang="en-US" dirty="0"/>
          </a:p>
        </p:txBody>
      </p:sp>
      <p:sp>
        <p:nvSpPr>
          <p:cNvPr id="5" name="TextBox 4">
            <a:extLst>
              <a:ext uri="{FF2B5EF4-FFF2-40B4-BE49-F238E27FC236}">
                <a16:creationId xmlns:a16="http://schemas.microsoft.com/office/drawing/2014/main" id="{3343C46D-1EA8-9B3F-3BAF-0447470B2FD0}"/>
              </a:ext>
            </a:extLst>
          </p:cNvPr>
          <p:cNvSpPr txBox="1"/>
          <p:nvPr/>
        </p:nvSpPr>
        <p:spPr>
          <a:xfrm>
            <a:off x="667295" y="2737721"/>
            <a:ext cx="2831737" cy="646331"/>
          </a:xfrm>
          <a:prstGeom prst="rect">
            <a:avLst/>
          </a:prstGeom>
          <a:noFill/>
        </p:spPr>
        <p:txBody>
          <a:bodyPr wrap="none" rtlCol="0">
            <a:spAutoFit/>
          </a:bodyPr>
          <a:lstStyle/>
          <a:p>
            <a:r>
              <a:rPr lang="en-US" u="sng" dirty="0"/>
              <a:t>Component Wise Objective</a:t>
            </a:r>
          </a:p>
          <a:p>
            <a:endParaRPr lang="en-US" dirty="0"/>
          </a:p>
        </p:txBody>
      </p:sp>
      <p:sp>
        <p:nvSpPr>
          <p:cNvPr id="7" name="TextBox 6">
            <a:extLst>
              <a:ext uri="{FF2B5EF4-FFF2-40B4-BE49-F238E27FC236}">
                <a16:creationId xmlns:a16="http://schemas.microsoft.com/office/drawing/2014/main" id="{BB03FBD3-8753-DA5E-2A21-D1B196FC6524}"/>
              </a:ext>
            </a:extLst>
          </p:cNvPr>
          <p:cNvSpPr txBox="1"/>
          <p:nvPr/>
        </p:nvSpPr>
        <p:spPr>
          <a:xfrm>
            <a:off x="6629400" y="2651422"/>
            <a:ext cx="3303020" cy="646331"/>
          </a:xfrm>
          <a:prstGeom prst="rect">
            <a:avLst/>
          </a:prstGeom>
          <a:noFill/>
        </p:spPr>
        <p:txBody>
          <a:bodyPr wrap="none" rtlCol="0">
            <a:spAutoFit/>
          </a:bodyPr>
          <a:lstStyle/>
          <a:p>
            <a:r>
              <a:rPr lang="en-US" u="sng" dirty="0"/>
              <a:t>Component Wise Sub Objective</a:t>
            </a:r>
          </a:p>
          <a:p>
            <a:endParaRPr lang="en-US" dirty="0"/>
          </a:p>
        </p:txBody>
      </p:sp>
      <p:sp>
        <p:nvSpPr>
          <p:cNvPr id="9" name="TextBox 8">
            <a:extLst>
              <a:ext uri="{FF2B5EF4-FFF2-40B4-BE49-F238E27FC236}">
                <a16:creationId xmlns:a16="http://schemas.microsoft.com/office/drawing/2014/main" id="{EE7408BF-2C4F-E936-A60B-668EEFE3CB3B}"/>
              </a:ext>
            </a:extLst>
          </p:cNvPr>
          <p:cNvSpPr txBox="1"/>
          <p:nvPr/>
        </p:nvSpPr>
        <p:spPr>
          <a:xfrm>
            <a:off x="4152263" y="6532986"/>
            <a:ext cx="3887474" cy="369332"/>
          </a:xfrm>
          <a:prstGeom prst="rect">
            <a:avLst/>
          </a:prstGeom>
          <a:noFill/>
        </p:spPr>
        <p:txBody>
          <a:bodyPr wrap="none" rtlCol="0">
            <a:spAutoFit/>
          </a:bodyPr>
          <a:lstStyle/>
          <a:p>
            <a:r>
              <a:rPr lang="en-GB" dirty="0"/>
              <a:t>IT23394124|Bagya R M S |J26-IT-334</a:t>
            </a:r>
            <a:endParaRPr lang="en-US" dirty="0"/>
          </a:p>
        </p:txBody>
      </p:sp>
      <p:sp>
        <p:nvSpPr>
          <p:cNvPr id="11" name="Rectangle 10">
            <a:extLst>
              <a:ext uri="{FF2B5EF4-FFF2-40B4-BE49-F238E27FC236}">
                <a16:creationId xmlns:a16="http://schemas.microsoft.com/office/drawing/2014/main" id="{D3AE758D-2167-933A-5491-7FE2B87F4B2A}"/>
              </a:ext>
            </a:extLst>
          </p:cNvPr>
          <p:cNvSpPr/>
          <p:nvPr/>
        </p:nvSpPr>
        <p:spPr>
          <a:xfrm>
            <a:off x="6701982" y="3134888"/>
            <a:ext cx="4800600" cy="304800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lgn="just">
              <a:buFont typeface="Arial" panose="020B0604020202020204" pitchFamily="34" charset="0"/>
              <a:buChar char="•"/>
            </a:pPr>
            <a:r>
              <a:rPr lang="en-US" sz="1500" dirty="0">
                <a:solidFill>
                  <a:schemeClr val="tx1"/>
                </a:solidFill>
              </a:rPr>
              <a:t>Acquire and compile core landslide dataset for Nuwara Eliya District</a:t>
            </a:r>
          </a:p>
          <a:p>
            <a:pPr marL="285750" lvl="0" indent="-285750" algn="just">
              <a:buFont typeface="Arial" panose="020B0604020202020204" pitchFamily="34" charset="0"/>
              <a:buChar char="•"/>
            </a:pPr>
            <a:r>
              <a:rPr lang="en-US" sz="1500" dirty="0">
                <a:solidFill>
                  <a:schemeClr val="tx1"/>
                </a:solidFill>
              </a:rPr>
              <a:t>Construct multi-factor geospatial feature set (slope, soil, rainfall thresholds)</a:t>
            </a:r>
          </a:p>
          <a:p>
            <a:pPr marL="285750" lvl="0" indent="-285750" algn="just">
              <a:buFont typeface="Arial" panose="020B0604020202020204" pitchFamily="34" charset="0"/>
              <a:buChar char="•"/>
            </a:pPr>
            <a:r>
              <a:rPr lang="en-US" sz="1500" dirty="0">
                <a:solidFill>
                  <a:schemeClr val="tx1"/>
                </a:solidFill>
              </a:rPr>
              <a:t>Integrate human-factor risk parameters (road cuts, deforestation, drainage obstruction)</a:t>
            </a:r>
          </a:p>
          <a:p>
            <a:pPr marL="285750" lvl="0" indent="-285750" algn="just">
              <a:buFont typeface="Arial" panose="020B0604020202020204" pitchFamily="34" charset="0"/>
              <a:buChar char="•"/>
            </a:pPr>
            <a:r>
              <a:rPr lang="en-US" sz="1500" dirty="0">
                <a:solidFill>
                  <a:schemeClr val="tx1"/>
                </a:solidFill>
              </a:rPr>
              <a:t>Train and comparatively evaluate ML models (</a:t>
            </a:r>
            <a:r>
              <a:rPr lang="en-US" sz="1500" dirty="0" err="1">
                <a:solidFill>
                  <a:schemeClr val="tx1"/>
                </a:solidFill>
              </a:rPr>
              <a:t>XGBoost</a:t>
            </a:r>
            <a:r>
              <a:rPr lang="en-US" sz="1500" dirty="0">
                <a:solidFill>
                  <a:schemeClr val="tx1"/>
                </a:solidFill>
              </a:rPr>
              <a:t>, </a:t>
            </a:r>
            <a:r>
              <a:rPr lang="en-US" sz="1500" dirty="0" err="1">
                <a:solidFill>
                  <a:schemeClr val="tx1"/>
                </a:solidFill>
              </a:rPr>
              <a:t>LightGBM</a:t>
            </a:r>
            <a:r>
              <a:rPr lang="en-US" sz="1500" dirty="0">
                <a:solidFill>
                  <a:schemeClr val="tx1"/>
                </a:solidFill>
              </a:rPr>
              <a:t>, logistic regression)</a:t>
            </a:r>
          </a:p>
          <a:p>
            <a:pPr marL="285750" lvl="0" indent="-285750" algn="just">
              <a:buFont typeface="Arial" panose="020B0604020202020204" pitchFamily="34" charset="0"/>
              <a:buChar char="•"/>
            </a:pPr>
            <a:r>
              <a:rPr lang="en-US" sz="1500" dirty="0">
                <a:solidFill>
                  <a:schemeClr val="tx1"/>
                </a:solidFill>
              </a:rPr>
              <a:t>Develop a WebGL-powered, dual-language (Sinhala/Tamil/English) live mapping interface</a:t>
            </a:r>
          </a:p>
          <a:p>
            <a:pPr marL="285750" lvl="0" indent="-285750" algn="just">
              <a:buFont typeface="Arial" panose="020B0604020202020204" pitchFamily="34" charset="0"/>
              <a:buChar char="•"/>
            </a:pPr>
            <a:r>
              <a:rPr lang="en-US" sz="1500" dirty="0">
                <a:solidFill>
                  <a:schemeClr val="tx1"/>
                </a:solidFill>
              </a:rPr>
              <a:t>Implement an explainable-AI layer (SHAP/LIME)</a:t>
            </a:r>
            <a:endParaRPr lang="en-US" dirty="0">
              <a:solidFill>
                <a:schemeClr val="tx1"/>
              </a:solidFill>
            </a:endParaRPr>
          </a:p>
        </p:txBody>
      </p:sp>
      <p:sp>
        <p:nvSpPr>
          <p:cNvPr id="12" name="Rectangle 11">
            <a:extLst>
              <a:ext uri="{FF2B5EF4-FFF2-40B4-BE49-F238E27FC236}">
                <a16:creationId xmlns:a16="http://schemas.microsoft.com/office/drawing/2014/main" id="{F8A360AE-3861-CBD5-513E-F0D96277F70F}"/>
              </a:ext>
            </a:extLst>
          </p:cNvPr>
          <p:cNvSpPr/>
          <p:nvPr/>
        </p:nvSpPr>
        <p:spPr>
          <a:xfrm>
            <a:off x="773595" y="3330190"/>
            <a:ext cx="4595421" cy="177335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just"/>
            <a:r>
              <a:rPr lang="en-US" dirty="0">
                <a:solidFill>
                  <a:schemeClr val="tx1"/>
                </a:solidFill>
              </a:rPr>
              <a:t>To create an intelligent, integrated disaster management system that identifies flood and landslide risks, estimates impacts, and provides timely decision support and emergency response recommendations for Sri Lanka</a:t>
            </a:r>
          </a:p>
          <a:p>
            <a:pPr algn="ctr"/>
            <a:endParaRPr lang="en-US" dirty="0">
              <a:solidFill>
                <a:schemeClr val="tx1"/>
              </a:solidFill>
            </a:endParaRPr>
          </a:p>
        </p:txBody>
      </p:sp>
    </p:spTree>
    <p:extLst>
      <p:ext uri="{BB962C8B-B14F-4D97-AF65-F5344CB8AC3E}">
        <p14:creationId xmlns:p14="http://schemas.microsoft.com/office/powerpoint/2010/main" val="2298761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8F62D-D16C-8A4E-3B78-AE1400EF72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FDFB77-97D0-FA08-20CD-EA526A236A8C}"/>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a:ea typeface="+mj-ea"/>
                <a:cs typeface="Adobe Devanagari" pitchFamily="18" charset="0"/>
              </a:rPr>
              <a:t>Features And Gaps</a:t>
            </a:r>
            <a:endParaRPr lang="en-US" sz="2500" b="1" u="sng" kern="1200" dirty="0">
              <a:ea typeface="+mj-ea"/>
              <a:cs typeface="Adobe Devanagari" pitchFamily="18" charset="0"/>
            </a:endParaRPr>
          </a:p>
        </p:txBody>
      </p:sp>
      <p:sp>
        <p:nvSpPr>
          <p:cNvPr id="3" name="TextBox 2">
            <a:extLst>
              <a:ext uri="{FF2B5EF4-FFF2-40B4-BE49-F238E27FC236}">
                <a16:creationId xmlns:a16="http://schemas.microsoft.com/office/drawing/2014/main" id="{461A577D-5100-82D5-7C12-3188813DDBCA}"/>
              </a:ext>
            </a:extLst>
          </p:cNvPr>
          <p:cNvSpPr txBox="1"/>
          <p:nvPr/>
        </p:nvSpPr>
        <p:spPr>
          <a:xfrm>
            <a:off x="4620685" y="6584950"/>
            <a:ext cx="3428999" cy="546099"/>
          </a:xfrm>
          <a:prstGeom prst="rect">
            <a:avLst/>
          </a:prstGeom>
        </p:spPr>
        <p:txBody>
          <a:bodyPr vert="horz" lIns="91440" tIns="45720" rIns="91440" bIns="45720" rtlCol="0">
            <a:normAutofit/>
          </a:bodyPr>
          <a:lstStyle/>
          <a:p>
            <a:pPr>
              <a:spcBef>
                <a:spcPct val="20000"/>
              </a:spcBef>
            </a:pPr>
            <a:r>
              <a:rPr lang="en-US" sz="1400" kern="1200">
                <a:latin typeface="+mn-lt"/>
                <a:ea typeface="+mn-ea"/>
                <a:cs typeface="+mn-cs"/>
              </a:rPr>
              <a:t>IT23394124|Bagya R M S |J26-IT-334</a:t>
            </a:r>
          </a:p>
          <a:p>
            <a:pPr>
              <a:spcBef>
                <a:spcPct val="20000"/>
              </a:spcBef>
            </a:pPr>
            <a:endParaRPr lang="en-US" sz="1400" kern="1200" dirty="0">
              <a:latin typeface="+mn-lt"/>
              <a:ea typeface="+mn-ea"/>
              <a:cs typeface="+mn-cs"/>
            </a:endParaRPr>
          </a:p>
        </p:txBody>
      </p:sp>
      <p:sp>
        <p:nvSpPr>
          <p:cNvPr id="4" name="TextBox 3">
            <a:extLst>
              <a:ext uri="{FF2B5EF4-FFF2-40B4-BE49-F238E27FC236}">
                <a16:creationId xmlns:a16="http://schemas.microsoft.com/office/drawing/2014/main" id="{04225A2E-03F0-C272-EDB1-C13E370CBFC3}"/>
              </a:ext>
            </a:extLst>
          </p:cNvPr>
          <p:cNvSpPr txBox="1"/>
          <p:nvPr/>
        </p:nvSpPr>
        <p:spPr>
          <a:xfrm>
            <a:off x="894735" y="1376516"/>
            <a:ext cx="184731" cy="369332"/>
          </a:xfrm>
          <a:prstGeom prst="rect">
            <a:avLst/>
          </a:prstGeom>
          <a:noFill/>
        </p:spPr>
        <p:txBody>
          <a:bodyPr wrap="none" rtlCol="0">
            <a:spAutoFit/>
          </a:bodyPr>
          <a:lstStyle/>
          <a:p>
            <a:endParaRPr lang="en-US" dirty="0"/>
          </a:p>
        </p:txBody>
      </p:sp>
      <p:graphicFrame>
        <p:nvGraphicFramePr>
          <p:cNvPr id="5" name="Table 4">
            <a:extLst>
              <a:ext uri="{FF2B5EF4-FFF2-40B4-BE49-F238E27FC236}">
                <a16:creationId xmlns:a16="http://schemas.microsoft.com/office/drawing/2014/main" id="{5D180792-C343-5C69-4945-F58147661266}"/>
              </a:ext>
            </a:extLst>
          </p:cNvPr>
          <p:cNvGraphicFramePr>
            <a:graphicFrameLocks noGrp="1"/>
          </p:cNvGraphicFramePr>
          <p:nvPr>
            <p:extLst>
              <p:ext uri="{D42A27DB-BD31-4B8C-83A1-F6EECF244321}">
                <p14:modId xmlns:p14="http://schemas.microsoft.com/office/powerpoint/2010/main" val="4067870817"/>
              </p:ext>
            </p:extLst>
          </p:nvPr>
        </p:nvGraphicFramePr>
        <p:xfrm>
          <a:off x="4766733" y="340598"/>
          <a:ext cx="6815668" cy="5718022"/>
        </p:xfrm>
        <a:graphic>
          <a:graphicData uri="http://schemas.openxmlformats.org/drawingml/2006/table">
            <a:tbl>
              <a:tblPr firstRow="1" bandRow="1">
                <a:tableStyleId>{5940675A-B579-460E-94D1-54222C63F5DA}</a:tableStyleId>
              </a:tblPr>
              <a:tblGrid>
                <a:gridCol w="265657">
                  <a:extLst>
                    <a:ext uri="{9D8B030D-6E8A-4147-A177-3AD203B41FA5}">
                      <a16:colId xmlns:a16="http://schemas.microsoft.com/office/drawing/2014/main" val="4241592153"/>
                    </a:ext>
                  </a:extLst>
                </a:gridCol>
                <a:gridCol w="4234982">
                  <a:extLst>
                    <a:ext uri="{9D8B030D-6E8A-4147-A177-3AD203B41FA5}">
                      <a16:colId xmlns:a16="http://schemas.microsoft.com/office/drawing/2014/main" val="2236382332"/>
                    </a:ext>
                  </a:extLst>
                </a:gridCol>
                <a:gridCol w="2315029">
                  <a:extLst>
                    <a:ext uri="{9D8B030D-6E8A-4147-A177-3AD203B41FA5}">
                      <a16:colId xmlns:a16="http://schemas.microsoft.com/office/drawing/2014/main" val="1920882160"/>
                    </a:ext>
                  </a:extLst>
                </a:gridCol>
              </a:tblGrid>
              <a:tr h="523275">
                <a:tc>
                  <a:txBody>
                    <a:bodyPr/>
                    <a:lstStyle/>
                    <a:p>
                      <a:pPr>
                        <a:buNone/>
                      </a:pPr>
                      <a:endParaRPr lang="en-US" sz="1000"/>
                    </a:p>
                  </a:txBody>
                  <a:tcPr marL="49696" marR="49696" marT="24848" marB="24848" anchor="ctr"/>
                </a:tc>
                <a:tc>
                  <a:txBody>
                    <a:bodyPr/>
                    <a:lstStyle/>
                    <a:p>
                      <a:pPr>
                        <a:buNone/>
                      </a:pPr>
                      <a:r>
                        <a:rPr lang="en-US" sz="1400"/>
                        <a:t>Gap (from literature/existing systems)</a:t>
                      </a:r>
                    </a:p>
                  </a:txBody>
                  <a:tcPr marL="49696" marR="49696" marT="24848" marB="24848" anchor="ctr">
                    <a:solidFill>
                      <a:schemeClr val="bg1">
                        <a:lumMod val="85000"/>
                      </a:schemeClr>
                    </a:solidFill>
                  </a:tcPr>
                </a:tc>
                <a:tc>
                  <a:txBody>
                    <a:bodyPr/>
                    <a:lstStyle/>
                    <a:p>
                      <a:pPr>
                        <a:buNone/>
                      </a:pPr>
                      <a:r>
                        <a:rPr lang="en-US" sz="1400"/>
                        <a:t>Feature (how your component closes it)</a:t>
                      </a:r>
                    </a:p>
                  </a:txBody>
                  <a:tcPr marL="49696" marR="49696" marT="24848" marB="24848" anchor="ctr">
                    <a:solidFill>
                      <a:schemeClr val="bg1">
                        <a:lumMod val="85000"/>
                      </a:schemeClr>
                    </a:solidFill>
                  </a:tcPr>
                </a:tc>
                <a:extLst>
                  <a:ext uri="{0D108BD9-81ED-4DB2-BD59-A6C34878D82A}">
                    <a16:rowId xmlns:a16="http://schemas.microsoft.com/office/drawing/2014/main" val="1623863032"/>
                  </a:ext>
                </a:extLst>
              </a:tr>
              <a:tr h="1984937">
                <a:tc>
                  <a:txBody>
                    <a:bodyPr/>
                    <a:lstStyle/>
                    <a:p>
                      <a:pPr>
                        <a:buNone/>
                      </a:pPr>
                      <a:r>
                        <a:rPr lang="en-US" sz="1000"/>
                        <a:t>1</a:t>
                      </a:r>
                    </a:p>
                  </a:txBody>
                  <a:tcPr marL="49696" marR="49696" marT="24848" marB="24848" anchor="ctr"/>
                </a:tc>
                <a:tc>
                  <a:txBody>
                    <a:bodyPr/>
                    <a:lstStyle/>
                    <a:p>
                      <a:pPr algn="just">
                        <a:buNone/>
                      </a:pPr>
                      <a:r>
                        <a:rPr lang="en-US" sz="1200"/>
                        <a:t>No comparative, locally-calibrated probabilistic forecasting. International ML studies (Gaidzik 2021, Brenning 2005) are validated in Mexico/Ecuador  not Sri Lankan terrain, soil, or monsoon rainfall. Local studies (Kegalle AHP, Walapane zonation) use subjective expert-weighted factors rather than models trained on actual outcome data, with no comparative ML evaluation.</a:t>
                      </a:r>
                    </a:p>
                  </a:txBody>
                  <a:tcPr marL="49696" marR="49696" marT="24848" marB="24848" anchor="ctr"/>
                </a:tc>
                <a:tc>
                  <a:txBody>
                    <a:bodyPr/>
                    <a:lstStyle/>
                    <a:p>
                      <a:pPr algn="just">
                        <a:buNone/>
                      </a:pPr>
                      <a:r>
                        <a:rPr lang="en-US" sz="1200"/>
                        <a:t>Multi-Factor Probability Engine — trains and comparatively evaluates XGBoost, LightGBM, and logistic regression specifically on Nuwara Eliya's historical inventory, rainfall, slope, and soil data — replacing subjective AHP weights with data-learned factor importance</a:t>
                      </a:r>
                    </a:p>
                  </a:txBody>
                  <a:tcPr marL="49696" marR="49696" marT="24848" marB="24848" anchor="ctr"/>
                </a:tc>
                <a:extLst>
                  <a:ext uri="{0D108BD9-81ED-4DB2-BD59-A6C34878D82A}">
                    <a16:rowId xmlns:a16="http://schemas.microsoft.com/office/drawing/2014/main" val="3242905315"/>
                  </a:ext>
                </a:extLst>
              </a:tr>
              <a:tr h="1414889">
                <a:tc>
                  <a:txBody>
                    <a:bodyPr/>
                    <a:lstStyle/>
                    <a:p>
                      <a:pPr>
                        <a:buNone/>
                      </a:pPr>
                      <a:r>
                        <a:rPr lang="en-US" sz="1000"/>
                        <a:t>2</a:t>
                      </a:r>
                    </a:p>
                  </a:txBody>
                  <a:tcPr marL="49696" marR="49696" marT="24848" marB="24848" anchor="ctr"/>
                </a:tc>
                <a:tc>
                  <a:txBody>
                    <a:bodyPr/>
                    <a:lstStyle/>
                    <a:p>
                      <a:pPr algn="just">
                        <a:buNone/>
                      </a:pPr>
                      <a:r>
                        <a:rPr lang="en-US" sz="1200"/>
                        <a:t>No continuously updated, accessible severity output at the community level. NBRO/DMC bulletins stop at district/DS-division scale; AHP studies produce static, seasonal maps. Even response-side tools like ResQConnect are reactive (post-incident) rather than proactive, and nothing delivers accessible, localized output to elderly or non-technical rural residents.</a:t>
                      </a:r>
                    </a:p>
                  </a:txBody>
                  <a:tcPr marL="49696" marR="49696" marT="24848" marB="24848" anchor="ctr"/>
                </a:tc>
                <a:tc>
                  <a:txBody>
                    <a:bodyPr/>
                    <a:lstStyle/>
                    <a:p>
                      <a:pPr algn="just">
                        <a:buNone/>
                      </a:pPr>
                      <a:r>
                        <a:rPr lang="en-US" sz="1200"/>
                        <a:t>Inclusive, Localized Web-GIS Live Mapping — village-level granularity, continuously updated (not seasonal), high-contrast/elderly-friendly UI, Sinhala/Tamil localization</a:t>
                      </a:r>
                    </a:p>
                  </a:txBody>
                  <a:tcPr marL="49696" marR="49696" marT="24848" marB="24848" anchor="ctr"/>
                </a:tc>
                <a:extLst>
                  <a:ext uri="{0D108BD9-81ED-4DB2-BD59-A6C34878D82A}">
                    <a16:rowId xmlns:a16="http://schemas.microsoft.com/office/drawing/2014/main" val="1234756016"/>
                  </a:ext>
                </a:extLst>
              </a:tr>
              <a:tr h="1794921">
                <a:tc>
                  <a:txBody>
                    <a:bodyPr/>
                    <a:lstStyle/>
                    <a:p>
                      <a:pPr>
                        <a:buNone/>
                      </a:pPr>
                      <a:r>
                        <a:rPr lang="en-US" sz="1000"/>
                        <a:t>3</a:t>
                      </a:r>
                    </a:p>
                  </a:txBody>
                  <a:tcPr marL="49696" marR="49696" marT="24848" marB="24848" anchor="ctr"/>
                </a:tc>
                <a:tc>
                  <a:txBody>
                    <a:bodyPr/>
                    <a:lstStyle/>
                    <a:p>
                      <a:pPr algn="just">
                        <a:buNone/>
                      </a:pPr>
                      <a:r>
                        <a:rPr lang="en-US" sz="1200"/>
                        <a:t>No factor-level explanation of individual predictions. Existing models (heuristic or statistical) output only fixed weights or a single aggregate probability — none decompose why a specific site is at risk in terms of environmental vs. human-driven causes.</a:t>
                      </a:r>
                    </a:p>
                  </a:txBody>
                  <a:tcPr marL="49696" marR="49696" marT="24848" marB="24848" anchor="ctr"/>
                </a:tc>
                <a:tc>
                  <a:txBody>
                    <a:bodyPr/>
                    <a:lstStyle/>
                    <a:p>
                      <a:pPr algn="just">
                        <a:buNone/>
                      </a:pPr>
                      <a:r>
                        <a:rPr lang="en-US" sz="1200"/>
                        <a:t>Explainable Micro-Level Terrain Failure Analysis — SHAP/LIME layer breaking down each prediction into % contribution from environmental factors (rainfall, slope, soil) vs. human factors (road cuts, deforestation, drainage obstruction)</a:t>
                      </a:r>
                    </a:p>
                  </a:txBody>
                  <a:tcPr marL="49696" marR="49696" marT="24848" marB="24848" anchor="ctr"/>
                </a:tc>
                <a:extLst>
                  <a:ext uri="{0D108BD9-81ED-4DB2-BD59-A6C34878D82A}">
                    <a16:rowId xmlns:a16="http://schemas.microsoft.com/office/drawing/2014/main" val="3663063548"/>
                  </a:ext>
                </a:extLst>
              </a:tr>
            </a:tbl>
          </a:graphicData>
        </a:graphic>
      </p:graphicFrame>
    </p:spTree>
    <p:extLst>
      <p:ext uri="{BB962C8B-B14F-4D97-AF65-F5344CB8AC3E}">
        <p14:creationId xmlns:p14="http://schemas.microsoft.com/office/powerpoint/2010/main" val="907481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E434-597C-A2C8-3DE0-023A645373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3C2D88-D353-7ED1-A492-4F864ED7CE05}"/>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dirty="0" err="1">
                <a:ea typeface="+mj-ea"/>
                <a:cs typeface="Adobe Devanagari" pitchFamily="18" charset="0"/>
              </a:rPr>
              <a:t>Methdology</a:t>
            </a:r>
            <a:endParaRPr lang="en-US" sz="2500" b="1" u="sng" kern="1200" dirty="0">
              <a:ea typeface="+mj-ea"/>
              <a:cs typeface="Adobe Devanagari" pitchFamily="18" charset="0"/>
            </a:endParaRPr>
          </a:p>
          <a:p>
            <a:pPr>
              <a:spcBef>
                <a:spcPct val="0"/>
              </a:spcBef>
              <a:spcAft>
                <a:spcPts val="600"/>
              </a:spcAft>
            </a:pPr>
            <a:endParaRPr lang="en-US" sz="2000" b="1" u="sng" kern="1200" dirty="0">
              <a:latin typeface="Adobe Devanagari" pitchFamily="18" charset="0"/>
              <a:ea typeface="+mj-ea"/>
              <a:cs typeface="Adobe Devanagari" pitchFamily="18" charset="0"/>
            </a:endParaRPr>
          </a:p>
        </p:txBody>
      </p:sp>
      <p:sp>
        <p:nvSpPr>
          <p:cNvPr id="3" name="TextBox 2">
            <a:extLst>
              <a:ext uri="{FF2B5EF4-FFF2-40B4-BE49-F238E27FC236}">
                <a16:creationId xmlns:a16="http://schemas.microsoft.com/office/drawing/2014/main" id="{78DFB010-111C-F3FE-7337-28DA468310F0}"/>
              </a:ext>
            </a:extLst>
          </p:cNvPr>
          <p:cNvSpPr txBox="1"/>
          <p:nvPr/>
        </p:nvSpPr>
        <p:spPr>
          <a:xfrm>
            <a:off x="623603" y="1843768"/>
            <a:ext cx="4011084" cy="2603499"/>
          </a:xfrm>
          <a:prstGeom prst="rect">
            <a:avLst/>
          </a:prstGeom>
        </p:spPr>
        <p:txBody>
          <a:bodyPr vert="horz" lIns="91440" tIns="45720" rIns="91440" bIns="45720" rtlCol="0">
            <a:normAutofit/>
          </a:bodyPr>
          <a:lstStyle/>
          <a:p>
            <a:pPr>
              <a:spcBef>
                <a:spcPct val="20000"/>
              </a:spcBef>
            </a:pPr>
            <a:r>
              <a:rPr lang="en-US" sz="1400" kern="1200" dirty="0">
                <a:latin typeface="+mn-lt"/>
                <a:ea typeface="+mn-ea"/>
                <a:cs typeface="+mn-cs"/>
              </a:rPr>
              <a:t>Quantitative, experimental (comparative) research design</a:t>
            </a:r>
          </a:p>
          <a:p>
            <a:pPr>
              <a:spcBef>
                <a:spcPct val="20000"/>
              </a:spcBef>
            </a:pPr>
            <a:r>
              <a:rPr lang="en-US" sz="1400" kern="1200" dirty="0">
                <a:latin typeface="+mn-lt"/>
                <a:ea typeface="+mn-ea"/>
                <a:cs typeface="+mn-cs"/>
              </a:rPr>
              <a:t>Core question is comparative and quantifiable, with measurable ground truth (documented landslide occurrence vs. non-occurrence)  not exploratory or interpretive</a:t>
            </a:r>
          </a:p>
          <a:p>
            <a:pPr>
              <a:spcBef>
                <a:spcPct val="20000"/>
              </a:spcBef>
            </a:pPr>
            <a:r>
              <a:rPr lang="en-US" sz="1400" kern="1200" dirty="0">
                <a:latin typeface="+mn-lt"/>
                <a:ea typeface="+mn-ea"/>
                <a:cs typeface="+mn-cs"/>
              </a:rPr>
              <a:t>Structured as a supervised ML modelling pipeline: </a:t>
            </a:r>
            <a:r>
              <a:rPr lang="en-US" sz="1400" b="1" kern="1200" dirty="0">
                <a:latin typeface="+mn-lt"/>
                <a:ea typeface="+mn-ea"/>
                <a:cs typeface="+mn-cs"/>
              </a:rPr>
              <a:t>data acquisition → feature engineering → comparative model training → statistical evaluation → validation against external benchmarks</a:t>
            </a:r>
            <a:endParaRPr lang="en-US" sz="1400" kern="1200" dirty="0">
              <a:latin typeface="+mn-lt"/>
              <a:ea typeface="+mn-ea"/>
              <a:cs typeface="+mn-cs"/>
            </a:endParaRPr>
          </a:p>
          <a:p>
            <a:pPr>
              <a:spcBef>
                <a:spcPct val="20000"/>
              </a:spcBef>
            </a:pPr>
            <a:endParaRPr lang="en-US" sz="1400" kern="1200" dirty="0">
              <a:latin typeface="+mn-lt"/>
              <a:ea typeface="+mn-ea"/>
              <a:cs typeface="+mn-cs"/>
            </a:endParaRPr>
          </a:p>
        </p:txBody>
      </p:sp>
      <p:graphicFrame>
        <p:nvGraphicFramePr>
          <p:cNvPr id="4" name="Table 3">
            <a:extLst>
              <a:ext uri="{FF2B5EF4-FFF2-40B4-BE49-F238E27FC236}">
                <a16:creationId xmlns:a16="http://schemas.microsoft.com/office/drawing/2014/main" id="{D02B141D-08B2-C976-2387-441B21C9111F}"/>
              </a:ext>
            </a:extLst>
          </p:cNvPr>
          <p:cNvGraphicFramePr>
            <a:graphicFrameLocks noGrp="1"/>
          </p:cNvGraphicFramePr>
          <p:nvPr>
            <p:extLst>
              <p:ext uri="{D42A27DB-BD31-4B8C-83A1-F6EECF244321}">
                <p14:modId xmlns:p14="http://schemas.microsoft.com/office/powerpoint/2010/main" val="2256031529"/>
              </p:ext>
            </p:extLst>
          </p:nvPr>
        </p:nvGraphicFramePr>
        <p:xfrm>
          <a:off x="4780738" y="273051"/>
          <a:ext cx="6787659" cy="5853115"/>
        </p:xfrm>
        <a:graphic>
          <a:graphicData uri="http://schemas.openxmlformats.org/drawingml/2006/table">
            <a:tbl>
              <a:tblPr>
                <a:solidFill>
                  <a:srgbClr val="F7F7F7"/>
                </a:solidFill>
                <a:tableStyleId>{5C22544A-7EE6-4342-B048-85BDC9FD1C3A}</a:tableStyleId>
              </a:tblPr>
              <a:tblGrid>
                <a:gridCol w="1678776">
                  <a:extLst>
                    <a:ext uri="{9D8B030D-6E8A-4147-A177-3AD203B41FA5}">
                      <a16:colId xmlns:a16="http://schemas.microsoft.com/office/drawing/2014/main" val="3850419226"/>
                    </a:ext>
                  </a:extLst>
                </a:gridCol>
                <a:gridCol w="2723011">
                  <a:extLst>
                    <a:ext uri="{9D8B030D-6E8A-4147-A177-3AD203B41FA5}">
                      <a16:colId xmlns:a16="http://schemas.microsoft.com/office/drawing/2014/main" val="443106996"/>
                    </a:ext>
                  </a:extLst>
                </a:gridCol>
                <a:gridCol w="2385872">
                  <a:extLst>
                    <a:ext uri="{9D8B030D-6E8A-4147-A177-3AD203B41FA5}">
                      <a16:colId xmlns:a16="http://schemas.microsoft.com/office/drawing/2014/main" val="2603554867"/>
                    </a:ext>
                  </a:extLst>
                </a:gridCol>
              </a:tblGrid>
              <a:tr h="305427">
                <a:tc>
                  <a:txBody>
                    <a:bodyPr/>
                    <a:lstStyle/>
                    <a:p>
                      <a:pPr>
                        <a:buNone/>
                      </a:pPr>
                      <a:r>
                        <a:rPr lang="en-US" sz="1100" cap="none" spc="0">
                          <a:solidFill>
                            <a:schemeClr val="tx1"/>
                          </a:solidFill>
                        </a:rPr>
                        <a:t>Phase</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US" sz="1100" cap="none" spc="0">
                          <a:solidFill>
                            <a:schemeClr val="tx1"/>
                          </a:solidFill>
                        </a:rPr>
                        <a:t>Activities</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US" sz="1100" cap="none" spc="0">
                          <a:solidFill>
                            <a:schemeClr val="tx1"/>
                          </a:solidFill>
                        </a:rPr>
                        <a:t>Key Output</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val="741542814"/>
                  </a:ext>
                </a:extLst>
              </a:tr>
              <a:tr h="822806">
                <a:tc>
                  <a:txBody>
                    <a:bodyPr/>
                    <a:lstStyle/>
                    <a:p>
                      <a:pPr>
                        <a:buNone/>
                      </a:pPr>
                      <a:r>
                        <a:rPr lang="en-US" sz="1100" cap="none" spc="0">
                          <a:solidFill>
                            <a:schemeClr val="tx1"/>
                          </a:solidFill>
                        </a:rPr>
                        <a:t>1. Literature &amp; Research Design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Literature review (landslide models, hazard mapping); problem formulation &amp; objective refinement; methodology &amp; tech stack finalization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Research gap, research question, finalized methodology</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423432162"/>
                  </a:ext>
                </a:extLst>
              </a:tr>
              <a:tr h="650346">
                <a:tc>
                  <a:txBody>
                    <a:bodyPr/>
                    <a:lstStyle/>
                    <a:p>
                      <a:pPr>
                        <a:buNone/>
                      </a:pPr>
                      <a:r>
                        <a:rPr lang="en-US" sz="1100" cap="none" spc="0">
                          <a:solidFill>
                            <a:schemeClr val="tx1"/>
                          </a:solidFill>
                        </a:rPr>
                        <a:t>2. Data Preparation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DMC/NBRO data request &amp; acquisition; data cleaning &amp; preprocessing; GIS feature stacking (slope, soil, DEM)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Clean, geospatially-aligned dataset with equal positive/negative samples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58294728"/>
                  </a:ext>
                </a:extLst>
              </a:tr>
              <a:tr h="822806">
                <a:tc>
                  <a:txBody>
                    <a:bodyPr/>
                    <a:lstStyle/>
                    <a:p>
                      <a:pPr>
                        <a:buNone/>
                      </a:pPr>
                      <a:r>
                        <a:rPr lang="en-US" sz="1100" cap="none" spc="0">
                          <a:solidFill>
                            <a:schemeClr val="tx1"/>
                          </a:solidFill>
                        </a:rPr>
                        <a:t>3. Experiments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Baseline model experiments (XGBoost/LightGBM); feature importance &amp; hyperparameter tuning; explainability (SHAP) experimentation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Best-performing model configuration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32574784"/>
                  </a:ext>
                </a:extLst>
              </a:tr>
              <a:tr h="822806">
                <a:tc>
                  <a:txBody>
                    <a:bodyPr/>
                    <a:lstStyle/>
                    <a:p>
                      <a:pPr>
                        <a:buNone/>
                      </a:pPr>
                      <a:r>
                        <a:rPr lang="en-US" sz="1100" cap="none" spc="0">
                          <a:solidFill>
                            <a:schemeClr val="tx1"/>
                          </a:solidFill>
                        </a:rPr>
                        <a:t>4. Development</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Probability engine implementation; explainability layer integration; Web-GIS mapping UI development; localization (Sinhala/Tamil)</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Working landslide prediction system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502732580"/>
                  </a:ext>
                </a:extLst>
              </a:tr>
              <a:tr h="650346">
                <a:tc>
                  <a:txBody>
                    <a:bodyPr/>
                    <a:lstStyle/>
                    <a:p>
                      <a:pPr>
                        <a:buNone/>
                      </a:pPr>
                      <a:r>
                        <a:rPr lang="en-US" sz="1100" cap="none" spc="0">
                          <a:solidFill>
                            <a:schemeClr val="tx1"/>
                          </a:solidFill>
                        </a:rPr>
                        <a:t>5. Prototype &amp; Testing</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End-to-end component prototype; unit &amp; model validation testing; accessibility &amp; usability testing</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Validated, functioning prototype</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113153528"/>
                  </a:ext>
                </a:extLst>
              </a:tr>
              <a:tr h="477886">
                <a:tc>
                  <a:txBody>
                    <a:bodyPr/>
                    <a:lstStyle/>
                    <a:p>
                      <a:pPr>
                        <a:buNone/>
                      </a:pPr>
                      <a:r>
                        <a:rPr lang="en-US" sz="1100" cap="none" spc="0">
                          <a:solidFill>
                            <a:schemeClr val="tx1"/>
                          </a:solidFill>
                        </a:rPr>
                        <a:t>6. Integration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API contract finalization; integration with Decision Support component</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Component connected to full IDMERS system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03342953"/>
                  </a:ext>
                </a:extLst>
              </a:tr>
              <a:tr h="822806">
                <a:tc>
                  <a:txBody>
                    <a:bodyPr/>
                    <a:lstStyle/>
                    <a:p>
                      <a:pPr>
                        <a:buNone/>
                      </a:pPr>
                      <a:r>
                        <a:rPr lang="en-US" sz="1100" cap="none" spc="0">
                          <a:solidFill>
                            <a:schemeClr val="tx1"/>
                          </a:solidFill>
                        </a:rPr>
                        <a:t>7. Evaluation &amp; Analysis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Model accuracy evaluation (extra-domain/spatial validation); system performance evaluation; results analysis &amp; discussion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Final accuracy, recall, and explainability results vs. benchmarks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81986496"/>
                  </a:ext>
                </a:extLst>
              </a:tr>
              <a:tr h="477886">
                <a:tc>
                  <a:txBody>
                    <a:bodyPr/>
                    <a:lstStyle/>
                    <a:p>
                      <a:pPr>
                        <a:buNone/>
                      </a:pPr>
                      <a:r>
                        <a:rPr lang="en-US" sz="1100" cap="none" spc="0">
                          <a:solidFill>
                            <a:schemeClr val="tx1"/>
                          </a:solidFill>
                        </a:rPr>
                        <a:t>8. Final Presentation</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1100" cap="none" spc="0">
                          <a:solidFill>
                            <a:schemeClr val="tx1"/>
                          </a:solidFill>
                        </a:rPr>
                        <a:t>Draft report writing; review &amp; revisions; final report &amp; viva preparation</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1100" cap="none" spc="0">
                          <a:solidFill>
                            <a:schemeClr val="tx1"/>
                          </a:solidFill>
                        </a:rPr>
                        <a:t>Completed dissertation + defense</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2038458101"/>
                  </a:ext>
                </a:extLst>
              </a:tr>
            </a:tbl>
          </a:graphicData>
        </a:graphic>
      </p:graphicFrame>
      <p:sp>
        <p:nvSpPr>
          <p:cNvPr id="5" name="TextBox 4">
            <a:extLst>
              <a:ext uri="{FF2B5EF4-FFF2-40B4-BE49-F238E27FC236}">
                <a16:creationId xmlns:a16="http://schemas.microsoft.com/office/drawing/2014/main" id="{9D93A850-CF4F-7098-FFE1-3562E5550125}"/>
              </a:ext>
            </a:extLst>
          </p:cNvPr>
          <p:cNvSpPr txBox="1"/>
          <p:nvPr/>
        </p:nvSpPr>
        <p:spPr>
          <a:xfrm>
            <a:off x="4152263" y="6534834"/>
            <a:ext cx="3887474" cy="646331"/>
          </a:xfrm>
          <a:prstGeom prst="rect">
            <a:avLst/>
          </a:prstGeom>
          <a:noFill/>
        </p:spPr>
        <p:txBody>
          <a:bodyPr wrap="none" rtlCol="0">
            <a:spAutoFit/>
          </a:bodyPr>
          <a:lstStyle/>
          <a:p>
            <a:r>
              <a:rPr lang="en-US" dirty="0"/>
              <a:t>IT23394124|Bagya R M S |J26-IT-334</a:t>
            </a:r>
          </a:p>
          <a:p>
            <a:endParaRPr lang="en-US" dirty="0"/>
          </a:p>
        </p:txBody>
      </p:sp>
      <p:sp>
        <p:nvSpPr>
          <p:cNvPr id="6" name="TextBox 5">
            <a:extLst>
              <a:ext uri="{FF2B5EF4-FFF2-40B4-BE49-F238E27FC236}">
                <a16:creationId xmlns:a16="http://schemas.microsoft.com/office/drawing/2014/main" id="{B21BD3EE-E043-8022-8CD0-82C75049AF10}"/>
              </a:ext>
            </a:extLst>
          </p:cNvPr>
          <p:cNvSpPr txBox="1"/>
          <p:nvPr/>
        </p:nvSpPr>
        <p:spPr>
          <a:xfrm>
            <a:off x="609601" y="1340607"/>
            <a:ext cx="1927579" cy="646331"/>
          </a:xfrm>
          <a:prstGeom prst="rect">
            <a:avLst/>
          </a:prstGeom>
          <a:noFill/>
        </p:spPr>
        <p:txBody>
          <a:bodyPr wrap="none" rtlCol="0">
            <a:spAutoFit/>
          </a:bodyPr>
          <a:lstStyle/>
          <a:p>
            <a:r>
              <a:rPr lang="en-US" b="1" dirty="0"/>
              <a:t>Research Design</a:t>
            </a:r>
            <a:endParaRPr lang="en-US" dirty="0"/>
          </a:p>
          <a:p>
            <a:endParaRPr lang="en-US" dirty="0"/>
          </a:p>
        </p:txBody>
      </p:sp>
    </p:spTree>
    <p:extLst>
      <p:ext uri="{BB962C8B-B14F-4D97-AF65-F5344CB8AC3E}">
        <p14:creationId xmlns:p14="http://schemas.microsoft.com/office/powerpoint/2010/main" val="196077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9EDDE8-F511-F28F-DC90-201EE81269A4}"/>
              </a:ext>
            </a:extLst>
          </p:cNvPr>
          <p:cNvSpPr txBox="1"/>
          <p:nvPr/>
        </p:nvSpPr>
        <p:spPr>
          <a:xfrm>
            <a:off x="4267200" y="762000"/>
            <a:ext cx="2981585" cy="477054"/>
          </a:xfrm>
          <a:prstGeom prst="rect">
            <a:avLst/>
          </a:prstGeom>
          <a:noFill/>
        </p:spPr>
        <p:txBody>
          <a:bodyPr wrap="none" rtlCol="0">
            <a:spAutoFit/>
          </a:bodyPr>
          <a:lstStyle/>
          <a:p>
            <a:r>
              <a:rPr lang="en-US" sz="2500" b="1" dirty="0"/>
              <a:t>Validation Strategy</a:t>
            </a:r>
          </a:p>
        </p:txBody>
      </p:sp>
      <p:sp>
        <p:nvSpPr>
          <p:cNvPr id="4" name="TextBox 3">
            <a:extLst>
              <a:ext uri="{FF2B5EF4-FFF2-40B4-BE49-F238E27FC236}">
                <a16:creationId xmlns:a16="http://schemas.microsoft.com/office/drawing/2014/main" id="{90746E3B-4141-424E-25C8-805B494D2D4C}"/>
              </a:ext>
            </a:extLst>
          </p:cNvPr>
          <p:cNvSpPr txBox="1"/>
          <p:nvPr/>
        </p:nvSpPr>
        <p:spPr>
          <a:xfrm>
            <a:off x="4343400" y="6477000"/>
            <a:ext cx="3887474" cy="923330"/>
          </a:xfrm>
          <a:prstGeom prst="rect">
            <a:avLst/>
          </a:prstGeom>
          <a:noFill/>
        </p:spPr>
        <p:txBody>
          <a:bodyPr wrap="none" rtlCol="0">
            <a:spAutoFit/>
          </a:bodyPr>
          <a:lstStyle/>
          <a:p>
            <a:r>
              <a:rPr lang="en-US" dirty="0"/>
              <a:t>IT23394124|Bagya R M S |J26-IT-334</a:t>
            </a:r>
          </a:p>
          <a:p>
            <a:endParaRPr lang="en-US" dirty="0"/>
          </a:p>
          <a:p>
            <a:endParaRPr lang="en-US" dirty="0"/>
          </a:p>
        </p:txBody>
      </p:sp>
      <p:sp>
        <p:nvSpPr>
          <p:cNvPr id="5" name="TextBox 4">
            <a:extLst>
              <a:ext uri="{FF2B5EF4-FFF2-40B4-BE49-F238E27FC236}">
                <a16:creationId xmlns:a16="http://schemas.microsoft.com/office/drawing/2014/main" id="{00D45946-913C-154C-C1B4-A14F4F48E0AF}"/>
              </a:ext>
            </a:extLst>
          </p:cNvPr>
          <p:cNvSpPr txBox="1"/>
          <p:nvPr/>
        </p:nvSpPr>
        <p:spPr>
          <a:xfrm>
            <a:off x="1295400" y="1582340"/>
            <a:ext cx="9446341" cy="3693319"/>
          </a:xfrm>
          <a:prstGeom prst="rect">
            <a:avLst/>
          </a:prstGeom>
          <a:noFill/>
        </p:spPr>
        <p:txBody>
          <a:bodyPr wrap="square" rtlCol="0">
            <a:spAutoFit/>
          </a:bodyPr>
          <a:lstStyle/>
          <a:p>
            <a:pPr algn="just"/>
            <a:r>
              <a:rPr lang="en-US" dirty="0"/>
              <a:t>Following the spatial cross-validation approach used by Brenning [2] who showed that naive random train/test splits over-inflate accuracy on spatial data due to autocorrelation between nearby points this component will use 5-fold cross-validation with spatial buffering, ensuring test points are not spatially adjacent to training points from the same landslide event. Statistical significance between competing models will be assessed using a paired Wilcoxon signed-rank test across cross-validation folds, consistent with the comparative methodology already piloted in this project's earlier synthetic-data feature-set comparison. Where multiple comparisons are made (e.g., across all three models), a Bonferroni correction will be applied to control the family-wise error rate, following the precedent set in [2]. Finally, the model will undergo external validation against a held-out set of real, documented incidents specifically, post-Cyclone-</a:t>
            </a:r>
            <a:r>
              <a:rPr lang="en-US" dirty="0" err="1"/>
              <a:t>Dithawa</a:t>
            </a:r>
            <a:r>
              <a:rPr lang="en-US" dirty="0"/>
              <a:t> high-risk inspection points not used during training to test whether the model's predicted probabilities align with an actual, independently verified disaster event rather than only cross-validated historical data [12] </a:t>
            </a:r>
          </a:p>
        </p:txBody>
      </p:sp>
    </p:spTree>
    <p:extLst>
      <p:ext uri="{BB962C8B-B14F-4D97-AF65-F5344CB8AC3E}">
        <p14:creationId xmlns:p14="http://schemas.microsoft.com/office/powerpoint/2010/main" val="1464749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78D0AD-B001-AE58-46DE-86943A0CBCB7}"/>
              </a:ext>
            </a:extLst>
          </p:cNvPr>
          <p:cNvSpPr txBox="1"/>
          <p:nvPr/>
        </p:nvSpPr>
        <p:spPr>
          <a:xfrm>
            <a:off x="609601" y="273050"/>
            <a:ext cx="4011084" cy="458786"/>
          </a:xfrm>
          <a:prstGeom prst="rect">
            <a:avLst/>
          </a:prstGeom>
        </p:spPr>
        <p:txBody>
          <a:bodyPr vert="horz" lIns="91440" tIns="45720" rIns="91440" bIns="45720" rtlCol="0" anchor="b">
            <a:normAutofit fontScale="92500"/>
          </a:bodyPr>
          <a:lstStyle/>
          <a:p>
            <a:pPr>
              <a:spcBef>
                <a:spcPct val="0"/>
              </a:spcBef>
              <a:spcAft>
                <a:spcPts val="600"/>
              </a:spcAft>
            </a:pPr>
            <a:r>
              <a:rPr lang="en-US" sz="2000" b="1" kern="1200" dirty="0">
                <a:ea typeface="+mj-ea"/>
                <a:cs typeface="Adobe Devanagari" pitchFamily="18" charset="0"/>
              </a:rPr>
              <a:t>System Architecture –IT23394124</a:t>
            </a:r>
          </a:p>
        </p:txBody>
      </p:sp>
      <p:pic>
        <p:nvPicPr>
          <p:cNvPr id="5" name="Picture 4">
            <a:extLst>
              <a:ext uri="{FF2B5EF4-FFF2-40B4-BE49-F238E27FC236}">
                <a16:creationId xmlns:a16="http://schemas.microsoft.com/office/drawing/2014/main" id="{7305C5AF-723E-7DD9-F1DE-89DC5BE675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4790" y="273051"/>
            <a:ext cx="4799552" cy="5853113"/>
          </a:xfrm>
          <a:prstGeom prst="rect">
            <a:avLst/>
          </a:prstGeom>
          <a:noFill/>
          <a:ln>
            <a:solidFill>
              <a:schemeClr val="tx1"/>
            </a:solidFill>
          </a:ln>
        </p:spPr>
      </p:pic>
      <p:sp>
        <p:nvSpPr>
          <p:cNvPr id="3" name="TextBox 2">
            <a:extLst>
              <a:ext uri="{FF2B5EF4-FFF2-40B4-BE49-F238E27FC236}">
                <a16:creationId xmlns:a16="http://schemas.microsoft.com/office/drawing/2014/main" id="{E83893CE-92E9-AECA-0679-820909748F43}"/>
              </a:ext>
            </a:extLst>
          </p:cNvPr>
          <p:cNvSpPr txBox="1"/>
          <p:nvPr/>
        </p:nvSpPr>
        <p:spPr>
          <a:xfrm>
            <a:off x="609601" y="838201"/>
            <a:ext cx="4011084" cy="5287964"/>
          </a:xfrm>
          <a:prstGeom prst="rect">
            <a:avLst/>
          </a:prstGeom>
        </p:spPr>
        <p:txBody>
          <a:bodyPr vert="horz" lIns="91440" tIns="45720" rIns="91440" bIns="45720" rtlCol="0">
            <a:normAutofit/>
          </a:bodyPr>
          <a:lstStyle/>
          <a:p>
            <a:pPr>
              <a:spcBef>
                <a:spcPct val="20000"/>
              </a:spcBef>
            </a:pPr>
            <a:r>
              <a:rPr lang="en-US" sz="1300" b="1" kern="1200" dirty="0">
                <a:latin typeface="+mn-lt"/>
                <a:ea typeface="+mn-ea"/>
                <a:cs typeface="+mn-cs"/>
              </a:rPr>
              <a:t>Inputs (4 factors):</a:t>
            </a:r>
            <a:r>
              <a:rPr lang="en-US" sz="1300" kern="1200" dirty="0">
                <a:latin typeface="+mn-lt"/>
                <a:ea typeface="+mn-ea"/>
                <a:cs typeface="+mn-cs"/>
              </a:rPr>
              <a:t> Human Factors (road cuts, deforestation, drainage  OSM/Census), Soil Saturation &amp; Type (NBRO), Slope Geometry (DEM–SRTM), Rainfall Intensity &amp; Duration (CHIRPS/Dept. of Meteorology)</a:t>
            </a:r>
          </a:p>
          <a:p>
            <a:pPr>
              <a:spcBef>
                <a:spcPct val="20000"/>
              </a:spcBef>
            </a:pPr>
            <a:r>
              <a:rPr lang="en-US" sz="1300" b="1" kern="1200" dirty="0">
                <a:latin typeface="+mn-lt"/>
                <a:ea typeface="+mn-ea"/>
                <a:cs typeface="+mn-cs"/>
              </a:rPr>
              <a:t>Part 1 - Multi-Factor Probability Engine:</a:t>
            </a:r>
            <a:r>
              <a:rPr lang="en-US" sz="1300" kern="1200" dirty="0">
                <a:latin typeface="+mn-lt"/>
                <a:ea typeface="+mn-ea"/>
                <a:cs typeface="+mn-cs"/>
              </a:rPr>
              <a:t> Feature Fusion (rainfall + slope + soil saturation) → ML Classifier (</a:t>
            </a:r>
            <a:r>
              <a:rPr lang="en-US" sz="1300" kern="1200" dirty="0" err="1">
                <a:latin typeface="+mn-lt"/>
                <a:ea typeface="+mn-ea"/>
                <a:cs typeface="+mn-cs"/>
              </a:rPr>
              <a:t>XGBoost</a:t>
            </a:r>
            <a:r>
              <a:rPr lang="en-US" sz="1300" kern="1200" dirty="0">
                <a:latin typeface="+mn-lt"/>
                <a:ea typeface="+mn-ea"/>
                <a:cs typeface="+mn-cs"/>
              </a:rPr>
              <a:t>/</a:t>
            </a:r>
            <a:r>
              <a:rPr lang="en-US" sz="1300" kern="1200" dirty="0" err="1">
                <a:latin typeface="+mn-lt"/>
                <a:ea typeface="+mn-ea"/>
                <a:cs typeface="+mn-cs"/>
              </a:rPr>
              <a:t>LightGBM</a:t>
            </a:r>
            <a:r>
              <a:rPr lang="en-US" sz="1300" kern="1200" dirty="0">
                <a:latin typeface="+mn-lt"/>
                <a:ea typeface="+mn-ea"/>
                <a:cs typeface="+mn-cs"/>
              </a:rPr>
              <a:t>) → Landslide Probability Score</a:t>
            </a:r>
          </a:p>
          <a:p>
            <a:pPr>
              <a:spcBef>
                <a:spcPct val="20000"/>
              </a:spcBef>
            </a:pPr>
            <a:r>
              <a:rPr lang="en-US" sz="1300" b="1" kern="1200" dirty="0">
                <a:latin typeface="+mn-lt"/>
                <a:ea typeface="+mn-ea"/>
                <a:cs typeface="+mn-cs"/>
              </a:rPr>
              <a:t>Part 2 - Explainable Micro-Level Terrain Failure Analysis:</a:t>
            </a:r>
            <a:r>
              <a:rPr lang="en-US" sz="1300" kern="1200" dirty="0">
                <a:latin typeface="+mn-lt"/>
                <a:ea typeface="+mn-ea"/>
                <a:cs typeface="+mn-cs"/>
              </a:rPr>
              <a:t> Explainability Layer (SHAP/LIME) → Environmental vs. Human Cause Breakdown (%)</a:t>
            </a:r>
          </a:p>
          <a:p>
            <a:pPr>
              <a:spcBef>
                <a:spcPct val="20000"/>
              </a:spcBef>
            </a:pPr>
            <a:r>
              <a:rPr lang="en-US" sz="1300" b="1" kern="1200" dirty="0">
                <a:latin typeface="+mn-lt"/>
                <a:ea typeface="+mn-ea"/>
                <a:cs typeface="+mn-cs"/>
              </a:rPr>
              <a:t>Part 3 - Inclusive, Localized Web-GIS Live Mapping:</a:t>
            </a:r>
            <a:r>
              <a:rPr lang="en-US" sz="1300" kern="1200" dirty="0">
                <a:latin typeface="+mn-lt"/>
                <a:ea typeface="+mn-ea"/>
                <a:cs typeface="+mn-cs"/>
              </a:rPr>
              <a:t> Sinhala/Tamil Localization + Accessible UI (high-contrast, elderly-friendly) + Village-Level Live Hazard Map</a:t>
            </a:r>
          </a:p>
          <a:p>
            <a:pPr>
              <a:spcBef>
                <a:spcPct val="20000"/>
              </a:spcBef>
            </a:pPr>
            <a:r>
              <a:rPr lang="en-US" sz="1300" b="1" kern="1200" dirty="0">
                <a:latin typeface="+mn-lt"/>
                <a:ea typeface="+mn-ea"/>
                <a:cs typeface="+mn-cs"/>
              </a:rPr>
              <a:t>Output:</a:t>
            </a:r>
            <a:r>
              <a:rPr lang="en-US" sz="1300" kern="1200" dirty="0">
                <a:latin typeface="+mn-lt"/>
                <a:ea typeface="+mn-ea"/>
                <a:cs typeface="+mn-cs"/>
              </a:rPr>
              <a:t> All three parts converge into a Structured Geotagged Hazard Record (location, probability, confidence, contributing-factor breakdown)</a:t>
            </a:r>
          </a:p>
          <a:p>
            <a:pPr>
              <a:spcBef>
                <a:spcPct val="20000"/>
              </a:spcBef>
            </a:pPr>
            <a:r>
              <a:rPr lang="en-US" sz="1300" b="1" kern="1200" dirty="0">
                <a:latin typeface="+mn-lt"/>
                <a:ea typeface="+mn-ea"/>
                <a:cs typeface="+mn-cs"/>
              </a:rPr>
              <a:t>Handoff:</a:t>
            </a:r>
            <a:r>
              <a:rPr lang="en-US" sz="1300" kern="1200" dirty="0">
                <a:latin typeface="+mn-lt"/>
                <a:ea typeface="+mn-ea"/>
                <a:cs typeface="+mn-cs"/>
              </a:rPr>
              <a:t> This record is sent to the Multi-Hazard Early Warning Decision Support Component for joint hazard scoring &amp; priority-based alerting</a:t>
            </a:r>
          </a:p>
          <a:p>
            <a:pPr>
              <a:spcBef>
                <a:spcPct val="20000"/>
              </a:spcBef>
            </a:pPr>
            <a:endParaRPr lang="en-US" sz="1300" kern="1200" dirty="0">
              <a:latin typeface="+mn-lt"/>
              <a:ea typeface="+mn-ea"/>
              <a:cs typeface="+mn-cs"/>
            </a:endParaRPr>
          </a:p>
        </p:txBody>
      </p:sp>
      <p:sp>
        <p:nvSpPr>
          <p:cNvPr id="6" name="TextBox 5">
            <a:extLst>
              <a:ext uri="{FF2B5EF4-FFF2-40B4-BE49-F238E27FC236}">
                <a16:creationId xmlns:a16="http://schemas.microsoft.com/office/drawing/2014/main" id="{91703598-4639-D3EC-CEBB-EC85F4D80841}"/>
              </a:ext>
            </a:extLst>
          </p:cNvPr>
          <p:cNvSpPr txBox="1"/>
          <p:nvPr/>
        </p:nvSpPr>
        <p:spPr>
          <a:xfrm>
            <a:off x="4299382" y="6477000"/>
            <a:ext cx="3887474" cy="923330"/>
          </a:xfrm>
          <a:prstGeom prst="rect">
            <a:avLst/>
          </a:prstGeom>
          <a:noFill/>
        </p:spPr>
        <p:txBody>
          <a:bodyPr wrap="none" rtlCol="0">
            <a:spAutoFit/>
          </a:bodyPr>
          <a:lstStyle/>
          <a:p>
            <a:r>
              <a:rPr lang="en-US" dirty="0"/>
              <a:t>IT23394124|Bagya R M S |J26-IT-334</a:t>
            </a:r>
          </a:p>
          <a:p>
            <a:endParaRPr lang="en-US" dirty="0"/>
          </a:p>
          <a:p>
            <a:endParaRPr lang="en-US" dirty="0"/>
          </a:p>
        </p:txBody>
      </p:sp>
    </p:spTree>
    <p:extLst>
      <p:ext uri="{BB962C8B-B14F-4D97-AF65-F5344CB8AC3E}">
        <p14:creationId xmlns:p14="http://schemas.microsoft.com/office/powerpoint/2010/main" val="416503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FDF0C8-0F88-341F-4162-903B1318B933}"/>
              </a:ext>
            </a:extLst>
          </p:cNvPr>
          <p:cNvSpPr txBox="1"/>
          <p:nvPr/>
        </p:nvSpPr>
        <p:spPr>
          <a:xfrm>
            <a:off x="152400" y="152400"/>
            <a:ext cx="5006563" cy="369332"/>
          </a:xfrm>
          <a:prstGeom prst="rect">
            <a:avLst/>
          </a:prstGeom>
          <a:noFill/>
        </p:spPr>
        <p:txBody>
          <a:bodyPr wrap="none" rtlCol="0">
            <a:spAutoFit/>
          </a:bodyPr>
          <a:lstStyle/>
          <a:p>
            <a:r>
              <a:rPr lang="en-US" b="1" dirty="0"/>
              <a:t>Functional and Non-Functional Requirements</a:t>
            </a:r>
          </a:p>
        </p:txBody>
      </p:sp>
      <p:sp>
        <p:nvSpPr>
          <p:cNvPr id="5" name="TextBox 4">
            <a:extLst>
              <a:ext uri="{FF2B5EF4-FFF2-40B4-BE49-F238E27FC236}">
                <a16:creationId xmlns:a16="http://schemas.microsoft.com/office/drawing/2014/main" id="{96CB7ED2-6204-EE0D-51AF-A3D2A14E5DD8}"/>
              </a:ext>
            </a:extLst>
          </p:cNvPr>
          <p:cNvSpPr txBox="1"/>
          <p:nvPr/>
        </p:nvSpPr>
        <p:spPr>
          <a:xfrm>
            <a:off x="152400" y="521732"/>
            <a:ext cx="2666371" cy="369332"/>
          </a:xfrm>
          <a:prstGeom prst="rect">
            <a:avLst/>
          </a:prstGeom>
          <a:noFill/>
        </p:spPr>
        <p:txBody>
          <a:bodyPr wrap="none" rtlCol="0">
            <a:spAutoFit/>
          </a:bodyPr>
          <a:lstStyle/>
          <a:p>
            <a:r>
              <a:rPr lang="en-US" dirty="0"/>
              <a:t>Functional Requirements</a:t>
            </a:r>
          </a:p>
        </p:txBody>
      </p:sp>
      <p:sp>
        <p:nvSpPr>
          <p:cNvPr id="8" name="TextBox 7">
            <a:extLst>
              <a:ext uri="{FF2B5EF4-FFF2-40B4-BE49-F238E27FC236}">
                <a16:creationId xmlns:a16="http://schemas.microsoft.com/office/drawing/2014/main" id="{AB963029-F4EE-5425-00F0-0FEE88545DD0}"/>
              </a:ext>
            </a:extLst>
          </p:cNvPr>
          <p:cNvSpPr txBox="1"/>
          <p:nvPr/>
        </p:nvSpPr>
        <p:spPr>
          <a:xfrm>
            <a:off x="5891981" y="521732"/>
            <a:ext cx="3201774" cy="369332"/>
          </a:xfrm>
          <a:prstGeom prst="rect">
            <a:avLst/>
          </a:prstGeom>
          <a:noFill/>
        </p:spPr>
        <p:txBody>
          <a:bodyPr wrap="none" rtlCol="0">
            <a:spAutoFit/>
          </a:bodyPr>
          <a:lstStyle/>
          <a:p>
            <a:r>
              <a:rPr lang="en-US" dirty="0"/>
              <a:t>Non -Functional Requirements</a:t>
            </a:r>
          </a:p>
        </p:txBody>
      </p:sp>
      <p:graphicFrame>
        <p:nvGraphicFramePr>
          <p:cNvPr id="10" name="Table 9">
            <a:extLst>
              <a:ext uri="{FF2B5EF4-FFF2-40B4-BE49-F238E27FC236}">
                <a16:creationId xmlns:a16="http://schemas.microsoft.com/office/drawing/2014/main" id="{D1A21244-D6F5-777B-4D8C-D0413FB110F0}"/>
              </a:ext>
            </a:extLst>
          </p:cNvPr>
          <p:cNvGraphicFramePr>
            <a:graphicFrameLocks noGrp="1"/>
          </p:cNvGraphicFramePr>
          <p:nvPr>
            <p:extLst>
              <p:ext uri="{D42A27DB-BD31-4B8C-83A1-F6EECF244321}">
                <p14:modId xmlns:p14="http://schemas.microsoft.com/office/powerpoint/2010/main" val="1320923581"/>
              </p:ext>
            </p:extLst>
          </p:nvPr>
        </p:nvGraphicFramePr>
        <p:xfrm>
          <a:off x="152400" y="891064"/>
          <a:ext cx="5744076" cy="5056922"/>
        </p:xfrm>
        <a:graphic>
          <a:graphicData uri="http://schemas.openxmlformats.org/drawingml/2006/table">
            <a:tbl>
              <a:tblPr>
                <a:tableStyleId>{5C22544A-7EE6-4342-B048-85BDC9FD1C3A}</a:tableStyleId>
              </a:tblPr>
              <a:tblGrid>
                <a:gridCol w="215900">
                  <a:extLst>
                    <a:ext uri="{9D8B030D-6E8A-4147-A177-3AD203B41FA5}">
                      <a16:colId xmlns:a16="http://schemas.microsoft.com/office/drawing/2014/main" val="874534378"/>
                    </a:ext>
                  </a:extLst>
                </a:gridCol>
                <a:gridCol w="5528176">
                  <a:extLst>
                    <a:ext uri="{9D8B030D-6E8A-4147-A177-3AD203B41FA5}">
                      <a16:colId xmlns:a16="http://schemas.microsoft.com/office/drawing/2014/main" val="1461780090"/>
                    </a:ext>
                  </a:extLst>
                </a:gridCol>
              </a:tblGrid>
              <a:tr h="169917">
                <a:tc>
                  <a:txBody>
                    <a:bodyPr/>
                    <a:lstStyle/>
                    <a:p>
                      <a:pPr>
                        <a:buNone/>
                      </a:pPr>
                      <a:endParaRPr lang="en-US" sz="1100" dirty="0"/>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Requirement</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163501"/>
                  </a:ext>
                </a:extLst>
              </a:tr>
              <a:tr h="683250">
                <a:tc>
                  <a:txBody>
                    <a:bodyPr/>
                    <a:lstStyle/>
                    <a:p>
                      <a:pPr>
                        <a:buNone/>
                      </a:pPr>
                      <a:r>
                        <a:rPr lang="en-US" sz="1100"/>
                        <a:t>1</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ingest historical landslide records, rainfall data, slope/soil data, and land-use data from NBRO, the Department of Meteorology, and open geospatial sources (SRTM, OSM)</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4840552"/>
                  </a:ext>
                </a:extLst>
              </a:tr>
              <a:tr h="683250">
                <a:tc>
                  <a:txBody>
                    <a:bodyPr/>
                    <a:lstStyle/>
                    <a:p>
                      <a:pPr>
                        <a:buNone/>
                      </a:pPr>
                      <a:r>
                        <a:rPr lang="en-US" sz="1100"/>
                        <a:t>2</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compute a landslide probability score for a given location using a multi-factor model combining rainfall intensity/duration, slope geometry, and soil saturation</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7954840"/>
                  </a:ext>
                </a:extLst>
              </a:tr>
              <a:tr h="683250">
                <a:tc>
                  <a:txBody>
                    <a:bodyPr/>
                    <a:lstStyle/>
                    <a:p>
                      <a:pPr>
                        <a:buNone/>
                      </a:pPr>
                      <a:r>
                        <a:rPr lang="en-US" sz="1100"/>
                        <a:t>3</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classify predicted landslide risk into discrete categories (Very Low, Low, Moderate, High, Very High), consistent with established susceptibility-mapping conventions</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824399"/>
                  </a:ext>
                </a:extLst>
              </a:tr>
              <a:tr h="683250">
                <a:tc>
                  <a:txBody>
                    <a:bodyPr/>
                    <a:lstStyle/>
                    <a:p>
                      <a:pPr>
                        <a:buNone/>
                      </a:pPr>
                      <a:r>
                        <a:rPr lang="en-US" sz="1100"/>
                        <a:t>4</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generate an explainable breakdown of each prediction, showing the relative contribution of environmental factors (rainfall, slope, soil) versus human factors (road cutting, deforestation, drainage obstruction)</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169176"/>
                  </a:ext>
                </a:extLst>
              </a:tr>
              <a:tr h="525577">
                <a:tc>
                  <a:txBody>
                    <a:bodyPr/>
                    <a:lstStyle/>
                    <a:p>
                      <a:pPr>
                        <a:buNone/>
                      </a:pPr>
                      <a:r>
                        <a:rPr lang="en-US" sz="1100"/>
                        <a:t>5</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a:t>The system shall display predictions on a Web-GIS live map at village/DS-division granularity for the pilot area (Ambagamuwa, Kotmale, Walapane)</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1629088"/>
                  </a:ext>
                </a:extLst>
              </a:tr>
              <a:tr h="367904">
                <a:tc>
                  <a:txBody>
                    <a:bodyPr/>
                    <a:lstStyle/>
                    <a:p>
                      <a:pPr>
                        <a:buNone/>
                      </a:pPr>
                      <a:r>
                        <a:rPr lang="en-US" sz="1100"/>
                        <a:t>6</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support map interface localization in Sinhala and Tamil</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3788683"/>
                  </a:ext>
                </a:extLst>
              </a:tr>
              <a:tr h="683250">
                <a:tc>
                  <a:txBody>
                    <a:bodyPr/>
                    <a:lstStyle/>
                    <a:p>
                      <a:pPr>
                        <a:buNone/>
                      </a:pPr>
                      <a:r>
                        <a:rPr lang="en-US" sz="1100"/>
                        <a:t>7</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output a structured, geotagged hazard record (location, probability, confidence, contributing-factor breakdown) consumable by the Decision Support component via a defined API contract</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2432969"/>
                  </a:ext>
                </a:extLst>
              </a:tr>
              <a:tr h="525577">
                <a:tc>
                  <a:txBody>
                    <a:bodyPr/>
                    <a:lstStyle/>
                    <a:p>
                      <a:pPr>
                        <a:buNone/>
                      </a:pPr>
                      <a:r>
                        <a:rPr lang="en-US" sz="1100"/>
                        <a:t>8</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allow authorized users (e.g., NBRO/DMC officers) to view historical prediction accuracy against confirmed landslide events for a given area</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9878462"/>
                  </a:ext>
                </a:extLst>
              </a:tr>
            </a:tbl>
          </a:graphicData>
        </a:graphic>
      </p:graphicFrame>
      <p:graphicFrame>
        <p:nvGraphicFramePr>
          <p:cNvPr id="12" name="Table 11">
            <a:extLst>
              <a:ext uri="{FF2B5EF4-FFF2-40B4-BE49-F238E27FC236}">
                <a16:creationId xmlns:a16="http://schemas.microsoft.com/office/drawing/2014/main" id="{68EFD429-70A6-D49B-C404-C5DD9E600E33}"/>
              </a:ext>
            </a:extLst>
          </p:cNvPr>
          <p:cNvGraphicFramePr>
            <a:graphicFrameLocks noGrp="1"/>
          </p:cNvGraphicFramePr>
          <p:nvPr>
            <p:extLst>
              <p:ext uri="{D42A27DB-BD31-4B8C-83A1-F6EECF244321}">
                <p14:modId xmlns:p14="http://schemas.microsoft.com/office/powerpoint/2010/main" val="2048770557"/>
              </p:ext>
            </p:extLst>
          </p:nvPr>
        </p:nvGraphicFramePr>
        <p:xfrm>
          <a:off x="5943601" y="891064"/>
          <a:ext cx="6096000" cy="5062549"/>
        </p:xfrm>
        <a:graphic>
          <a:graphicData uri="http://schemas.openxmlformats.org/drawingml/2006/table">
            <a:tbl>
              <a:tblPr>
                <a:tableStyleId>{5C22544A-7EE6-4342-B048-85BDC9FD1C3A}</a:tableStyleId>
              </a:tblPr>
              <a:tblGrid>
                <a:gridCol w="212425">
                  <a:extLst>
                    <a:ext uri="{9D8B030D-6E8A-4147-A177-3AD203B41FA5}">
                      <a16:colId xmlns:a16="http://schemas.microsoft.com/office/drawing/2014/main" val="3143844138"/>
                    </a:ext>
                  </a:extLst>
                </a:gridCol>
                <a:gridCol w="1012543">
                  <a:extLst>
                    <a:ext uri="{9D8B030D-6E8A-4147-A177-3AD203B41FA5}">
                      <a16:colId xmlns:a16="http://schemas.microsoft.com/office/drawing/2014/main" val="3459625810"/>
                    </a:ext>
                  </a:extLst>
                </a:gridCol>
                <a:gridCol w="4871032">
                  <a:extLst>
                    <a:ext uri="{9D8B030D-6E8A-4147-A177-3AD203B41FA5}">
                      <a16:colId xmlns:a16="http://schemas.microsoft.com/office/drawing/2014/main" val="1434279781"/>
                    </a:ext>
                  </a:extLst>
                </a:gridCol>
              </a:tblGrid>
              <a:tr h="215432">
                <a:tc>
                  <a:txBody>
                    <a:bodyPr/>
                    <a:lstStyle/>
                    <a:p>
                      <a:pPr>
                        <a:buNone/>
                      </a:pPr>
                      <a:endParaRPr lang="en-US" sz="1100" dirty="0"/>
                    </a:p>
                  </a:txBody>
                  <a:tcPr marL="53419" marR="53419" marT="26709" marB="26709" anchor="ctr"/>
                </a:tc>
                <a:tc>
                  <a:txBody>
                    <a:bodyPr/>
                    <a:lstStyle/>
                    <a:p>
                      <a:pPr>
                        <a:buNone/>
                      </a:pPr>
                      <a:r>
                        <a:rPr lang="en-US" sz="1100" dirty="0"/>
                        <a:t>Category</a:t>
                      </a:r>
                    </a:p>
                  </a:txBody>
                  <a:tcPr marL="53419" marR="53419" marT="26709" marB="26709" anchor="ctr"/>
                </a:tc>
                <a:tc>
                  <a:txBody>
                    <a:bodyPr/>
                    <a:lstStyle/>
                    <a:p>
                      <a:pPr>
                        <a:buNone/>
                      </a:pPr>
                      <a:r>
                        <a:rPr lang="en-US" sz="1100" dirty="0"/>
                        <a:t>Requirement</a:t>
                      </a:r>
                    </a:p>
                  </a:txBody>
                  <a:tcPr marL="53419" marR="53419" marT="26709" marB="26709" anchor="ctr"/>
                </a:tc>
                <a:extLst>
                  <a:ext uri="{0D108BD9-81ED-4DB2-BD59-A6C34878D82A}">
                    <a16:rowId xmlns:a16="http://schemas.microsoft.com/office/drawing/2014/main" val="2315654312"/>
                  </a:ext>
                </a:extLst>
              </a:tr>
              <a:tr h="676767">
                <a:tc>
                  <a:txBody>
                    <a:bodyPr/>
                    <a:lstStyle/>
                    <a:p>
                      <a:pPr>
                        <a:buNone/>
                      </a:pPr>
                      <a:r>
                        <a:rPr lang="en-US" sz="1100"/>
                        <a:t>1</a:t>
                      </a:r>
                    </a:p>
                  </a:txBody>
                  <a:tcPr marL="53419" marR="53419" marT="26709" marB="26709" anchor="ctr"/>
                </a:tc>
                <a:tc>
                  <a:txBody>
                    <a:bodyPr/>
                    <a:lstStyle/>
                    <a:p>
                      <a:pPr>
                        <a:buNone/>
                      </a:pPr>
                      <a:r>
                        <a:rPr lang="en-US" sz="1100" dirty="0"/>
                        <a:t>Response time</a:t>
                      </a:r>
                    </a:p>
                  </a:txBody>
                  <a:tcPr marL="53419" marR="53419" marT="26709" marB="26709" anchor="ctr"/>
                </a:tc>
                <a:tc>
                  <a:txBody>
                    <a:bodyPr/>
                    <a:lstStyle/>
                    <a:p>
                      <a:pPr>
                        <a:buNone/>
                      </a:pPr>
                      <a:r>
                        <a:rPr lang="en-US" sz="1100"/>
                        <a:t>The system shall return a landslide-probability prediction for a queried location within 5 seconds under normal network conditions</a:t>
                      </a:r>
                    </a:p>
                  </a:txBody>
                  <a:tcPr marL="53419" marR="53419" marT="26709" marB="26709" anchor="ctr"/>
                </a:tc>
                <a:extLst>
                  <a:ext uri="{0D108BD9-81ED-4DB2-BD59-A6C34878D82A}">
                    <a16:rowId xmlns:a16="http://schemas.microsoft.com/office/drawing/2014/main" val="737877156"/>
                  </a:ext>
                </a:extLst>
              </a:tr>
              <a:tr h="989122">
                <a:tc>
                  <a:txBody>
                    <a:bodyPr/>
                    <a:lstStyle/>
                    <a:p>
                      <a:pPr>
                        <a:buNone/>
                      </a:pPr>
                      <a:r>
                        <a:rPr lang="en-US" sz="1100"/>
                        <a:t>2</a:t>
                      </a:r>
                    </a:p>
                  </a:txBody>
                  <a:tcPr marL="53419" marR="53419" marT="26709" marB="26709" anchor="ctr"/>
                </a:tc>
                <a:tc>
                  <a:txBody>
                    <a:bodyPr/>
                    <a:lstStyle/>
                    <a:p>
                      <a:pPr>
                        <a:buNone/>
                      </a:pPr>
                      <a:r>
                        <a:rPr lang="en-US" sz="1100"/>
                        <a:t>Reliability</a:t>
                      </a:r>
                    </a:p>
                  </a:txBody>
                  <a:tcPr marL="53419" marR="53419" marT="26709" marB="26709" anchor="ctr"/>
                </a:tc>
                <a:tc>
                  <a:txBody>
                    <a:bodyPr/>
                    <a:lstStyle/>
                    <a:p>
                      <a:pPr>
                        <a:buNone/>
                      </a:pPr>
                      <a:r>
                        <a:rPr lang="en-US" sz="1100"/>
                        <a:t>The prediction model shall achieve a minimum out-of-sample (spatially independent) accuracy of 80%, evaluated using held-out test regions rather than training-area accuracy alone</a:t>
                      </a:r>
                    </a:p>
                  </a:txBody>
                  <a:tcPr marL="53419" marR="53419" marT="26709" marB="26709" anchor="ctr"/>
                </a:tc>
                <a:extLst>
                  <a:ext uri="{0D108BD9-81ED-4DB2-BD59-A6C34878D82A}">
                    <a16:rowId xmlns:a16="http://schemas.microsoft.com/office/drawing/2014/main" val="3819355992"/>
                  </a:ext>
                </a:extLst>
              </a:tr>
              <a:tr h="832945">
                <a:tc>
                  <a:txBody>
                    <a:bodyPr/>
                    <a:lstStyle/>
                    <a:p>
                      <a:pPr>
                        <a:buNone/>
                      </a:pPr>
                      <a:r>
                        <a:rPr lang="en-US" sz="1100"/>
                        <a:t>3</a:t>
                      </a:r>
                    </a:p>
                  </a:txBody>
                  <a:tcPr marL="53419" marR="53419" marT="26709" marB="26709" anchor="ctr"/>
                </a:tc>
                <a:tc>
                  <a:txBody>
                    <a:bodyPr/>
                    <a:lstStyle/>
                    <a:p>
                      <a:pPr>
                        <a:buNone/>
                      </a:pPr>
                      <a:r>
                        <a:rPr lang="en-US" sz="1100"/>
                        <a:t>Usability</a:t>
                      </a:r>
                    </a:p>
                  </a:txBody>
                  <a:tcPr marL="53419" marR="53419" marT="26709" marB="26709" anchor="ctr"/>
                </a:tc>
                <a:tc>
                  <a:txBody>
                    <a:bodyPr/>
                    <a:lstStyle/>
                    <a:p>
                      <a:pPr>
                        <a:buNone/>
                      </a:pPr>
                      <a:r>
                        <a:rPr lang="en-US" sz="1100" dirty="0"/>
                        <a:t>At least 90% of test users unfamiliar with GIS tools shall be able to identify their village's current risk level on the map interface within 2 minutes, without prior training</a:t>
                      </a:r>
                    </a:p>
                  </a:txBody>
                  <a:tcPr marL="53419" marR="53419" marT="26709" marB="26709" anchor="ctr"/>
                </a:tc>
                <a:extLst>
                  <a:ext uri="{0D108BD9-81ED-4DB2-BD59-A6C34878D82A}">
                    <a16:rowId xmlns:a16="http://schemas.microsoft.com/office/drawing/2014/main" val="1083194138"/>
                  </a:ext>
                </a:extLst>
              </a:tr>
              <a:tr h="832945">
                <a:tc>
                  <a:txBody>
                    <a:bodyPr/>
                    <a:lstStyle/>
                    <a:p>
                      <a:pPr>
                        <a:buNone/>
                      </a:pPr>
                      <a:r>
                        <a:rPr lang="en-US" sz="1100"/>
                        <a:t>4</a:t>
                      </a:r>
                    </a:p>
                  </a:txBody>
                  <a:tcPr marL="53419" marR="53419" marT="26709" marB="26709" anchor="ctr"/>
                </a:tc>
                <a:tc>
                  <a:txBody>
                    <a:bodyPr/>
                    <a:lstStyle/>
                    <a:p>
                      <a:pPr>
                        <a:buNone/>
                      </a:pPr>
                      <a:r>
                        <a:rPr lang="en-US" sz="1100"/>
                        <a:t>Accessibility</a:t>
                      </a:r>
                    </a:p>
                  </a:txBody>
                  <a:tcPr marL="53419" marR="53419" marT="26709" marB="26709" anchor="ctr"/>
                </a:tc>
                <a:tc>
                  <a:txBody>
                    <a:bodyPr/>
                    <a:lstStyle/>
                    <a:p>
                      <a:pPr>
                        <a:buNone/>
                      </a:pPr>
                      <a:r>
                        <a:rPr lang="en-US" sz="1100"/>
                        <a:t>The map interface shall meet WCAG 2.1 AA color-contrast requirements and support high-contrast display modes for users with low vision, including elderly residents</a:t>
                      </a:r>
                    </a:p>
                  </a:txBody>
                  <a:tcPr marL="53419" marR="53419" marT="26709" marB="26709" anchor="ctr"/>
                </a:tc>
                <a:extLst>
                  <a:ext uri="{0D108BD9-81ED-4DB2-BD59-A6C34878D82A}">
                    <a16:rowId xmlns:a16="http://schemas.microsoft.com/office/drawing/2014/main" val="527900306"/>
                  </a:ext>
                </a:extLst>
              </a:tr>
              <a:tr h="832945">
                <a:tc>
                  <a:txBody>
                    <a:bodyPr/>
                    <a:lstStyle/>
                    <a:p>
                      <a:pPr>
                        <a:buNone/>
                      </a:pPr>
                      <a:r>
                        <a:rPr lang="en-US" sz="1100"/>
                        <a:t>5</a:t>
                      </a:r>
                    </a:p>
                  </a:txBody>
                  <a:tcPr marL="53419" marR="53419" marT="26709" marB="26709" anchor="ctr"/>
                </a:tc>
                <a:tc>
                  <a:txBody>
                    <a:bodyPr/>
                    <a:lstStyle/>
                    <a:p>
                      <a:pPr>
                        <a:buNone/>
                      </a:pPr>
                      <a:r>
                        <a:rPr lang="en-US" sz="1100"/>
                        <a:t>Scalability</a:t>
                      </a:r>
                    </a:p>
                  </a:txBody>
                  <a:tcPr marL="53419" marR="53419" marT="26709" marB="26709" anchor="ctr"/>
                </a:tc>
                <a:tc>
                  <a:txBody>
                    <a:bodyPr/>
                    <a:lstStyle/>
                    <a:p>
                      <a:pPr>
                        <a:buNone/>
                      </a:pPr>
                      <a:r>
                        <a:rPr lang="en-US" sz="1100"/>
                        <a:t>The system shall support prediction requests across all DS divisions in the pilot district (Nuwara Eliya) without degradation in response time beyond the 5-second threshold</a:t>
                      </a:r>
                    </a:p>
                  </a:txBody>
                  <a:tcPr marL="53419" marR="53419" marT="26709" marB="26709" anchor="ctr"/>
                </a:tc>
                <a:extLst>
                  <a:ext uri="{0D108BD9-81ED-4DB2-BD59-A6C34878D82A}">
                    <a16:rowId xmlns:a16="http://schemas.microsoft.com/office/drawing/2014/main" val="1148219262"/>
                  </a:ext>
                </a:extLst>
              </a:tr>
              <a:tr h="676767">
                <a:tc>
                  <a:txBody>
                    <a:bodyPr/>
                    <a:lstStyle/>
                    <a:p>
                      <a:pPr>
                        <a:buNone/>
                      </a:pPr>
                      <a:r>
                        <a:rPr lang="en-US" sz="1100"/>
                        <a:t>6</a:t>
                      </a:r>
                    </a:p>
                  </a:txBody>
                  <a:tcPr marL="53419" marR="53419" marT="26709" marB="26709" anchor="ctr"/>
                </a:tc>
                <a:tc>
                  <a:txBody>
                    <a:bodyPr/>
                    <a:lstStyle/>
                    <a:p>
                      <a:pPr>
                        <a:buNone/>
                      </a:pPr>
                      <a:r>
                        <a:rPr lang="en-US" sz="1100"/>
                        <a:t>Security</a:t>
                      </a:r>
                    </a:p>
                  </a:txBody>
                  <a:tcPr marL="53419" marR="53419" marT="26709" marB="26709" anchor="ctr"/>
                </a:tc>
                <a:tc>
                  <a:txBody>
                    <a:bodyPr/>
                    <a:lstStyle/>
                    <a:p>
                      <a:pPr>
                        <a:buNone/>
                      </a:pPr>
                      <a:r>
                        <a:rPr lang="en-US" sz="1100" dirty="0"/>
                        <a:t>All data exchanged with the Decision Support component via the API shall use authenticated, encrypted (HTTPS/TLS) connections</a:t>
                      </a:r>
                    </a:p>
                  </a:txBody>
                  <a:tcPr marL="53419" marR="53419" marT="26709" marB="26709" anchor="ctr"/>
                </a:tc>
                <a:extLst>
                  <a:ext uri="{0D108BD9-81ED-4DB2-BD59-A6C34878D82A}">
                    <a16:rowId xmlns:a16="http://schemas.microsoft.com/office/drawing/2014/main" val="836206375"/>
                  </a:ext>
                </a:extLst>
              </a:tr>
            </a:tbl>
          </a:graphicData>
        </a:graphic>
      </p:graphicFrame>
      <p:sp>
        <p:nvSpPr>
          <p:cNvPr id="13" name="TextBox 12">
            <a:extLst>
              <a:ext uri="{FF2B5EF4-FFF2-40B4-BE49-F238E27FC236}">
                <a16:creationId xmlns:a16="http://schemas.microsoft.com/office/drawing/2014/main" id="{3D9D3298-A0AC-EDB8-2E77-8E55BE3AFC49}"/>
              </a:ext>
            </a:extLst>
          </p:cNvPr>
          <p:cNvSpPr txBox="1"/>
          <p:nvPr/>
        </p:nvSpPr>
        <p:spPr>
          <a:xfrm>
            <a:off x="4419600" y="6553200"/>
            <a:ext cx="3887474" cy="1200329"/>
          </a:xfrm>
          <a:prstGeom prst="rect">
            <a:avLst/>
          </a:prstGeom>
          <a:noFill/>
        </p:spPr>
        <p:txBody>
          <a:bodyPr wrap="none" rtlCol="0">
            <a:spAutoFit/>
          </a:bodyPr>
          <a:lstStyle/>
          <a:p>
            <a:r>
              <a:rPr lang="en-US" dirty="0"/>
              <a:t>IT23394124|Bagya R M S |J26-IT-334</a:t>
            </a:r>
          </a:p>
          <a:p>
            <a:endParaRPr lang="en-US" dirty="0"/>
          </a:p>
          <a:p>
            <a:endParaRPr lang="en-US" dirty="0"/>
          </a:p>
          <a:p>
            <a:endParaRPr lang="en-US" dirty="0"/>
          </a:p>
        </p:txBody>
      </p:sp>
    </p:spTree>
    <p:extLst>
      <p:ext uri="{BB962C8B-B14F-4D97-AF65-F5344CB8AC3E}">
        <p14:creationId xmlns:p14="http://schemas.microsoft.com/office/powerpoint/2010/main" val="3009861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F5529-0A1A-3133-376F-27D47B8F39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C235E3-AAD6-FB9A-D138-9893B474FB5F}"/>
              </a:ext>
            </a:extLst>
          </p:cNvPr>
          <p:cNvSpPr txBox="1"/>
          <p:nvPr/>
        </p:nvSpPr>
        <p:spPr>
          <a:xfrm>
            <a:off x="228600" y="76200"/>
            <a:ext cx="5617243" cy="1631216"/>
          </a:xfrm>
          <a:prstGeom prst="rect">
            <a:avLst/>
          </a:prstGeom>
          <a:noFill/>
        </p:spPr>
        <p:txBody>
          <a:bodyPr wrap="none" rtlCol="0">
            <a:spAutoFit/>
          </a:bodyPr>
          <a:lstStyle/>
          <a:p>
            <a:r>
              <a:rPr lang="en-GB" sz="2500" dirty="0"/>
              <a:t>Component 03</a:t>
            </a:r>
          </a:p>
          <a:p>
            <a:endParaRPr lang="en-GB" sz="2500" dirty="0"/>
          </a:p>
          <a:p>
            <a:r>
              <a:rPr lang="en-GB" sz="2500" b="1" dirty="0"/>
              <a:t>Human Impact And Decision Support</a:t>
            </a:r>
            <a:endParaRPr lang="en-US" sz="2500" b="1" dirty="0"/>
          </a:p>
          <a:p>
            <a:endParaRPr lang="en-US" sz="2500" dirty="0"/>
          </a:p>
        </p:txBody>
      </p:sp>
      <p:sp>
        <p:nvSpPr>
          <p:cNvPr id="3" name="TextBox 2">
            <a:extLst>
              <a:ext uri="{FF2B5EF4-FFF2-40B4-BE49-F238E27FC236}">
                <a16:creationId xmlns:a16="http://schemas.microsoft.com/office/drawing/2014/main" id="{509CD3C7-E0EC-D0B8-F41C-5B3F42C067A5}"/>
              </a:ext>
            </a:extLst>
          </p:cNvPr>
          <p:cNvSpPr txBox="1"/>
          <p:nvPr/>
        </p:nvSpPr>
        <p:spPr>
          <a:xfrm>
            <a:off x="263013" y="5334000"/>
            <a:ext cx="2886046" cy="923330"/>
          </a:xfrm>
          <a:prstGeom prst="rect">
            <a:avLst/>
          </a:prstGeom>
          <a:noFill/>
        </p:spPr>
        <p:txBody>
          <a:bodyPr wrap="none" rtlCol="0">
            <a:spAutoFit/>
          </a:bodyPr>
          <a:lstStyle/>
          <a:p>
            <a:r>
              <a:rPr lang="en-GB" dirty="0"/>
              <a:t>Presented By : </a:t>
            </a:r>
            <a:r>
              <a:rPr lang="en-US" dirty="0"/>
              <a:t>IT23317512</a:t>
            </a:r>
            <a:endParaRPr lang="en-GB" dirty="0"/>
          </a:p>
          <a:p>
            <a:r>
              <a:rPr lang="en-US" dirty="0" err="1"/>
              <a:t>Prathibhani</a:t>
            </a:r>
            <a:r>
              <a:rPr lang="en-US" dirty="0"/>
              <a:t> Y.L.O.L </a:t>
            </a:r>
          </a:p>
          <a:p>
            <a:endParaRPr lang="en-US" dirty="0"/>
          </a:p>
        </p:txBody>
      </p:sp>
      <p:sp>
        <p:nvSpPr>
          <p:cNvPr id="5" name="Rectangle: Diagonal Corners Rounded 4">
            <a:extLst>
              <a:ext uri="{FF2B5EF4-FFF2-40B4-BE49-F238E27FC236}">
                <a16:creationId xmlns:a16="http://schemas.microsoft.com/office/drawing/2014/main" id="{F8B9E19A-7326-1039-3578-84E7C10AE83F}"/>
              </a:ext>
            </a:extLst>
          </p:cNvPr>
          <p:cNvSpPr/>
          <p:nvPr/>
        </p:nvSpPr>
        <p:spPr>
          <a:xfrm>
            <a:off x="294968" y="1600200"/>
            <a:ext cx="5636203" cy="2286000"/>
          </a:xfrm>
          <a:prstGeom prst="round2Diag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dirty="0">
                <a:solidFill>
                  <a:schemeClr val="tx1"/>
                </a:solidFill>
              </a:rPr>
              <a:t>I am </a:t>
            </a:r>
            <a:r>
              <a:rPr lang="en-GB" dirty="0" err="1">
                <a:solidFill>
                  <a:schemeClr val="tx1"/>
                </a:solidFill>
              </a:rPr>
              <a:t>Ohasee</a:t>
            </a:r>
            <a:r>
              <a:rPr lang="en-GB" dirty="0">
                <a:solidFill>
                  <a:schemeClr val="tx1"/>
                </a:solidFill>
              </a:rPr>
              <a:t> Lanka, and I specialize in human impact prediction and decision support by developing an explainable machine learning component that estimates demographic risk and generates color-coded, actionable alerts at the Grama </a:t>
            </a:r>
            <a:r>
              <a:rPr lang="en-GB" dirty="0" err="1">
                <a:solidFill>
                  <a:schemeClr val="tx1"/>
                </a:solidFill>
              </a:rPr>
              <a:t>Niladhari</a:t>
            </a:r>
            <a:r>
              <a:rPr lang="en-GB" dirty="0">
                <a:solidFill>
                  <a:schemeClr val="tx1"/>
                </a:solidFill>
              </a:rPr>
              <a:t> division level.</a:t>
            </a:r>
            <a:endParaRPr lang="en-US" dirty="0">
              <a:solidFill>
                <a:schemeClr val="tx1"/>
              </a:solidFill>
            </a:endParaRPr>
          </a:p>
        </p:txBody>
      </p:sp>
      <p:pic>
        <p:nvPicPr>
          <p:cNvPr id="7" name="Picture 6">
            <a:extLst>
              <a:ext uri="{FF2B5EF4-FFF2-40B4-BE49-F238E27FC236}">
                <a16:creationId xmlns:a16="http://schemas.microsoft.com/office/drawing/2014/main" id="{79B6C45C-1ACE-EE6F-ADF9-56419D778A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34400" y="914400"/>
            <a:ext cx="3028105" cy="4038600"/>
          </a:xfrm>
          <a:prstGeom prst="rect">
            <a:avLst/>
          </a:prstGeom>
        </p:spPr>
      </p:pic>
    </p:spTree>
    <p:extLst>
      <p:ext uri="{BB962C8B-B14F-4D97-AF65-F5344CB8AC3E}">
        <p14:creationId xmlns:p14="http://schemas.microsoft.com/office/powerpoint/2010/main" val="1810951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C6F89-EED2-80C8-2606-65D2C89DDB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7400A6A-6400-E310-6ABF-DAB224145752}"/>
              </a:ext>
            </a:extLst>
          </p:cNvPr>
          <p:cNvSpPr txBox="1"/>
          <p:nvPr/>
        </p:nvSpPr>
        <p:spPr>
          <a:xfrm>
            <a:off x="152400" y="152400"/>
            <a:ext cx="3441327" cy="861774"/>
          </a:xfrm>
          <a:prstGeom prst="rect">
            <a:avLst/>
          </a:prstGeom>
          <a:noFill/>
        </p:spPr>
        <p:txBody>
          <a:bodyPr wrap="none" rtlCol="0">
            <a:spAutoFit/>
          </a:bodyPr>
          <a:lstStyle/>
          <a:p>
            <a:r>
              <a:rPr lang="en-US" sz="3200" u="sng" dirty="0"/>
              <a:t>Research Question</a:t>
            </a:r>
          </a:p>
          <a:p>
            <a:endParaRPr lang="en-US" u="sng" dirty="0"/>
          </a:p>
        </p:txBody>
      </p:sp>
      <p:sp>
        <p:nvSpPr>
          <p:cNvPr id="4" name="TextBox 3">
            <a:extLst>
              <a:ext uri="{FF2B5EF4-FFF2-40B4-BE49-F238E27FC236}">
                <a16:creationId xmlns:a16="http://schemas.microsoft.com/office/drawing/2014/main" id="{BD35AAFD-2251-A1CA-6480-DA4992E2041F}"/>
              </a:ext>
            </a:extLst>
          </p:cNvPr>
          <p:cNvSpPr txBox="1"/>
          <p:nvPr/>
        </p:nvSpPr>
        <p:spPr>
          <a:xfrm>
            <a:off x="990600" y="1519171"/>
            <a:ext cx="10539021" cy="923330"/>
          </a:xfrm>
          <a:prstGeom prst="rect">
            <a:avLst/>
          </a:prstGeom>
          <a:noFill/>
        </p:spPr>
        <p:txBody>
          <a:bodyPr wrap="square" rtlCol="0">
            <a:spAutoFit/>
          </a:bodyPr>
          <a:lstStyle/>
          <a:p>
            <a:r>
              <a:rPr lang="en-GB" dirty="0"/>
              <a:t>Can a machine learning-driven decision support component accurately estimate human impact such as deaths, displacement, and affected population, and generate explainable, prioritized emergency decisions more effectively than existing hazard monitoring dashboards for high-risk regions in Sri Lanka?</a:t>
            </a:r>
            <a:endParaRPr lang="en-US" dirty="0"/>
          </a:p>
        </p:txBody>
      </p:sp>
      <p:sp>
        <p:nvSpPr>
          <p:cNvPr id="6" name="TextBox 5">
            <a:extLst>
              <a:ext uri="{FF2B5EF4-FFF2-40B4-BE49-F238E27FC236}">
                <a16:creationId xmlns:a16="http://schemas.microsoft.com/office/drawing/2014/main" id="{C9317316-510B-5705-9E45-689B2FEDC878}"/>
              </a:ext>
            </a:extLst>
          </p:cNvPr>
          <p:cNvSpPr txBox="1"/>
          <p:nvPr/>
        </p:nvSpPr>
        <p:spPr>
          <a:xfrm>
            <a:off x="662379" y="960313"/>
            <a:ext cx="1970668" cy="646331"/>
          </a:xfrm>
          <a:prstGeom prst="rect">
            <a:avLst/>
          </a:prstGeom>
          <a:noFill/>
        </p:spPr>
        <p:txBody>
          <a:bodyPr wrap="none" rtlCol="0">
            <a:spAutoFit/>
          </a:bodyPr>
          <a:lstStyle/>
          <a:p>
            <a:r>
              <a:rPr lang="en-US" u="sng" dirty="0"/>
              <a:t>Research Problem</a:t>
            </a:r>
          </a:p>
          <a:p>
            <a:endParaRPr lang="en-US" dirty="0"/>
          </a:p>
        </p:txBody>
      </p:sp>
      <p:sp>
        <p:nvSpPr>
          <p:cNvPr id="8" name="TextBox 7">
            <a:extLst>
              <a:ext uri="{FF2B5EF4-FFF2-40B4-BE49-F238E27FC236}">
                <a16:creationId xmlns:a16="http://schemas.microsoft.com/office/drawing/2014/main" id="{690495B0-1D1F-6650-FD0E-A496C635A8A4}"/>
              </a:ext>
            </a:extLst>
          </p:cNvPr>
          <p:cNvSpPr txBox="1"/>
          <p:nvPr/>
        </p:nvSpPr>
        <p:spPr>
          <a:xfrm>
            <a:off x="667295" y="2737721"/>
            <a:ext cx="2831737" cy="646331"/>
          </a:xfrm>
          <a:prstGeom prst="rect">
            <a:avLst/>
          </a:prstGeom>
          <a:noFill/>
        </p:spPr>
        <p:txBody>
          <a:bodyPr wrap="none" rtlCol="0">
            <a:spAutoFit/>
          </a:bodyPr>
          <a:lstStyle/>
          <a:p>
            <a:r>
              <a:rPr lang="en-US" u="sng" dirty="0"/>
              <a:t>Component Wise Objective</a:t>
            </a:r>
          </a:p>
          <a:p>
            <a:endParaRPr lang="en-US" dirty="0"/>
          </a:p>
        </p:txBody>
      </p:sp>
      <p:sp>
        <p:nvSpPr>
          <p:cNvPr id="10" name="TextBox 9">
            <a:extLst>
              <a:ext uri="{FF2B5EF4-FFF2-40B4-BE49-F238E27FC236}">
                <a16:creationId xmlns:a16="http://schemas.microsoft.com/office/drawing/2014/main" id="{40261C5D-9E75-E62C-DF09-9A201C211152}"/>
              </a:ext>
            </a:extLst>
          </p:cNvPr>
          <p:cNvSpPr txBox="1"/>
          <p:nvPr/>
        </p:nvSpPr>
        <p:spPr>
          <a:xfrm>
            <a:off x="6629400" y="2651422"/>
            <a:ext cx="3269357" cy="646331"/>
          </a:xfrm>
          <a:prstGeom prst="rect">
            <a:avLst/>
          </a:prstGeom>
          <a:noFill/>
        </p:spPr>
        <p:txBody>
          <a:bodyPr wrap="none" rtlCol="0">
            <a:spAutoFit/>
          </a:bodyPr>
          <a:lstStyle/>
          <a:p>
            <a:r>
              <a:rPr lang="en-US" u="sng" dirty="0"/>
              <a:t>Component-wise Sub-Objective</a:t>
            </a:r>
          </a:p>
          <a:p>
            <a:endParaRPr lang="en-US" dirty="0"/>
          </a:p>
        </p:txBody>
      </p:sp>
      <p:sp>
        <p:nvSpPr>
          <p:cNvPr id="12" name="Rectangle 11">
            <a:extLst>
              <a:ext uri="{FF2B5EF4-FFF2-40B4-BE49-F238E27FC236}">
                <a16:creationId xmlns:a16="http://schemas.microsoft.com/office/drawing/2014/main" id="{AEB83109-1D76-8F71-1026-0F3FC3F9D94B}"/>
              </a:ext>
            </a:extLst>
          </p:cNvPr>
          <p:cNvSpPr/>
          <p:nvPr/>
        </p:nvSpPr>
        <p:spPr>
          <a:xfrm>
            <a:off x="5563204" y="3200400"/>
            <a:ext cx="6400196" cy="320040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gn="just">
              <a:buFont typeface="Arial" panose="020B0604020202020204" pitchFamily="34" charset="0"/>
              <a:buChar char="•"/>
            </a:pPr>
            <a:r>
              <a:rPr lang="en-US" sz="1300" dirty="0">
                <a:solidFill>
                  <a:schemeClr val="tx1"/>
                </a:solidFill>
              </a:rPr>
              <a:t>1. To design and populate a spatially joined dataset that fuses historical hazard event records from </a:t>
            </a:r>
            <a:r>
              <a:rPr lang="en-US" sz="1300" dirty="0" err="1">
                <a:solidFill>
                  <a:schemeClr val="tx1"/>
                </a:solidFill>
              </a:rPr>
              <a:t>DesInventar</a:t>
            </a:r>
            <a:r>
              <a:rPr lang="en-US" sz="1300" dirty="0">
                <a:solidFill>
                  <a:schemeClr val="tx1"/>
                </a:solidFill>
              </a:rPr>
              <a:t>,. </a:t>
            </a:r>
          </a:p>
          <a:p>
            <a:pPr marL="342900" lvl="0" indent="-342900" algn="just">
              <a:buFont typeface="Arial" panose="020B0604020202020204" pitchFamily="34" charset="0"/>
              <a:buChar char="•"/>
            </a:pPr>
            <a:r>
              <a:rPr lang="en-US" sz="1300" dirty="0">
                <a:solidFill>
                  <a:schemeClr val="tx1"/>
                </a:solidFill>
              </a:rPr>
              <a:t>2. To formulate and empirically validate a composite human impact scoring formula, structured as Hazard × Exposure × Sensitivity ÷ Capacity, with feature weights informed by published Sri Lankan flood and landslide risk literature, and to test each candidate feature for genuine predictive contribution rather than including it by assumption. To design, train, and comparatively evaluate at least three classification approaches, namely a logistic regression baseline, a Random Forest classifier, and an </a:t>
            </a:r>
            <a:r>
              <a:rPr lang="en-US" sz="1300" dirty="0" err="1">
                <a:solidFill>
                  <a:schemeClr val="tx1"/>
                </a:solidFill>
              </a:rPr>
              <a:t>XGBoost</a:t>
            </a:r>
            <a:r>
              <a:rPr lang="en-US" sz="1300" dirty="0">
                <a:solidFill>
                  <a:schemeClr val="tx1"/>
                </a:solidFill>
              </a:rPr>
              <a:t> classifier, selecting the model that achieves the strongest validated performance on the four-class human impact risk classification (Low, Moderate, High, Critical). </a:t>
            </a:r>
          </a:p>
          <a:p>
            <a:pPr marL="342900" lvl="0" indent="-342900" algn="just">
              <a:buFont typeface="Arial" panose="020B0604020202020204" pitchFamily="34" charset="0"/>
              <a:buChar char="•"/>
            </a:pPr>
            <a:r>
              <a:rPr lang="en-US" sz="1300" dirty="0">
                <a:solidFill>
                  <a:schemeClr val="tx1"/>
                </a:solidFill>
              </a:rPr>
              <a:t>4. To integrate SHAP-based explainability into the prediction pipeline such that every generated alert is accompanied by a traceable, feature-level rationale for its classification. </a:t>
            </a:r>
          </a:p>
        </p:txBody>
      </p:sp>
      <p:sp>
        <p:nvSpPr>
          <p:cNvPr id="14" name="Rectangle 13">
            <a:extLst>
              <a:ext uri="{FF2B5EF4-FFF2-40B4-BE49-F238E27FC236}">
                <a16:creationId xmlns:a16="http://schemas.microsoft.com/office/drawing/2014/main" id="{5FFE36E7-EFAA-C8E6-62A1-40598A65C4C9}"/>
              </a:ext>
            </a:extLst>
          </p:cNvPr>
          <p:cNvSpPr/>
          <p:nvPr/>
        </p:nvSpPr>
        <p:spPr>
          <a:xfrm>
            <a:off x="773595" y="3330190"/>
            <a:ext cx="4595421" cy="177335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just"/>
            <a:r>
              <a:rPr lang="en-US" dirty="0">
                <a:solidFill>
                  <a:schemeClr val="tx1"/>
                </a:solidFill>
              </a:rPr>
              <a:t>To create an intelligent, integrated disaster management system that identifies flood and landslide risks, estimates impacts, and provides timely decision support and emergency response recommendations for Sri Lanka</a:t>
            </a:r>
          </a:p>
          <a:p>
            <a:pPr algn="ctr"/>
            <a:endParaRPr lang="en-US" dirty="0">
              <a:solidFill>
                <a:schemeClr val="tx1"/>
              </a:solidFill>
            </a:endParaRPr>
          </a:p>
        </p:txBody>
      </p:sp>
    </p:spTree>
    <p:extLst>
      <p:ext uri="{BB962C8B-B14F-4D97-AF65-F5344CB8AC3E}">
        <p14:creationId xmlns:p14="http://schemas.microsoft.com/office/powerpoint/2010/main" val="751148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3F3A8-D229-A856-1D94-4A52F9E9D9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4C1D42-32DF-D8BC-2A58-7ADA82F125DD}"/>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a:ea typeface="+mj-ea"/>
                <a:cs typeface="Adobe Devanagari" pitchFamily="18" charset="0"/>
              </a:rPr>
              <a:t>Features And Gaps</a:t>
            </a:r>
            <a:endParaRPr lang="en-US" sz="2500" b="1" u="sng" kern="1200" dirty="0">
              <a:ea typeface="+mj-ea"/>
              <a:cs typeface="Adobe Devanagari" pitchFamily="18" charset="0"/>
            </a:endParaRPr>
          </a:p>
        </p:txBody>
      </p:sp>
      <p:sp>
        <p:nvSpPr>
          <p:cNvPr id="3" name="TextBox 2">
            <a:extLst>
              <a:ext uri="{FF2B5EF4-FFF2-40B4-BE49-F238E27FC236}">
                <a16:creationId xmlns:a16="http://schemas.microsoft.com/office/drawing/2014/main" id="{4E3BE095-C431-757B-F591-0526855FA53F}"/>
              </a:ext>
            </a:extLst>
          </p:cNvPr>
          <p:cNvSpPr txBox="1"/>
          <p:nvPr/>
        </p:nvSpPr>
        <p:spPr>
          <a:xfrm>
            <a:off x="4620685" y="6584950"/>
            <a:ext cx="3913715" cy="546099"/>
          </a:xfrm>
          <a:prstGeom prst="rect">
            <a:avLst/>
          </a:prstGeom>
        </p:spPr>
        <p:txBody>
          <a:bodyPr vert="horz" lIns="91440" tIns="45720" rIns="91440" bIns="45720" rtlCol="0">
            <a:normAutofit/>
          </a:bodyPr>
          <a:lstStyle/>
          <a:p>
            <a:pPr>
              <a:spcBef>
                <a:spcPct val="20000"/>
              </a:spcBef>
            </a:pPr>
            <a:r>
              <a:rPr lang="en-US" sz="1400" dirty="0"/>
              <a:t>IT23317512 </a:t>
            </a:r>
            <a:r>
              <a:rPr lang="en-US" sz="1400" kern="1200" dirty="0">
                <a:latin typeface="+mn-lt"/>
                <a:ea typeface="+mn-ea"/>
                <a:cs typeface="+mn-cs"/>
              </a:rPr>
              <a:t>|</a:t>
            </a:r>
            <a:r>
              <a:rPr lang="en-US" sz="1400" dirty="0" err="1"/>
              <a:t>Prathibhani</a:t>
            </a:r>
            <a:r>
              <a:rPr lang="en-US" sz="1400" dirty="0"/>
              <a:t> Y.L.O.L </a:t>
            </a:r>
            <a:r>
              <a:rPr lang="en-US" sz="1400" kern="1200" dirty="0">
                <a:latin typeface="+mn-lt"/>
                <a:ea typeface="+mn-ea"/>
                <a:cs typeface="+mn-cs"/>
              </a:rPr>
              <a:t>|J26-IT-334</a:t>
            </a:r>
          </a:p>
          <a:p>
            <a:pPr>
              <a:spcBef>
                <a:spcPct val="20000"/>
              </a:spcBef>
            </a:pPr>
            <a:endParaRPr lang="en-US" sz="1400" kern="1200" dirty="0">
              <a:latin typeface="+mn-lt"/>
              <a:ea typeface="+mn-ea"/>
              <a:cs typeface="+mn-cs"/>
            </a:endParaRPr>
          </a:p>
        </p:txBody>
      </p:sp>
      <p:sp>
        <p:nvSpPr>
          <p:cNvPr id="4" name="TextBox 3">
            <a:extLst>
              <a:ext uri="{FF2B5EF4-FFF2-40B4-BE49-F238E27FC236}">
                <a16:creationId xmlns:a16="http://schemas.microsoft.com/office/drawing/2014/main" id="{9AFFEE77-C481-D15E-9EBB-9D6858CD81AA}"/>
              </a:ext>
            </a:extLst>
          </p:cNvPr>
          <p:cNvSpPr txBox="1"/>
          <p:nvPr/>
        </p:nvSpPr>
        <p:spPr>
          <a:xfrm>
            <a:off x="894735" y="1376516"/>
            <a:ext cx="184731" cy="369332"/>
          </a:xfrm>
          <a:prstGeom prst="rect">
            <a:avLst/>
          </a:prstGeom>
          <a:noFill/>
        </p:spPr>
        <p:txBody>
          <a:bodyPr wrap="none" rtlCol="0">
            <a:spAutoFit/>
          </a:bodyPr>
          <a:lstStyle/>
          <a:p>
            <a:endParaRPr lang="en-US" dirty="0"/>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5A291F81-DCA5-143D-BDA7-068A1586315B}"/>
                  </a:ext>
                </a:extLst>
              </p:cNvPr>
              <p:cNvGraphicFramePr>
                <a:graphicFrameLocks noGrp="1"/>
              </p:cNvGraphicFramePr>
              <p:nvPr>
                <p:extLst>
                  <p:ext uri="{D42A27DB-BD31-4B8C-83A1-F6EECF244321}">
                    <p14:modId xmlns:p14="http://schemas.microsoft.com/office/powerpoint/2010/main" val="833439738"/>
                  </p:ext>
                </p:extLst>
              </p:nvPr>
            </p:nvGraphicFramePr>
            <p:xfrm>
              <a:off x="3901098" y="457200"/>
              <a:ext cx="7659178" cy="5752808"/>
            </p:xfrm>
            <a:graphic>
              <a:graphicData uri="http://schemas.openxmlformats.org/drawingml/2006/table">
                <a:tbl>
                  <a:tblPr>
                    <a:tableStyleId>{5C22544A-7EE6-4342-B048-85BDC9FD1C3A}</a:tableStyleId>
                  </a:tblPr>
                  <a:tblGrid>
                    <a:gridCol w="3829589">
                      <a:extLst>
                        <a:ext uri="{9D8B030D-6E8A-4147-A177-3AD203B41FA5}">
                          <a16:colId xmlns:a16="http://schemas.microsoft.com/office/drawing/2014/main" val="3339463422"/>
                        </a:ext>
                      </a:extLst>
                    </a:gridCol>
                    <a:gridCol w="3829589">
                      <a:extLst>
                        <a:ext uri="{9D8B030D-6E8A-4147-A177-3AD203B41FA5}">
                          <a16:colId xmlns:a16="http://schemas.microsoft.com/office/drawing/2014/main" val="1219212809"/>
                        </a:ext>
                      </a:extLst>
                    </a:gridCol>
                  </a:tblGrid>
                  <a:tr h="246426">
                    <a:tc>
                      <a:txBody>
                        <a:bodyPr/>
                        <a:lstStyle/>
                        <a:p>
                          <a:pPr marL="0" marR="0" rtl="0">
                            <a:spcAft>
                              <a:spcPts val="2400"/>
                            </a:spcAft>
                            <a:buNone/>
                          </a:pPr>
                          <a:r>
                            <a:rPr lang="en-US" sz="1200" dirty="0">
                              <a:effectLst/>
                            </a:rPr>
                            <a:t>Research Gap (from Literature / Existing Systems)</a:t>
                          </a: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US" sz="1200" dirty="0">
                              <a:effectLst/>
                            </a:rPr>
                            <a:t>Feature (How Component Closes It)</a:t>
                          </a: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2472492"/>
                      </a:ext>
                    </a:extLst>
                  </a:tr>
                  <a:tr h="1704999">
                    <a:tc>
                      <a:txBody>
                        <a:bodyPr/>
                        <a:lstStyle/>
                        <a:p>
                          <a:pPr marL="0" marR="0" rtl="0">
                            <a:spcAft>
                              <a:spcPts val="2400"/>
                            </a:spcAft>
                            <a:buNone/>
                          </a:pPr>
                          <a:r>
                            <a:rPr lang="en-US" sz="1200" dirty="0">
                              <a:effectLst/>
                            </a:rPr>
                            <a:t>No integration of demographic vulnerability &amp; infrastructure data into hazard alerts: Current early warning systems focus primarily on single-hazard severity (rainfall, river levels, terrain). They lack automated mechanisms to evaluate population exposure, age/disability sensitivity, or infrastructure accessibility at local levels.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Spatial Feature Fusion Engine: Ingests upstream flood and landslide severity scores and spatially joins them with 2024 Census demographic data and OpenStreetMap infrastructure layers at Grama </a:t>
                          </a:r>
                          <a:r>
                            <a:rPr lang="en-US" sz="1200" dirty="0" err="1">
                              <a:effectLst/>
                            </a:rPr>
                            <a:t>Niladhari</a:t>
                          </a:r>
                          <a:r>
                            <a:rPr lang="en-US" sz="1200" dirty="0">
                              <a:effectLst/>
                            </a:rPr>
                            <a:t> (GN) division granularity.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88342111"/>
                      </a:ext>
                    </a:extLst>
                  </a:tr>
                  <a:tr h="1525175">
                    <a:tc>
                      <a:txBody>
                        <a:bodyPr/>
                        <a:lstStyle/>
                        <a:p>
                          <a:pPr marL="0" marR="0" rtl="0">
                            <a:spcAft>
                              <a:spcPts val="2400"/>
                            </a:spcAft>
                            <a:buNone/>
                          </a:pPr>
                          <a:r>
                            <a:rPr lang="en-US" sz="1200">
                              <a:effectLst/>
                            </a:rPr>
                            <a:t>Opaque prediction models lacking feature-level transparency: Statistical and machine learning models output aggregate risk probabilities without explaining the specific drivers behind an alert, making it difficult for disaster officials to justify emergency evacuation orders. </a:t>
                          </a:r>
                        </a:p>
                        <a:p>
                          <a:pPr marL="0" marR="0" rtl="0">
                            <a:spcAft>
                              <a:spcPts val="2400"/>
                            </a:spcAft>
                            <a:buNone/>
                          </a:pPr>
                          <a:br>
                            <a:rPr lang="en-US" sz="1200">
                              <a:effectLst/>
                            </a:rPr>
                          </a:br>
                          <a:endParaRPr lang="en-US" sz="120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Explainable Decision Layer (SHAP Integration): Applies SHAP explainability to decompose risk predictions into traceable percentage contributions across Hazard, Exposure, Sensitivity, and Capacity factors.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8108119"/>
                      </a:ext>
                    </a:extLst>
                  </a:tr>
                  <a:tr h="1704999">
                    <a:tc>
                      <a:txBody>
                        <a:bodyPr/>
                        <a:lstStyle/>
                        <a:p>
                          <a:pPr marL="0" marR="0" rtl="0">
                            <a:spcAft>
                              <a:spcPts val="2400"/>
                            </a:spcAft>
                            <a:buNone/>
                          </a:pPr>
                          <a:r>
                            <a:rPr lang="en-US" sz="1200">
                              <a:effectLst/>
                            </a:rPr>
                            <a:t>Lack of vulnerability-aware, graded decision outputs for multi-hazards: National indexes are static reports compiled periodically rather than dynamic tools, while real-time warnings operate on single hazards without generating actionable, prioritized decision packages across overlapping flood-landslide zones. </a:t>
                          </a:r>
                        </a:p>
                        <a:p>
                          <a:pPr marL="0" marR="0" rtl="0">
                            <a:spcAft>
                              <a:spcPts val="2400"/>
                            </a:spcAft>
                            <a:buNone/>
                          </a:pPr>
                          <a:br>
                            <a:rPr lang="en-US" sz="1200">
                              <a:effectLst/>
                            </a:rPr>
                          </a:br>
                          <a:endParaRPr lang="en-US" sz="120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Priority Alert &amp; Graded Decision Generator: Computes composite human impact scores (</a:t>
                          </a:r>
                          <a14:m>
                            <m:oMath xmlns:m="http://schemas.openxmlformats.org/officeDocument/2006/math">
                              <m:r>
                                <m:rPr>
                                  <m:nor/>
                                </m:rPr>
                                <a:rPr lang="en-US" sz="1200" smtClean="0"/>
                                <m:t>Hazard</m:t>
                              </m:r>
                              <m:r>
                                <a:rPr lang="en-US" sz="1200"/>
                                <m:t>×</m:t>
                              </m:r>
                              <m:r>
                                <m:rPr>
                                  <m:nor/>
                                </m:rPr>
                                <a:rPr lang="en-US" sz="1200"/>
                                <m:t>Exposure</m:t>
                              </m:r>
                              <m:r>
                                <a:rPr lang="en-US" sz="1200"/>
                                <m:t>×</m:t>
                              </m:r>
                              <m:r>
                                <m:rPr>
                                  <m:nor/>
                                </m:rPr>
                                <a:rPr lang="en-US" sz="1200"/>
                                <m:t>Sensitivity</m:t>
                              </m:r>
                              <m:r>
                                <a:rPr lang="en-US" sz="1200"/>
                                <m:t>÷</m:t>
                              </m:r>
                              <m:r>
                                <m:rPr>
                                  <m:nor/>
                                </m:rPr>
                                <a:rPr lang="en-US" sz="1200"/>
                                <m:t>Capacity</m:t>
                              </m:r>
                            </m:oMath>
                          </a14:m>
                          <a:r>
                            <a:rPr lang="en-US" sz="1200" dirty="0">
                              <a:effectLst/>
                            </a:rPr>
                            <a:t>), classifies risk into four graded levels (Low, Moderate, High, Critical), and generates localized recommended action packages via a </a:t>
                          </a:r>
                          <a:r>
                            <a:rPr lang="en-US" sz="1200" dirty="0" err="1">
                              <a:effectLst/>
                            </a:rPr>
                            <a:t>FastAPI</a:t>
                          </a:r>
                          <a:r>
                            <a:rPr lang="en-US" sz="1200" dirty="0">
                              <a:effectLst/>
                            </a:rPr>
                            <a:t> backend. </a:t>
                          </a: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8822238"/>
                      </a:ext>
                    </a:extLst>
                  </a:tr>
                </a:tbl>
              </a:graphicData>
            </a:graphic>
          </p:graphicFrame>
        </mc:Choice>
        <mc:Fallback>
          <p:graphicFrame>
            <p:nvGraphicFramePr>
              <p:cNvPr id="6" name="Table 5">
                <a:extLst>
                  <a:ext uri="{FF2B5EF4-FFF2-40B4-BE49-F238E27FC236}">
                    <a16:creationId xmlns:a16="http://schemas.microsoft.com/office/drawing/2014/main" id="{5A291F81-DCA5-143D-BDA7-068A1586315B}"/>
                  </a:ext>
                </a:extLst>
              </p:cNvPr>
              <p:cNvGraphicFramePr>
                <a:graphicFrameLocks noGrp="1"/>
              </p:cNvGraphicFramePr>
              <p:nvPr>
                <p:extLst>
                  <p:ext uri="{D42A27DB-BD31-4B8C-83A1-F6EECF244321}">
                    <p14:modId xmlns:p14="http://schemas.microsoft.com/office/powerpoint/2010/main" val="833439738"/>
                  </p:ext>
                </p:extLst>
              </p:nvPr>
            </p:nvGraphicFramePr>
            <p:xfrm>
              <a:off x="3901098" y="457200"/>
              <a:ext cx="7659178" cy="5752808"/>
            </p:xfrm>
            <a:graphic>
              <a:graphicData uri="http://schemas.openxmlformats.org/drawingml/2006/table">
                <a:tbl>
                  <a:tblPr>
                    <a:tableStyleId>{5C22544A-7EE6-4342-B048-85BDC9FD1C3A}</a:tableStyleId>
                  </a:tblPr>
                  <a:tblGrid>
                    <a:gridCol w="3829589">
                      <a:extLst>
                        <a:ext uri="{9D8B030D-6E8A-4147-A177-3AD203B41FA5}">
                          <a16:colId xmlns:a16="http://schemas.microsoft.com/office/drawing/2014/main" val="3339463422"/>
                        </a:ext>
                      </a:extLst>
                    </a:gridCol>
                    <a:gridCol w="3829589">
                      <a:extLst>
                        <a:ext uri="{9D8B030D-6E8A-4147-A177-3AD203B41FA5}">
                          <a16:colId xmlns:a16="http://schemas.microsoft.com/office/drawing/2014/main" val="1219212809"/>
                        </a:ext>
                      </a:extLst>
                    </a:gridCol>
                  </a:tblGrid>
                  <a:tr h="249482">
                    <a:tc>
                      <a:txBody>
                        <a:bodyPr/>
                        <a:lstStyle/>
                        <a:p>
                          <a:pPr marL="0" marR="0" rtl="0">
                            <a:spcAft>
                              <a:spcPts val="2400"/>
                            </a:spcAft>
                            <a:buNone/>
                          </a:pPr>
                          <a:r>
                            <a:rPr lang="en-US" sz="1200" dirty="0">
                              <a:effectLst/>
                            </a:rPr>
                            <a:t>Research Gap (from Literature / Existing Systems)</a:t>
                          </a: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US" sz="1200" dirty="0">
                              <a:effectLst/>
                            </a:rPr>
                            <a:t>Feature (How Component Closes It)</a:t>
                          </a: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2472492"/>
                      </a:ext>
                    </a:extLst>
                  </a:tr>
                  <a:tr h="2017322">
                    <a:tc>
                      <a:txBody>
                        <a:bodyPr/>
                        <a:lstStyle/>
                        <a:p>
                          <a:pPr marL="0" marR="0" rtl="0">
                            <a:spcAft>
                              <a:spcPts val="2400"/>
                            </a:spcAft>
                            <a:buNone/>
                          </a:pPr>
                          <a:r>
                            <a:rPr lang="en-US" sz="1200" dirty="0">
                              <a:effectLst/>
                            </a:rPr>
                            <a:t>No integration of demographic vulnerability &amp; infrastructure data into hazard alerts: Current early warning systems focus primarily on single-hazard severity (rainfall, river levels, terrain). They lack automated mechanisms to evaluate population exposure, age/disability sensitivity, or infrastructure accessibility at local levels.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Spatial Feature Fusion Engine: Ingests upstream flood and landslide severity scores and spatially joins them with 2024 Census demographic data and OpenStreetMap infrastructure layers at Grama </a:t>
                          </a:r>
                          <a:r>
                            <a:rPr lang="en-US" sz="1200" dirty="0" err="1">
                              <a:effectLst/>
                            </a:rPr>
                            <a:t>Niladhari</a:t>
                          </a:r>
                          <a:r>
                            <a:rPr lang="en-US" sz="1200" dirty="0">
                              <a:effectLst/>
                            </a:rPr>
                            <a:t> (GN) division granularity.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88342111"/>
                      </a:ext>
                    </a:extLst>
                  </a:tr>
                  <a:tr h="1651562">
                    <a:tc>
                      <a:txBody>
                        <a:bodyPr/>
                        <a:lstStyle/>
                        <a:p>
                          <a:pPr marL="0" marR="0" rtl="0">
                            <a:spcAft>
                              <a:spcPts val="2400"/>
                            </a:spcAft>
                            <a:buNone/>
                          </a:pPr>
                          <a:r>
                            <a:rPr lang="en-US" sz="1200">
                              <a:effectLst/>
                            </a:rPr>
                            <a:t>Opaque prediction models lacking feature-level transparency: Statistical and machine learning models output aggregate risk probabilities without explaining the specific drivers behind an alert, making it difficult for disaster officials to justify emergency evacuation orders. </a:t>
                          </a:r>
                        </a:p>
                        <a:p>
                          <a:pPr marL="0" marR="0" rtl="0">
                            <a:spcAft>
                              <a:spcPts val="2400"/>
                            </a:spcAft>
                            <a:buNone/>
                          </a:pPr>
                          <a:br>
                            <a:rPr lang="en-US" sz="1200">
                              <a:effectLst/>
                            </a:rPr>
                          </a:br>
                          <a:endParaRPr lang="en-US" sz="120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Explainable Decision Layer (SHAP Integration): Applies SHAP explainability to decompose risk predictions into traceable percentage contributions across Hazard, Exposure, Sensitivity, and Capacity factors.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8108119"/>
                      </a:ext>
                    </a:extLst>
                  </a:tr>
                  <a:tr h="1834442">
                    <a:tc>
                      <a:txBody>
                        <a:bodyPr/>
                        <a:lstStyle/>
                        <a:p>
                          <a:pPr marL="0" marR="0" rtl="0">
                            <a:spcAft>
                              <a:spcPts val="2400"/>
                            </a:spcAft>
                            <a:buNone/>
                          </a:pPr>
                          <a:r>
                            <a:rPr lang="en-US" sz="1200">
                              <a:effectLst/>
                            </a:rPr>
                            <a:t>Lack of vulnerability-aware, graded decision outputs for multi-hazards: National indexes are static reports compiled periodically rather than dynamic tools, while real-time warnings operate on single hazards without generating actionable, prioritized decision packages across overlapping flood-landslide zones. </a:t>
                          </a:r>
                        </a:p>
                        <a:p>
                          <a:pPr marL="0" marR="0" rtl="0">
                            <a:spcAft>
                              <a:spcPts val="2400"/>
                            </a:spcAft>
                            <a:buNone/>
                          </a:pPr>
                          <a:br>
                            <a:rPr lang="en-US" sz="1200">
                              <a:effectLst/>
                            </a:rPr>
                          </a:br>
                          <a:endParaRPr lang="en-US" sz="1200">
                            <a:solidFill>
                              <a:srgbClr val="1F1F1F"/>
                            </a:solidFill>
                            <a:effectLst/>
                            <a:latin typeface="Google Sans Text"/>
                          </a:endParaRPr>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49951" marR="49951"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59" t="-214618" r="-318" b="-664"/>
                          </a:stretch>
                        </a:blipFill>
                      </a:tcPr>
                    </a:tc>
                    <a:extLst>
                      <a:ext uri="{0D108BD9-81ED-4DB2-BD59-A6C34878D82A}">
                        <a16:rowId xmlns:a16="http://schemas.microsoft.com/office/drawing/2014/main" val="2908822238"/>
                      </a:ext>
                    </a:extLst>
                  </a:tr>
                </a:tbl>
              </a:graphicData>
            </a:graphic>
          </p:graphicFrame>
        </mc:Fallback>
      </mc:AlternateContent>
    </p:spTree>
    <p:extLst>
      <p:ext uri="{BB962C8B-B14F-4D97-AF65-F5344CB8AC3E}">
        <p14:creationId xmlns:p14="http://schemas.microsoft.com/office/powerpoint/2010/main" val="2275198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E2AB-42E9-01A9-0DD0-55D147A5F9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FEE156-A6FB-715F-9E35-6220183BC263}"/>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dirty="0" err="1">
                <a:ea typeface="+mj-ea"/>
                <a:cs typeface="Adobe Devanagari" pitchFamily="18" charset="0"/>
              </a:rPr>
              <a:t>Methdology</a:t>
            </a:r>
            <a:endParaRPr lang="en-US" sz="2500" b="1" u="sng" kern="1200" dirty="0">
              <a:ea typeface="+mj-ea"/>
              <a:cs typeface="Adobe Devanagari" pitchFamily="18" charset="0"/>
            </a:endParaRPr>
          </a:p>
          <a:p>
            <a:pPr>
              <a:spcBef>
                <a:spcPct val="0"/>
              </a:spcBef>
              <a:spcAft>
                <a:spcPts val="600"/>
              </a:spcAft>
            </a:pPr>
            <a:endParaRPr lang="en-US" sz="2000" b="1" u="sng" kern="1200" dirty="0">
              <a:latin typeface="Adobe Devanagari" pitchFamily="18" charset="0"/>
              <a:ea typeface="+mj-ea"/>
              <a:cs typeface="Adobe Devanagari" pitchFamily="18" charset="0"/>
            </a:endParaRPr>
          </a:p>
        </p:txBody>
      </p:sp>
      <p:sp>
        <p:nvSpPr>
          <p:cNvPr id="3" name="TextBox 2">
            <a:extLst>
              <a:ext uri="{FF2B5EF4-FFF2-40B4-BE49-F238E27FC236}">
                <a16:creationId xmlns:a16="http://schemas.microsoft.com/office/drawing/2014/main" id="{97931594-93AC-915C-2272-C5D5BC7DAF03}"/>
              </a:ext>
            </a:extLst>
          </p:cNvPr>
          <p:cNvSpPr txBox="1"/>
          <p:nvPr/>
        </p:nvSpPr>
        <p:spPr>
          <a:xfrm>
            <a:off x="623603" y="1843768"/>
            <a:ext cx="4011084" cy="2603499"/>
          </a:xfrm>
          <a:prstGeom prst="rect">
            <a:avLst/>
          </a:prstGeom>
        </p:spPr>
        <p:txBody>
          <a:bodyPr vert="horz" lIns="91440" tIns="45720" rIns="91440" bIns="45720" rtlCol="0">
            <a:normAutofit/>
          </a:bodyPr>
          <a:lstStyle/>
          <a:p>
            <a:pPr>
              <a:spcBef>
                <a:spcPct val="20000"/>
              </a:spcBef>
            </a:pPr>
            <a:r>
              <a:rPr lang="en-US" sz="1400" kern="1200" dirty="0">
                <a:latin typeface="+mn-lt"/>
                <a:ea typeface="+mn-ea"/>
                <a:cs typeface="+mn-cs"/>
              </a:rPr>
              <a:t>Quantitative, experimental (comparative) research design</a:t>
            </a:r>
          </a:p>
          <a:p>
            <a:pPr>
              <a:spcBef>
                <a:spcPct val="20000"/>
              </a:spcBef>
            </a:pPr>
            <a:r>
              <a:rPr lang="en-US" sz="1400" kern="1200" dirty="0">
                <a:latin typeface="+mn-lt"/>
                <a:ea typeface="+mn-ea"/>
                <a:cs typeface="+mn-cs"/>
              </a:rPr>
              <a:t>Core question is comparative and quantifiable, with measurable ground truth (documented landslide occurrence vs. non-occurrence)  not exploratory or interpretive</a:t>
            </a:r>
          </a:p>
          <a:p>
            <a:pPr>
              <a:spcBef>
                <a:spcPct val="20000"/>
              </a:spcBef>
            </a:pPr>
            <a:r>
              <a:rPr lang="en-US" sz="1400" kern="1200" dirty="0">
                <a:latin typeface="+mn-lt"/>
                <a:ea typeface="+mn-ea"/>
                <a:cs typeface="+mn-cs"/>
              </a:rPr>
              <a:t>Structured as a supervised ML modelling pipeline: </a:t>
            </a:r>
            <a:r>
              <a:rPr lang="en-US" sz="1400" b="1" kern="1200" dirty="0">
                <a:latin typeface="+mn-lt"/>
                <a:ea typeface="+mn-ea"/>
                <a:cs typeface="+mn-cs"/>
              </a:rPr>
              <a:t>data acquisition → feature engineering → comparative model training → statistical evaluation → validation against external benchmarks</a:t>
            </a:r>
            <a:endParaRPr lang="en-US" sz="1400" kern="1200" dirty="0">
              <a:latin typeface="+mn-lt"/>
              <a:ea typeface="+mn-ea"/>
              <a:cs typeface="+mn-cs"/>
            </a:endParaRPr>
          </a:p>
          <a:p>
            <a:pPr>
              <a:spcBef>
                <a:spcPct val="20000"/>
              </a:spcBef>
            </a:pPr>
            <a:endParaRPr lang="en-US" sz="1400" kern="1200" dirty="0">
              <a:latin typeface="+mn-lt"/>
              <a:ea typeface="+mn-ea"/>
              <a:cs typeface="+mn-cs"/>
            </a:endParaRPr>
          </a:p>
        </p:txBody>
      </p:sp>
      <p:graphicFrame>
        <p:nvGraphicFramePr>
          <p:cNvPr id="4" name="Table 3">
            <a:extLst>
              <a:ext uri="{FF2B5EF4-FFF2-40B4-BE49-F238E27FC236}">
                <a16:creationId xmlns:a16="http://schemas.microsoft.com/office/drawing/2014/main" id="{C173DA05-A0E1-5824-ECE4-EE49B7583A73}"/>
              </a:ext>
            </a:extLst>
          </p:cNvPr>
          <p:cNvGraphicFramePr>
            <a:graphicFrameLocks noGrp="1"/>
          </p:cNvGraphicFramePr>
          <p:nvPr/>
        </p:nvGraphicFramePr>
        <p:xfrm>
          <a:off x="4780738" y="273051"/>
          <a:ext cx="6787659" cy="5853115"/>
        </p:xfrm>
        <a:graphic>
          <a:graphicData uri="http://schemas.openxmlformats.org/drawingml/2006/table">
            <a:tbl>
              <a:tblPr>
                <a:solidFill>
                  <a:srgbClr val="F7F7F7"/>
                </a:solidFill>
                <a:tableStyleId>{5C22544A-7EE6-4342-B048-85BDC9FD1C3A}</a:tableStyleId>
              </a:tblPr>
              <a:tblGrid>
                <a:gridCol w="1678776">
                  <a:extLst>
                    <a:ext uri="{9D8B030D-6E8A-4147-A177-3AD203B41FA5}">
                      <a16:colId xmlns:a16="http://schemas.microsoft.com/office/drawing/2014/main" val="3850419226"/>
                    </a:ext>
                  </a:extLst>
                </a:gridCol>
                <a:gridCol w="2723011">
                  <a:extLst>
                    <a:ext uri="{9D8B030D-6E8A-4147-A177-3AD203B41FA5}">
                      <a16:colId xmlns:a16="http://schemas.microsoft.com/office/drawing/2014/main" val="443106996"/>
                    </a:ext>
                  </a:extLst>
                </a:gridCol>
                <a:gridCol w="2385872">
                  <a:extLst>
                    <a:ext uri="{9D8B030D-6E8A-4147-A177-3AD203B41FA5}">
                      <a16:colId xmlns:a16="http://schemas.microsoft.com/office/drawing/2014/main" val="2603554867"/>
                    </a:ext>
                  </a:extLst>
                </a:gridCol>
              </a:tblGrid>
              <a:tr h="305427">
                <a:tc>
                  <a:txBody>
                    <a:bodyPr/>
                    <a:lstStyle/>
                    <a:p>
                      <a:pPr>
                        <a:buNone/>
                      </a:pPr>
                      <a:r>
                        <a:rPr lang="en-US" sz="1100" cap="none" spc="0">
                          <a:solidFill>
                            <a:schemeClr val="tx1"/>
                          </a:solidFill>
                        </a:rPr>
                        <a:t>Phase</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US" sz="1100" cap="none" spc="0">
                          <a:solidFill>
                            <a:schemeClr val="tx1"/>
                          </a:solidFill>
                        </a:rPr>
                        <a:t>Activities</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US" sz="1100" cap="none" spc="0">
                          <a:solidFill>
                            <a:schemeClr val="tx1"/>
                          </a:solidFill>
                        </a:rPr>
                        <a:t>Key Output</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val="741542814"/>
                  </a:ext>
                </a:extLst>
              </a:tr>
              <a:tr h="822806">
                <a:tc>
                  <a:txBody>
                    <a:bodyPr/>
                    <a:lstStyle/>
                    <a:p>
                      <a:pPr>
                        <a:buNone/>
                      </a:pPr>
                      <a:r>
                        <a:rPr lang="en-US" sz="1100" cap="none" spc="0">
                          <a:solidFill>
                            <a:schemeClr val="tx1"/>
                          </a:solidFill>
                        </a:rPr>
                        <a:t>1. Literature &amp; Research Design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Literature review (landslide models, hazard mapping); problem formulation &amp; objective refinement; methodology &amp; tech stack finalization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Research gap, research question, finalized methodology</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423432162"/>
                  </a:ext>
                </a:extLst>
              </a:tr>
              <a:tr h="650346">
                <a:tc>
                  <a:txBody>
                    <a:bodyPr/>
                    <a:lstStyle/>
                    <a:p>
                      <a:pPr>
                        <a:buNone/>
                      </a:pPr>
                      <a:r>
                        <a:rPr lang="en-US" sz="1100" cap="none" spc="0">
                          <a:solidFill>
                            <a:schemeClr val="tx1"/>
                          </a:solidFill>
                        </a:rPr>
                        <a:t>2. Data Preparation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DMC/NBRO data request &amp; acquisition; data cleaning &amp; preprocessing; GIS feature stacking (slope, soil, DEM)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Clean, geospatially-aligned dataset with equal positive/negative samples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58294728"/>
                  </a:ext>
                </a:extLst>
              </a:tr>
              <a:tr h="822806">
                <a:tc>
                  <a:txBody>
                    <a:bodyPr/>
                    <a:lstStyle/>
                    <a:p>
                      <a:pPr>
                        <a:buNone/>
                      </a:pPr>
                      <a:r>
                        <a:rPr lang="en-US" sz="1100" cap="none" spc="0">
                          <a:solidFill>
                            <a:schemeClr val="tx1"/>
                          </a:solidFill>
                        </a:rPr>
                        <a:t>3. Experiments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Baseline model experiments (XGBoost/LightGBM); feature importance &amp; hyperparameter tuning; explainability (SHAP) experimentation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Best-performing model configuration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32574784"/>
                  </a:ext>
                </a:extLst>
              </a:tr>
              <a:tr h="822806">
                <a:tc>
                  <a:txBody>
                    <a:bodyPr/>
                    <a:lstStyle/>
                    <a:p>
                      <a:pPr>
                        <a:buNone/>
                      </a:pPr>
                      <a:r>
                        <a:rPr lang="en-US" sz="1100" cap="none" spc="0">
                          <a:solidFill>
                            <a:schemeClr val="tx1"/>
                          </a:solidFill>
                        </a:rPr>
                        <a:t>4. Development</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Probability engine implementation; explainability layer integration; Web-GIS mapping UI development; localization (Sinhala/Tamil)</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Working landslide prediction system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502732580"/>
                  </a:ext>
                </a:extLst>
              </a:tr>
              <a:tr h="650346">
                <a:tc>
                  <a:txBody>
                    <a:bodyPr/>
                    <a:lstStyle/>
                    <a:p>
                      <a:pPr>
                        <a:buNone/>
                      </a:pPr>
                      <a:r>
                        <a:rPr lang="en-US" sz="1100" cap="none" spc="0">
                          <a:solidFill>
                            <a:schemeClr val="tx1"/>
                          </a:solidFill>
                        </a:rPr>
                        <a:t>5. Prototype &amp; Testing</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End-to-end component prototype; unit &amp; model validation testing; accessibility &amp; usability testing</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Validated, functioning prototype</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113153528"/>
                  </a:ext>
                </a:extLst>
              </a:tr>
              <a:tr h="477886">
                <a:tc>
                  <a:txBody>
                    <a:bodyPr/>
                    <a:lstStyle/>
                    <a:p>
                      <a:pPr>
                        <a:buNone/>
                      </a:pPr>
                      <a:r>
                        <a:rPr lang="en-US" sz="1100" cap="none" spc="0">
                          <a:solidFill>
                            <a:schemeClr val="tx1"/>
                          </a:solidFill>
                        </a:rPr>
                        <a:t>6. Integration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API contract finalization; integration with Decision Support component</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Component connected to full IDMERS system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03342953"/>
                  </a:ext>
                </a:extLst>
              </a:tr>
              <a:tr h="822806">
                <a:tc>
                  <a:txBody>
                    <a:bodyPr/>
                    <a:lstStyle/>
                    <a:p>
                      <a:pPr>
                        <a:buNone/>
                      </a:pPr>
                      <a:r>
                        <a:rPr lang="en-US" sz="1100" cap="none" spc="0">
                          <a:solidFill>
                            <a:schemeClr val="tx1"/>
                          </a:solidFill>
                        </a:rPr>
                        <a:t>7. Evaluation &amp; Analysis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Model accuracy evaluation (extra-domain/spatial validation); system performance evaluation; results analysis &amp; discussion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Final accuracy, recall, and explainability results vs. benchmarks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81986496"/>
                  </a:ext>
                </a:extLst>
              </a:tr>
              <a:tr h="477886">
                <a:tc>
                  <a:txBody>
                    <a:bodyPr/>
                    <a:lstStyle/>
                    <a:p>
                      <a:pPr>
                        <a:buNone/>
                      </a:pPr>
                      <a:r>
                        <a:rPr lang="en-US" sz="1100" cap="none" spc="0">
                          <a:solidFill>
                            <a:schemeClr val="tx1"/>
                          </a:solidFill>
                        </a:rPr>
                        <a:t>8. Final Presentation</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1100" cap="none" spc="0">
                          <a:solidFill>
                            <a:schemeClr val="tx1"/>
                          </a:solidFill>
                        </a:rPr>
                        <a:t>Draft report writing; review &amp; revisions; final report &amp; viva preparation</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1100" cap="none" spc="0">
                          <a:solidFill>
                            <a:schemeClr val="tx1"/>
                          </a:solidFill>
                        </a:rPr>
                        <a:t>Completed dissertation + defense</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2038458101"/>
                  </a:ext>
                </a:extLst>
              </a:tr>
            </a:tbl>
          </a:graphicData>
        </a:graphic>
      </p:graphicFrame>
      <p:sp>
        <p:nvSpPr>
          <p:cNvPr id="5" name="TextBox 4">
            <a:extLst>
              <a:ext uri="{FF2B5EF4-FFF2-40B4-BE49-F238E27FC236}">
                <a16:creationId xmlns:a16="http://schemas.microsoft.com/office/drawing/2014/main" id="{340E9FF1-0E70-A9F0-436F-D5A0BAB9C2D9}"/>
              </a:ext>
            </a:extLst>
          </p:cNvPr>
          <p:cNvSpPr txBox="1"/>
          <p:nvPr/>
        </p:nvSpPr>
        <p:spPr>
          <a:xfrm>
            <a:off x="3792132" y="6488668"/>
            <a:ext cx="4607736" cy="369332"/>
          </a:xfrm>
          <a:prstGeom prst="rect">
            <a:avLst/>
          </a:prstGeom>
          <a:noFill/>
        </p:spPr>
        <p:txBody>
          <a:bodyPr wrap="none" rtlCol="0">
            <a:spAutoFit/>
          </a:bodyPr>
          <a:lstStyle/>
          <a:p>
            <a:pPr>
              <a:spcBef>
                <a:spcPct val="20000"/>
              </a:spcBef>
            </a:pPr>
            <a:r>
              <a:rPr lang="en-US" dirty="0"/>
              <a:t>IT23317512 |</a:t>
            </a:r>
            <a:r>
              <a:rPr lang="en-US" dirty="0" err="1"/>
              <a:t>Prathibhani</a:t>
            </a:r>
            <a:r>
              <a:rPr lang="en-US" dirty="0"/>
              <a:t> Y.L.O.L |J26-IT-334</a:t>
            </a:r>
          </a:p>
        </p:txBody>
      </p:sp>
      <p:sp>
        <p:nvSpPr>
          <p:cNvPr id="6" name="TextBox 5">
            <a:extLst>
              <a:ext uri="{FF2B5EF4-FFF2-40B4-BE49-F238E27FC236}">
                <a16:creationId xmlns:a16="http://schemas.microsoft.com/office/drawing/2014/main" id="{2C07679C-C273-8BA9-1CAA-3AF18A4F7DD9}"/>
              </a:ext>
            </a:extLst>
          </p:cNvPr>
          <p:cNvSpPr txBox="1"/>
          <p:nvPr/>
        </p:nvSpPr>
        <p:spPr>
          <a:xfrm>
            <a:off x="609601" y="1340607"/>
            <a:ext cx="1927579" cy="646331"/>
          </a:xfrm>
          <a:prstGeom prst="rect">
            <a:avLst/>
          </a:prstGeom>
          <a:noFill/>
        </p:spPr>
        <p:txBody>
          <a:bodyPr wrap="none" rtlCol="0">
            <a:spAutoFit/>
          </a:bodyPr>
          <a:lstStyle/>
          <a:p>
            <a:r>
              <a:rPr lang="en-US" b="1" dirty="0"/>
              <a:t>Research Design</a:t>
            </a:r>
            <a:endParaRPr lang="en-US" dirty="0"/>
          </a:p>
          <a:p>
            <a:endParaRPr lang="en-US" dirty="0"/>
          </a:p>
        </p:txBody>
      </p:sp>
    </p:spTree>
    <p:extLst>
      <p:ext uri="{BB962C8B-B14F-4D97-AF65-F5344CB8AC3E}">
        <p14:creationId xmlns:p14="http://schemas.microsoft.com/office/powerpoint/2010/main" val="3909127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7F484-88AE-9ECE-B7E0-421693416F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175289-0D39-362F-38C2-AAD6E3255F69}"/>
              </a:ext>
            </a:extLst>
          </p:cNvPr>
          <p:cNvSpPr txBox="1"/>
          <p:nvPr/>
        </p:nvSpPr>
        <p:spPr>
          <a:xfrm>
            <a:off x="609601" y="273050"/>
            <a:ext cx="4011084" cy="458786"/>
          </a:xfrm>
          <a:prstGeom prst="rect">
            <a:avLst/>
          </a:prstGeom>
        </p:spPr>
        <p:txBody>
          <a:bodyPr vert="horz" lIns="91440" tIns="45720" rIns="91440" bIns="45720" rtlCol="0" anchor="b">
            <a:normAutofit fontScale="92500"/>
          </a:bodyPr>
          <a:lstStyle/>
          <a:p>
            <a:pPr>
              <a:spcBef>
                <a:spcPct val="0"/>
              </a:spcBef>
              <a:spcAft>
                <a:spcPts val="600"/>
              </a:spcAft>
            </a:pPr>
            <a:r>
              <a:rPr lang="en-US" sz="2000" b="1" kern="1200" dirty="0">
                <a:ea typeface="+mj-ea"/>
                <a:cs typeface="Adobe Devanagari" pitchFamily="18" charset="0"/>
              </a:rPr>
              <a:t>System Architecture – </a:t>
            </a:r>
            <a:r>
              <a:rPr lang="en-US" sz="2000" dirty="0"/>
              <a:t>IT23317512</a:t>
            </a:r>
            <a:endParaRPr lang="en-US" sz="2000" b="1" kern="1200" dirty="0">
              <a:ea typeface="+mj-ea"/>
              <a:cs typeface="Adobe Devanagari"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68D0D20-ADE5-D4A0-4F9E-9189D19B5667}"/>
                  </a:ext>
                </a:extLst>
              </p:cNvPr>
              <p:cNvSpPr txBox="1"/>
              <p:nvPr/>
            </p:nvSpPr>
            <p:spPr>
              <a:xfrm>
                <a:off x="609600" y="838201"/>
                <a:ext cx="4343399" cy="5287964"/>
              </a:xfrm>
              <a:prstGeom prst="rect">
                <a:avLst/>
              </a:prstGeom>
            </p:spPr>
            <p:txBody>
              <a:bodyPr vert="horz" lIns="91440" tIns="45720" rIns="91440" bIns="45720" rtlCol="0">
                <a:normAutofit fontScale="92500" lnSpcReduction="20000"/>
              </a:bodyPr>
              <a:lstStyle/>
              <a:p>
                <a:r>
                  <a:rPr lang="en-US" sz="1400" b="1" dirty="0"/>
                  <a:t>Inputs (4 feeds):</a:t>
                </a:r>
                <a:r>
                  <a:rPr lang="en-US" sz="1400" dirty="0">
                    <a:effectLst/>
                  </a:rPr>
                  <a:t> Flood Severity Score (Component 1 – Kalu / Kelani Basins), Landslide Severity Score (Component 2 – </a:t>
                </a:r>
                <a:r>
                  <a:rPr lang="en-US" sz="1400" dirty="0" err="1">
                    <a:effectLst/>
                  </a:rPr>
                  <a:t>Kothmale</a:t>
                </a:r>
                <a:r>
                  <a:rPr lang="en-US" sz="1400" dirty="0">
                    <a:effectLst/>
                  </a:rPr>
                  <a:t> / </a:t>
                </a:r>
                <a:r>
                  <a:rPr lang="en-US" sz="1400" dirty="0" err="1">
                    <a:effectLst/>
                  </a:rPr>
                  <a:t>Ambagamuwa</a:t>
                </a:r>
                <a:r>
                  <a:rPr lang="en-US" sz="1400" dirty="0">
                    <a:effectLst/>
                  </a:rPr>
                  <a:t> / </a:t>
                </a:r>
                <a:r>
                  <a:rPr lang="en-US" sz="1400" dirty="0" err="1">
                    <a:effectLst/>
                  </a:rPr>
                  <a:t>Walapane</a:t>
                </a:r>
                <a:r>
                  <a:rPr lang="en-US" sz="1400" dirty="0">
                    <a:effectLst/>
                  </a:rPr>
                  <a:t>), Demographic &amp; Vulnerability Data (2024 Census – population, age, disability), Infrastructure &amp; Accessibility Data (OpenStreetMap – hospitals, roads, shelters) </a:t>
                </a:r>
              </a:p>
              <a:p>
                <a:r>
                  <a:rPr lang="en-US" sz="1400" dirty="0">
                    <a:effectLst/>
                  </a:rPr>
                  <a:t>PDF</a:t>
                </a:r>
              </a:p>
              <a:p>
                <a:r>
                  <a:rPr lang="en-US" sz="1400" b="1" dirty="0">
                    <a:effectLst/>
                  </a:rPr>
                  <a:t>Part 1 - Human Impact Prediction Engine:</a:t>
                </a:r>
                <a:r>
                  <a:rPr lang="en-US" sz="1400" dirty="0">
                    <a:effectLst/>
                  </a:rPr>
                  <a:t> Spatial Feature Fusion (</a:t>
                </a:r>
                <a14:m>
                  <m:oMath xmlns:m="http://schemas.openxmlformats.org/officeDocument/2006/math">
                    <m:r>
                      <m:rPr>
                        <m:nor/>
                      </m:rPr>
                      <a:rPr lang="en-US"/>
                      <m:t>Hazard</m:t>
                    </m:r>
                    <m:r>
                      <a:rPr lang="en-US"/>
                      <m:t>×</m:t>
                    </m:r>
                    <m:r>
                      <m:rPr>
                        <m:nor/>
                      </m:rPr>
                      <a:rPr lang="en-US"/>
                      <m:t>Exposure</m:t>
                    </m:r>
                    <m:r>
                      <a:rPr lang="en-US"/>
                      <m:t>×</m:t>
                    </m:r>
                    <m:r>
                      <m:rPr>
                        <m:nor/>
                      </m:rPr>
                      <a:rPr lang="en-GB" b="0" i="0" smtClean="0"/>
                      <m:t>to ML</m:t>
                    </m:r>
                    <m:r>
                      <m:rPr>
                        <m:nor/>
                      </m:rPr>
                      <a:rPr lang="en-US"/>
                      <m:t>itivity</m:t>
                    </m:r>
                    <m:r>
                      <a:rPr lang="en-US"/>
                      <m:t>÷</m:t>
                    </m:r>
                    <m:r>
                      <m:rPr>
                        <m:nor/>
                      </m:rPr>
                      <a:rPr lang="en-US"/>
                      <m:t>Capacity</m:t>
                    </m:r>
                  </m:oMath>
                </a14:m>
                <a:r>
                  <a:rPr lang="en-US" sz="1400" dirty="0">
                    <a:effectLst/>
                  </a:rPr>
                  <a:t>) </a:t>
                </a:r>
                <a14:m>
                  <m:oMath xmlns:m="http://schemas.openxmlformats.org/officeDocument/2006/math">
                    <m:r>
                      <a:rPr lang="en-US"/>
                      <m:t>→</m:t>
                    </m:r>
                  </m:oMath>
                </a14:m>
                <a:r>
                  <a:rPr lang="en-US" sz="1400" dirty="0">
                    <a:effectLst/>
                  </a:rPr>
                  <a:t>ML Classifier (Random Forest / </a:t>
                </a:r>
                <a:r>
                  <a:rPr lang="en-US" sz="1400" dirty="0" err="1">
                    <a:effectLst/>
                  </a:rPr>
                  <a:t>XGBoost</a:t>
                </a:r>
                <a:r>
                  <a:rPr lang="en-US" sz="1400" dirty="0">
                    <a:effectLst/>
                  </a:rPr>
                  <a:t> vs. Logistic Regression baseline)to Risk Classification (Low / Moderate / High / Critical) </a:t>
                </a:r>
              </a:p>
              <a:p>
                <a:r>
                  <a:rPr lang="en-US" sz="1400" dirty="0">
                    <a:effectLst/>
                  </a:rPr>
                  <a:t>PDF</a:t>
                </a:r>
              </a:p>
              <a:p>
                <a:r>
                  <a:rPr lang="en-US" sz="1400" b="1" dirty="0">
                    <a:effectLst/>
                  </a:rPr>
                  <a:t>Part 2 - Explainable Decision Layer:</a:t>
                </a:r>
                <a:r>
                  <a:rPr lang="en-US" sz="1400" dirty="0">
                    <a:effectLst/>
                  </a:rPr>
                  <a:t> Explainability Layer (SHAP)to Hazard / Exposure / Sensitivity / Capacity Contribution Breakdown (%) </a:t>
                </a:r>
              </a:p>
              <a:p>
                <a:r>
                  <a:rPr lang="en-US" sz="1400" dirty="0">
                    <a:effectLst/>
                  </a:rPr>
                  <a:t>PDF</a:t>
                </a:r>
              </a:p>
              <a:p>
                <a:r>
                  <a:rPr lang="en-US" sz="1400" b="1" dirty="0">
                    <a:effectLst/>
                  </a:rPr>
                  <a:t>Part 3 - Alert &amp; Interface Generation:</a:t>
                </a:r>
                <a:r>
                  <a:rPr lang="en-US" sz="1400" dirty="0">
                    <a:effectLst/>
                  </a:rPr>
                  <a:t> Priority Alert Scoring (Red / Orange / Yellow) + Recommendation </a:t>
                </a:r>
                <a:r>
                  <a:rPr lang="en-US" sz="1400" dirty="0" err="1">
                    <a:effectLst/>
                  </a:rPr>
                  <a:t>Starttion</a:t>
                </a:r>
                <a:r>
                  <a:rPr lang="en-US" sz="1400" dirty="0">
                    <a:effectLst/>
                  </a:rPr>
                  <a:t> </a:t>
                </a:r>
                <a:r>
                  <a:rPr lang="en-US" sz="1400" dirty="0" err="1">
                    <a:effectLst/>
                  </a:rPr>
                  <a:t>Generationto</a:t>
                </a:r>
                <a:r>
                  <a:rPr lang="en-US" sz="1400" dirty="0">
                    <a:effectLst/>
                  </a:rPr>
                  <a:t> </a:t>
                </a:r>
                <a:r>
                  <a:rPr lang="en-US" sz="1400" dirty="0" err="1">
                    <a:effectLst/>
                  </a:rPr>
                  <a:t>FastAPI</a:t>
                </a:r>
                <a:r>
                  <a:rPr lang="en-US" sz="1400" dirty="0">
                    <a:effectLst/>
                  </a:rPr>
                  <a:t> Backend &amp; React Dashboard Output </a:t>
                </a:r>
              </a:p>
              <a:p>
                <a:r>
                  <a:rPr lang="en-US" sz="1400" dirty="0">
                    <a:effectLst/>
                  </a:rPr>
                  <a:t>PDF</a:t>
                </a:r>
              </a:p>
              <a:p>
                <a:r>
                  <a:rPr lang="en-US" sz="1400" b="1" dirty="0">
                    <a:effectLst/>
                  </a:rPr>
                  <a:t>Output:</a:t>
                </a:r>
                <a:r>
                  <a:rPr lang="en-US" sz="1400" dirty="0">
                    <a:effectLst/>
                  </a:rPr>
                  <a:t> All three parts converge into a Structured Priority Alert Record (division, priority score, warning level, recommended action, SHAP explanations) </a:t>
                </a:r>
              </a:p>
              <a:p>
                <a:r>
                  <a:rPr lang="en-US" sz="1400" dirty="0">
                    <a:effectLst/>
                  </a:rPr>
                  <a:t>PDF</a:t>
                </a:r>
              </a:p>
              <a:p>
                <a:r>
                  <a:rPr lang="en-US" sz="1400" b="1" dirty="0">
                    <a:effectLst/>
                  </a:rPr>
                  <a:t>Handoff:</a:t>
                </a:r>
                <a:r>
                  <a:rPr lang="en-US" sz="1400" dirty="0">
                    <a:effectLst/>
                  </a:rPr>
                  <a:t> Transmitted via API directly to Component 4 (Emergency Response &amp; Resource Coordination) for operational resource dispatch and routing prioritization </a:t>
                </a:r>
              </a:p>
              <a:p>
                <a:r>
                  <a:rPr lang="en-US" sz="1400" dirty="0">
                    <a:effectLst/>
                  </a:rPr>
                  <a:t>PDF</a:t>
                </a:r>
              </a:p>
            </p:txBody>
          </p:sp>
        </mc:Choice>
        <mc:Fallback>
          <p:sp>
            <p:nvSpPr>
              <p:cNvPr id="3" name="TextBox 2">
                <a:extLst>
                  <a:ext uri="{FF2B5EF4-FFF2-40B4-BE49-F238E27FC236}">
                    <a16:creationId xmlns:a16="http://schemas.microsoft.com/office/drawing/2014/main" id="{968D0D20-ADE5-D4A0-4F9E-9189D19B5667}"/>
                  </a:ext>
                </a:extLst>
              </p:cNvPr>
              <p:cNvSpPr txBox="1">
                <a:spLocks noRot="1" noChangeAspect="1" noMove="1" noResize="1" noEditPoints="1" noAdjustHandles="1" noChangeArrowheads="1" noChangeShapeType="1" noTextEdit="1"/>
              </p:cNvSpPr>
              <p:nvPr/>
            </p:nvSpPr>
            <p:spPr>
              <a:xfrm>
                <a:off x="609600" y="838201"/>
                <a:ext cx="4343399" cy="5287964"/>
              </a:xfrm>
              <a:prstGeom prst="rect">
                <a:avLst/>
              </a:prstGeom>
              <a:blipFill>
                <a:blip r:embed="rId2"/>
                <a:stretch>
                  <a:fillRect l="-140" t="-807" r="-14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D902D7B-63EC-81BD-0DA1-59B8CF1B764E}"/>
              </a:ext>
            </a:extLst>
          </p:cNvPr>
          <p:cNvSpPr txBox="1"/>
          <p:nvPr/>
        </p:nvSpPr>
        <p:spPr>
          <a:xfrm>
            <a:off x="4114800" y="6488668"/>
            <a:ext cx="4607736" cy="369332"/>
          </a:xfrm>
          <a:prstGeom prst="rect">
            <a:avLst/>
          </a:prstGeom>
          <a:noFill/>
        </p:spPr>
        <p:txBody>
          <a:bodyPr wrap="none" rtlCol="0">
            <a:spAutoFit/>
          </a:bodyPr>
          <a:lstStyle/>
          <a:p>
            <a:pPr>
              <a:spcBef>
                <a:spcPct val="20000"/>
              </a:spcBef>
            </a:pPr>
            <a:r>
              <a:rPr lang="en-US" dirty="0"/>
              <a:t>IT23317512 |</a:t>
            </a:r>
            <a:r>
              <a:rPr lang="en-US" dirty="0" err="1"/>
              <a:t>Prathibhani</a:t>
            </a:r>
            <a:r>
              <a:rPr lang="en-US" dirty="0"/>
              <a:t> Y.L.O.L |J26-IT-334</a:t>
            </a:r>
          </a:p>
        </p:txBody>
      </p:sp>
      <p:pic>
        <p:nvPicPr>
          <p:cNvPr id="7" name="Picture 6">
            <a:extLst>
              <a:ext uri="{FF2B5EF4-FFF2-40B4-BE49-F238E27FC236}">
                <a16:creationId xmlns:a16="http://schemas.microsoft.com/office/drawing/2014/main" id="{CAE306F6-A80F-94C2-B8EF-F7BD7FDA04EE}"/>
              </a:ext>
            </a:extLst>
          </p:cNvPr>
          <p:cNvPicPr>
            <a:picLocks noChangeAspect="1"/>
          </p:cNvPicPr>
          <p:nvPr/>
        </p:nvPicPr>
        <p:blipFill>
          <a:blip r:embed="rId3"/>
          <a:stretch>
            <a:fillRect/>
          </a:stretch>
        </p:blipFill>
        <p:spPr>
          <a:xfrm>
            <a:off x="6216080" y="381000"/>
            <a:ext cx="4769095" cy="5372376"/>
          </a:xfrm>
          <a:prstGeom prst="rect">
            <a:avLst/>
          </a:prstGeom>
          <a:ln>
            <a:solidFill>
              <a:schemeClr val="tx1"/>
            </a:solidFill>
          </a:ln>
        </p:spPr>
      </p:pic>
    </p:spTree>
    <p:extLst>
      <p:ext uri="{BB962C8B-B14F-4D97-AF65-F5344CB8AC3E}">
        <p14:creationId xmlns:p14="http://schemas.microsoft.com/office/powerpoint/2010/main" val="646050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91B8F-B429-4967-5A22-F319E069A4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5E6B8E-151E-DDFA-CE27-CAF31AC85272}"/>
              </a:ext>
            </a:extLst>
          </p:cNvPr>
          <p:cNvSpPr txBox="1"/>
          <p:nvPr/>
        </p:nvSpPr>
        <p:spPr>
          <a:xfrm>
            <a:off x="152400" y="152400"/>
            <a:ext cx="5006563" cy="369332"/>
          </a:xfrm>
          <a:prstGeom prst="rect">
            <a:avLst/>
          </a:prstGeom>
          <a:noFill/>
        </p:spPr>
        <p:txBody>
          <a:bodyPr wrap="none" rtlCol="0">
            <a:spAutoFit/>
          </a:bodyPr>
          <a:lstStyle/>
          <a:p>
            <a:r>
              <a:rPr lang="en-US" b="1" dirty="0"/>
              <a:t>Functional and Non-Functional Requirements</a:t>
            </a:r>
          </a:p>
        </p:txBody>
      </p:sp>
      <p:sp>
        <p:nvSpPr>
          <p:cNvPr id="5" name="TextBox 4">
            <a:extLst>
              <a:ext uri="{FF2B5EF4-FFF2-40B4-BE49-F238E27FC236}">
                <a16:creationId xmlns:a16="http://schemas.microsoft.com/office/drawing/2014/main" id="{DEBA3533-E79B-C14B-CF95-A52732AD6F55}"/>
              </a:ext>
            </a:extLst>
          </p:cNvPr>
          <p:cNvSpPr txBox="1"/>
          <p:nvPr/>
        </p:nvSpPr>
        <p:spPr>
          <a:xfrm>
            <a:off x="152400" y="521732"/>
            <a:ext cx="2666371" cy="369332"/>
          </a:xfrm>
          <a:prstGeom prst="rect">
            <a:avLst/>
          </a:prstGeom>
          <a:noFill/>
        </p:spPr>
        <p:txBody>
          <a:bodyPr wrap="none" rtlCol="0">
            <a:spAutoFit/>
          </a:bodyPr>
          <a:lstStyle/>
          <a:p>
            <a:r>
              <a:rPr lang="en-US" dirty="0"/>
              <a:t>Functional Requirements</a:t>
            </a:r>
          </a:p>
        </p:txBody>
      </p:sp>
      <p:sp>
        <p:nvSpPr>
          <p:cNvPr id="8" name="TextBox 7">
            <a:extLst>
              <a:ext uri="{FF2B5EF4-FFF2-40B4-BE49-F238E27FC236}">
                <a16:creationId xmlns:a16="http://schemas.microsoft.com/office/drawing/2014/main" id="{5AC6B873-2525-06D1-7C5E-D4E2A47A4D55}"/>
              </a:ext>
            </a:extLst>
          </p:cNvPr>
          <p:cNvSpPr txBox="1"/>
          <p:nvPr/>
        </p:nvSpPr>
        <p:spPr>
          <a:xfrm>
            <a:off x="5891981" y="521732"/>
            <a:ext cx="3201774" cy="369332"/>
          </a:xfrm>
          <a:prstGeom prst="rect">
            <a:avLst/>
          </a:prstGeom>
          <a:noFill/>
        </p:spPr>
        <p:txBody>
          <a:bodyPr wrap="none" rtlCol="0">
            <a:spAutoFit/>
          </a:bodyPr>
          <a:lstStyle/>
          <a:p>
            <a:r>
              <a:rPr lang="en-US" dirty="0"/>
              <a:t>Non -Functional Requirements</a:t>
            </a:r>
          </a:p>
        </p:txBody>
      </p:sp>
      <p:graphicFrame>
        <p:nvGraphicFramePr>
          <p:cNvPr id="10" name="Table 9">
            <a:extLst>
              <a:ext uri="{FF2B5EF4-FFF2-40B4-BE49-F238E27FC236}">
                <a16:creationId xmlns:a16="http://schemas.microsoft.com/office/drawing/2014/main" id="{8FE59D30-F3FA-4128-8F48-4F40DD8634FD}"/>
              </a:ext>
            </a:extLst>
          </p:cNvPr>
          <p:cNvGraphicFramePr>
            <a:graphicFrameLocks noGrp="1"/>
          </p:cNvGraphicFramePr>
          <p:nvPr/>
        </p:nvGraphicFramePr>
        <p:xfrm>
          <a:off x="152400" y="891064"/>
          <a:ext cx="5744076" cy="5056922"/>
        </p:xfrm>
        <a:graphic>
          <a:graphicData uri="http://schemas.openxmlformats.org/drawingml/2006/table">
            <a:tbl>
              <a:tblPr>
                <a:tableStyleId>{5C22544A-7EE6-4342-B048-85BDC9FD1C3A}</a:tableStyleId>
              </a:tblPr>
              <a:tblGrid>
                <a:gridCol w="215900">
                  <a:extLst>
                    <a:ext uri="{9D8B030D-6E8A-4147-A177-3AD203B41FA5}">
                      <a16:colId xmlns:a16="http://schemas.microsoft.com/office/drawing/2014/main" val="874534378"/>
                    </a:ext>
                  </a:extLst>
                </a:gridCol>
                <a:gridCol w="5528176">
                  <a:extLst>
                    <a:ext uri="{9D8B030D-6E8A-4147-A177-3AD203B41FA5}">
                      <a16:colId xmlns:a16="http://schemas.microsoft.com/office/drawing/2014/main" val="1461780090"/>
                    </a:ext>
                  </a:extLst>
                </a:gridCol>
              </a:tblGrid>
              <a:tr h="169917">
                <a:tc>
                  <a:txBody>
                    <a:bodyPr/>
                    <a:lstStyle/>
                    <a:p>
                      <a:pPr>
                        <a:buNone/>
                      </a:pPr>
                      <a:endParaRPr lang="en-US" sz="1100" dirty="0"/>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Requirement</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163501"/>
                  </a:ext>
                </a:extLst>
              </a:tr>
              <a:tr h="683250">
                <a:tc>
                  <a:txBody>
                    <a:bodyPr/>
                    <a:lstStyle/>
                    <a:p>
                      <a:pPr>
                        <a:buNone/>
                      </a:pPr>
                      <a:r>
                        <a:rPr lang="en-US" sz="1100"/>
                        <a:t>1</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ingest historical landslide records, rainfall data, slope/soil data, and land-use data from NBRO, the Department of Meteorology, and open geospatial sources (SRTM, OSM)</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4840552"/>
                  </a:ext>
                </a:extLst>
              </a:tr>
              <a:tr h="683250">
                <a:tc>
                  <a:txBody>
                    <a:bodyPr/>
                    <a:lstStyle/>
                    <a:p>
                      <a:pPr>
                        <a:buNone/>
                      </a:pPr>
                      <a:r>
                        <a:rPr lang="en-US" sz="1100"/>
                        <a:t>2</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compute a landslide probability score for a given location using a multi-factor model combining rainfall intensity/duration, slope geometry, and soil saturation</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7954840"/>
                  </a:ext>
                </a:extLst>
              </a:tr>
              <a:tr h="683250">
                <a:tc>
                  <a:txBody>
                    <a:bodyPr/>
                    <a:lstStyle/>
                    <a:p>
                      <a:pPr>
                        <a:buNone/>
                      </a:pPr>
                      <a:r>
                        <a:rPr lang="en-US" sz="1100"/>
                        <a:t>3</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classify predicted landslide risk into discrete categories (Very Low, Low, Moderate, High, Very High), consistent with established susceptibility-mapping conventions</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824399"/>
                  </a:ext>
                </a:extLst>
              </a:tr>
              <a:tr h="683250">
                <a:tc>
                  <a:txBody>
                    <a:bodyPr/>
                    <a:lstStyle/>
                    <a:p>
                      <a:pPr>
                        <a:buNone/>
                      </a:pPr>
                      <a:r>
                        <a:rPr lang="en-US" sz="1100"/>
                        <a:t>4</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generate an explainable breakdown of each prediction, showing the relative contribution of environmental factors (rainfall, slope, soil) versus human factors (road cutting, deforestation, drainage obstruction)</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169176"/>
                  </a:ext>
                </a:extLst>
              </a:tr>
              <a:tr h="525577">
                <a:tc>
                  <a:txBody>
                    <a:bodyPr/>
                    <a:lstStyle/>
                    <a:p>
                      <a:pPr>
                        <a:buNone/>
                      </a:pPr>
                      <a:r>
                        <a:rPr lang="en-US" sz="1100"/>
                        <a:t>5</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a:t>The system shall display predictions on a Web-GIS live map at village/DS-division granularity for the pilot area (Ambagamuwa, Kotmale, Walapane)</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1629088"/>
                  </a:ext>
                </a:extLst>
              </a:tr>
              <a:tr h="367904">
                <a:tc>
                  <a:txBody>
                    <a:bodyPr/>
                    <a:lstStyle/>
                    <a:p>
                      <a:pPr>
                        <a:buNone/>
                      </a:pPr>
                      <a:r>
                        <a:rPr lang="en-US" sz="1100"/>
                        <a:t>6</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support map interface localization in Sinhala and Tamil</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3788683"/>
                  </a:ext>
                </a:extLst>
              </a:tr>
              <a:tr h="683250">
                <a:tc>
                  <a:txBody>
                    <a:bodyPr/>
                    <a:lstStyle/>
                    <a:p>
                      <a:pPr>
                        <a:buNone/>
                      </a:pPr>
                      <a:r>
                        <a:rPr lang="en-US" sz="1100"/>
                        <a:t>7</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output a structured, geotagged hazard record (location, probability, confidence, contributing-factor breakdown) consumable by the Decision Support component via a defined API contract</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2432969"/>
                  </a:ext>
                </a:extLst>
              </a:tr>
              <a:tr h="525577">
                <a:tc>
                  <a:txBody>
                    <a:bodyPr/>
                    <a:lstStyle/>
                    <a:p>
                      <a:pPr>
                        <a:buNone/>
                      </a:pPr>
                      <a:r>
                        <a:rPr lang="en-US" sz="1100"/>
                        <a:t>8</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allow authorized users (e.g., NBRO/DMC officers) to view historical prediction accuracy against confirmed landslide events for a given area</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9878462"/>
                  </a:ext>
                </a:extLst>
              </a:tr>
            </a:tbl>
          </a:graphicData>
        </a:graphic>
      </p:graphicFrame>
      <p:graphicFrame>
        <p:nvGraphicFramePr>
          <p:cNvPr id="12" name="Table 11">
            <a:extLst>
              <a:ext uri="{FF2B5EF4-FFF2-40B4-BE49-F238E27FC236}">
                <a16:creationId xmlns:a16="http://schemas.microsoft.com/office/drawing/2014/main" id="{C8FBA16A-AA27-DE2E-9B10-969C5D553BDF}"/>
              </a:ext>
            </a:extLst>
          </p:cNvPr>
          <p:cNvGraphicFramePr>
            <a:graphicFrameLocks noGrp="1"/>
          </p:cNvGraphicFramePr>
          <p:nvPr/>
        </p:nvGraphicFramePr>
        <p:xfrm>
          <a:off x="5943601" y="891064"/>
          <a:ext cx="6096000" cy="5062549"/>
        </p:xfrm>
        <a:graphic>
          <a:graphicData uri="http://schemas.openxmlformats.org/drawingml/2006/table">
            <a:tbl>
              <a:tblPr>
                <a:tableStyleId>{5C22544A-7EE6-4342-B048-85BDC9FD1C3A}</a:tableStyleId>
              </a:tblPr>
              <a:tblGrid>
                <a:gridCol w="212425">
                  <a:extLst>
                    <a:ext uri="{9D8B030D-6E8A-4147-A177-3AD203B41FA5}">
                      <a16:colId xmlns:a16="http://schemas.microsoft.com/office/drawing/2014/main" val="3143844138"/>
                    </a:ext>
                  </a:extLst>
                </a:gridCol>
                <a:gridCol w="1012543">
                  <a:extLst>
                    <a:ext uri="{9D8B030D-6E8A-4147-A177-3AD203B41FA5}">
                      <a16:colId xmlns:a16="http://schemas.microsoft.com/office/drawing/2014/main" val="3459625810"/>
                    </a:ext>
                  </a:extLst>
                </a:gridCol>
                <a:gridCol w="4871032">
                  <a:extLst>
                    <a:ext uri="{9D8B030D-6E8A-4147-A177-3AD203B41FA5}">
                      <a16:colId xmlns:a16="http://schemas.microsoft.com/office/drawing/2014/main" val="1434279781"/>
                    </a:ext>
                  </a:extLst>
                </a:gridCol>
              </a:tblGrid>
              <a:tr h="215432">
                <a:tc>
                  <a:txBody>
                    <a:bodyPr/>
                    <a:lstStyle/>
                    <a:p>
                      <a:pPr>
                        <a:buNone/>
                      </a:pPr>
                      <a:endParaRPr lang="en-US" sz="1100" dirty="0"/>
                    </a:p>
                  </a:txBody>
                  <a:tcPr marL="53419" marR="53419" marT="26709" marB="26709" anchor="ctr"/>
                </a:tc>
                <a:tc>
                  <a:txBody>
                    <a:bodyPr/>
                    <a:lstStyle/>
                    <a:p>
                      <a:pPr>
                        <a:buNone/>
                      </a:pPr>
                      <a:r>
                        <a:rPr lang="en-US" sz="1100" dirty="0"/>
                        <a:t>Category</a:t>
                      </a:r>
                    </a:p>
                  </a:txBody>
                  <a:tcPr marL="53419" marR="53419" marT="26709" marB="26709" anchor="ctr"/>
                </a:tc>
                <a:tc>
                  <a:txBody>
                    <a:bodyPr/>
                    <a:lstStyle/>
                    <a:p>
                      <a:pPr>
                        <a:buNone/>
                      </a:pPr>
                      <a:r>
                        <a:rPr lang="en-US" sz="1100" dirty="0"/>
                        <a:t>Requirement</a:t>
                      </a:r>
                    </a:p>
                  </a:txBody>
                  <a:tcPr marL="53419" marR="53419" marT="26709" marB="26709" anchor="ctr"/>
                </a:tc>
                <a:extLst>
                  <a:ext uri="{0D108BD9-81ED-4DB2-BD59-A6C34878D82A}">
                    <a16:rowId xmlns:a16="http://schemas.microsoft.com/office/drawing/2014/main" val="2315654312"/>
                  </a:ext>
                </a:extLst>
              </a:tr>
              <a:tr h="676767">
                <a:tc>
                  <a:txBody>
                    <a:bodyPr/>
                    <a:lstStyle/>
                    <a:p>
                      <a:pPr>
                        <a:buNone/>
                      </a:pPr>
                      <a:r>
                        <a:rPr lang="en-US" sz="1100"/>
                        <a:t>1</a:t>
                      </a:r>
                    </a:p>
                  </a:txBody>
                  <a:tcPr marL="53419" marR="53419" marT="26709" marB="26709" anchor="ctr"/>
                </a:tc>
                <a:tc>
                  <a:txBody>
                    <a:bodyPr/>
                    <a:lstStyle/>
                    <a:p>
                      <a:pPr>
                        <a:buNone/>
                      </a:pPr>
                      <a:r>
                        <a:rPr lang="en-US" sz="1100" dirty="0"/>
                        <a:t>Response time</a:t>
                      </a:r>
                    </a:p>
                  </a:txBody>
                  <a:tcPr marL="53419" marR="53419" marT="26709" marB="26709" anchor="ctr"/>
                </a:tc>
                <a:tc>
                  <a:txBody>
                    <a:bodyPr/>
                    <a:lstStyle/>
                    <a:p>
                      <a:pPr>
                        <a:buNone/>
                      </a:pPr>
                      <a:r>
                        <a:rPr lang="en-US" sz="1100"/>
                        <a:t>The system shall return a landslide-probability prediction for a queried location within 5 seconds under normal network conditions</a:t>
                      </a:r>
                    </a:p>
                  </a:txBody>
                  <a:tcPr marL="53419" marR="53419" marT="26709" marB="26709" anchor="ctr"/>
                </a:tc>
                <a:extLst>
                  <a:ext uri="{0D108BD9-81ED-4DB2-BD59-A6C34878D82A}">
                    <a16:rowId xmlns:a16="http://schemas.microsoft.com/office/drawing/2014/main" val="737877156"/>
                  </a:ext>
                </a:extLst>
              </a:tr>
              <a:tr h="989122">
                <a:tc>
                  <a:txBody>
                    <a:bodyPr/>
                    <a:lstStyle/>
                    <a:p>
                      <a:pPr>
                        <a:buNone/>
                      </a:pPr>
                      <a:r>
                        <a:rPr lang="en-US" sz="1100"/>
                        <a:t>2</a:t>
                      </a:r>
                    </a:p>
                  </a:txBody>
                  <a:tcPr marL="53419" marR="53419" marT="26709" marB="26709" anchor="ctr"/>
                </a:tc>
                <a:tc>
                  <a:txBody>
                    <a:bodyPr/>
                    <a:lstStyle/>
                    <a:p>
                      <a:pPr>
                        <a:buNone/>
                      </a:pPr>
                      <a:r>
                        <a:rPr lang="en-US" sz="1100"/>
                        <a:t>Reliability</a:t>
                      </a:r>
                    </a:p>
                  </a:txBody>
                  <a:tcPr marL="53419" marR="53419" marT="26709" marB="26709" anchor="ctr"/>
                </a:tc>
                <a:tc>
                  <a:txBody>
                    <a:bodyPr/>
                    <a:lstStyle/>
                    <a:p>
                      <a:pPr>
                        <a:buNone/>
                      </a:pPr>
                      <a:r>
                        <a:rPr lang="en-US" sz="1100"/>
                        <a:t>The prediction model shall achieve a minimum out-of-sample (spatially independent) accuracy of 80%, evaluated using held-out test regions rather than training-area accuracy alone</a:t>
                      </a:r>
                    </a:p>
                  </a:txBody>
                  <a:tcPr marL="53419" marR="53419" marT="26709" marB="26709" anchor="ctr"/>
                </a:tc>
                <a:extLst>
                  <a:ext uri="{0D108BD9-81ED-4DB2-BD59-A6C34878D82A}">
                    <a16:rowId xmlns:a16="http://schemas.microsoft.com/office/drawing/2014/main" val="3819355992"/>
                  </a:ext>
                </a:extLst>
              </a:tr>
              <a:tr h="832945">
                <a:tc>
                  <a:txBody>
                    <a:bodyPr/>
                    <a:lstStyle/>
                    <a:p>
                      <a:pPr>
                        <a:buNone/>
                      </a:pPr>
                      <a:r>
                        <a:rPr lang="en-US" sz="1100"/>
                        <a:t>3</a:t>
                      </a:r>
                    </a:p>
                  </a:txBody>
                  <a:tcPr marL="53419" marR="53419" marT="26709" marB="26709" anchor="ctr"/>
                </a:tc>
                <a:tc>
                  <a:txBody>
                    <a:bodyPr/>
                    <a:lstStyle/>
                    <a:p>
                      <a:pPr>
                        <a:buNone/>
                      </a:pPr>
                      <a:r>
                        <a:rPr lang="en-US" sz="1100"/>
                        <a:t>Usability</a:t>
                      </a:r>
                    </a:p>
                  </a:txBody>
                  <a:tcPr marL="53419" marR="53419" marT="26709" marB="26709" anchor="ctr"/>
                </a:tc>
                <a:tc>
                  <a:txBody>
                    <a:bodyPr/>
                    <a:lstStyle/>
                    <a:p>
                      <a:pPr>
                        <a:buNone/>
                      </a:pPr>
                      <a:r>
                        <a:rPr lang="en-US" sz="1100" dirty="0"/>
                        <a:t>At least 90% of test users unfamiliar with GIS tools shall be able to identify their village's current risk level on the map interface within 2 minutes, without prior training</a:t>
                      </a:r>
                    </a:p>
                  </a:txBody>
                  <a:tcPr marL="53419" marR="53419" marT="26709" marB="26709" anchor="ctr"/>
                </a:tc>
                <a:extLst>
                  <a:ext uri="{0D108BD9-81ED-4DB2-BD59-A6C34878D82A}">
                    <a16:rowId xmlns:a16="http://schemas.microsoft.com/office/drawing/2014/main" val="1083194138"/>
                  </a:ext>
                </a:extLst>
              </a:tr>
              <a:tr h="832945">
                <a:tc>
                  <a:txBody>
                    <a:bodyPr/>
                    <a:lstStyle/>
                    <a:p>
                      <a:pPr>
                        <a:buNone/>
                      </a:pPr>
                      <a:r>
                        <a:rPr lang="en-US" sz="1100"/>
                        <a:t>4</a:t>
                      </a:r>
                    </a:p>
                  </a:txBody>
                  <a:tcPr marL="53419" marR="53419" marT="26709" marB="26709" anchor="ctr"/>
                </a:tc>
                <a:tc>
                  <a:txBody>
                    <a:bodyPr/>
                    <a:lstStyle/>
                    <a:p>
                      <a:pPr>
                        <a:buNone/>
                      </a:pPr>
                      <a:r>
                        <a:rPr lang="en-US" sz="1100"/>
                        <a:t>Accessibility</a:t>
                      </a:r>
                    </a:p>
                  </a:txBody>
                  <a:tcPr marL="53419" marR="53419" marT="26709" marB="26709" anchor="ctr"/>
                </a:tc>
                <a:tc>
                  <a:txBody>
                    <a:bodyPr/>
                    <a:lstStyle/>
                    <a:p>
                      <a:pPr>
                        <a:buNone/>
                      </a:pPr>
                      <a:r>
                        <a:rPr lang="en-US" sz="1100"/>
                        <a:t>The map interface shall meet WCAG 2.1 AA color-contrast requirements and support high-contrast display modes for users with low vision, including elderly residents</a:t>
                      </a:r>
                    </a:p>
                  </a:txBody>
                  <a:tcPr marL="53419" marR="53419" marT="26709" marB="26709" anchor="ctr"/>
                </a:tc>
                <a:extLst>
                  <a:ext uri="{0D108BD9-81ED-4DB2-BD59-A6C34878D82A}">
                    <a16:rowId xmlns:a16="http://schemas.microsoft.com/office/drawing/2014/main" val="527900306"/>
                  </a:ext>
                </a:extLst>
              </a:tr>
              <a:tr h="832945">
                <a:tc>
                  <a:txBody>
                    <a:bodyPr/>
                    <a:lstStyle/>
                    <a:p>
                      <a:pPr>
                        <a:buNone/>
                      </a:pPr>
                      <a:r>
                        <a:rPr lang="en-US" sz="1100"/>
                        <a:t>5</a:t>
                      </a:r>
                    </a:p>
                  </a:txBody>
                  <a:tcPr marL="53419" marR="53419" marT="26709" marB="26709" anchor="ctr"/>
                </a:tc>
                <a:tc>
                  <a:txBody>
                    <a:bodyPr/>
                    <a:lstStyle/>
                    <a:p>
                      <a:pPr>
                        <a:buNone/>
                      </a:pPr>
                      <a:r>
                        <a:rPr lang="en-US" sz="1100"/>
                        <a:t>Scalability</a:t>
                      </a:r>
                    </a:p>
                  </a:txBody>
                  <a:tcPr marL="53419" marR="53419" marT="26709" marB="26709" anchor="ctr"/>
                </a:tc>
                <a:tc>
                  <a:txBody>
                    <a:bodyPr/>
                    <a:lstStyle/>
                    <a:p>
                      <a:pPr>
                        <a:buNone/>
                      </a:pPr>
                      <a:r>
                        <a:rPr lang="en-US" sz="1100"/>
                        <a:t>The system shall support prediction requests across all DS divisions in the pilot district (Nuwara Eliya) without degradation in response time beyond the 5-second threshold</a:t>
                      </a:r>
                    </a:p>
                  </a:txBody>
                  <a:tcPr marL="53419" marR="53419" marT="26709" marB="26709" anchor="ctr"/>
                </a:tc>
                <a:extLst>
                  <a:ext uri="{0D108BD9-81ED-4DB2-BD59-A6C34878D82A}">
                    <a16:rowId xmlns:a16="http://schemas.microsoft.com/office/drawing/2014/main" val="1148219262"/>
                  </a:ext>
                </a:extLst>
              </a:tr>
              <a:tr h="676767">
                <a:tc>
                  <a:txBody>
                    <a:bodyPr/>
                    <a:lstStyle/>
                    <a:p>
                      <a:pPr>
                        <a:buNone/>
                      </a:pPr>
                      <a:r>
                        <a:rPr lang="en-US" sz="1100"/>
                        <a:t>6</a:t>
                      </a:r>
                    </a:p>
                  </a:txBody>
                  <a:tcPr marL="53419" marR="53419" marT="26709" marB="26709" anchor="ctr"/>
                </a:tc>
                <a:tc>
                  <a:txBody>
                    <a:bodyPr/>
                    <a:lstStyle/>
                    <a:p>
                      <a:pPr>
                        <a:buNone/>
                      </a:pPr>
                      <a:r>
                        <a:rPr lang="en-US" sz="1100"/>
                        <a:t>Security</a:t>
                      </a:r>
                    </a:p>
                  </a:txBody>
                  <a:tcPr marL="53419" marR="53419" marT="26709" marB="26709" anchor="ctr"/>
                </a:tc>
                <a:tc>
                  <a:txBody>
                    <a:bodyPr/>
                    <a:lstStyle/>
                    <a:p>
                      <a:pPr>
                        <a:buNone/>
                      </a:pPr>
                      <a:r>
                        <a:rPr lang="en-US" sz="1100" dirty="0"/>
                        <a:t>All data exchanged with the Decision Support component via the API shall use authenticated, encrypted (HTTPS/TLS) connections</a:t>
                      </a:r>
                    </a:p>
                  </a:txBody>
                  <a:tcPr marL="53419" marR="53419" marT="26709" marB="26709" anchor="ctr"/>
                </a:tc>
                <a:extLst>
                  <a:ext uri="{0D108BD9-81ED-4DB2-BD59-A6C34878D82A}">
                    <a16:rowId xmlns:a16="http://schemas.microsoft.com/office/drawing/2014/main" val="836206375"/>
                  </a:ext>
                </a:extLst>
              </a:tr>
            </a:tbl>
          </a:graphicData>
        </a:graphic>
      </p:graphicFrame>
      <p:sp>
        <p:nvSpPr>
          <p:cNvPr id="13" name="TextBox 12">
            <a:extLst>
              <a:ext uri="{FF2B5EF4-FFF2-40B4-BE49-F238E27FC236}">
                <a16:creationId xmlns:a16="http://schemas.microsoft.com/office/drawing/2014/main" id="{AD70DB9F-9AB5-DC2F-62E1-BC909D774DF0}"/>
              </a:ext>
            </a:extLst>
          </p:cNvPr>
          <p:cNvSpPr txBox="1"/>
          <p:nvPr/>
        </p:nvSpPr>
        <p:spPr>
          <a:xfrm>
            <a:off x="4038600" y="6520934"/>
            <a:ext cx="4607736" cy="369332"/>
          </a:xfrm>
          <a:prstGeom prst="rect">
            <a:avLst/>
          </a:prstGeom>
          <a:noFill/>
        </p:spPr>
        <p:txBody>
          <a:bodyPr wrap="none" rtlCol="0">
            <a:spAutoFit/>
          </a:bodyPr>
          <a:lstStyle/>
          <a:p>
            <a:pPr>
              <a:spcBef>
                <a:spcPct val="20000"/>
              </a:spcBef>
            </a:pPr>
            <a:r>
              <a:rPr lang="en-US" dirty="0"/>
              <a:t>IT23317512 |</a:t>
            </a:r>
            <a:r>
              <a:rPr lang="en-US" dirty="0" err="1"/>
              <a:t>Prathibhani</a:t>
            </a:r>
            <a:r>
              <a:rPr lang="en-US" dirty="0"/>
              <a:t> Y.L.O.L |J26-IT-334</a:t>
            </a:r>
          </a:p>
        </p:txBody>
      </p:sp>
    </p:spTree>
    <p:extLst>
      <p:ext uri="{BB962C8B-B14F-4D97-AF65-F5344CB8AC3E}">
        <p14:creationId xmlns:p14="http://schemas.microsoft.com/office/powerpoint/2010/main" val="2260863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23A68-3936-C7DA-2154-4B80D0B19F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49527E-B509-32AC-BD95-ED053BAC7087}"/>
              </a:ext>
            </a:extLst>
          </p:cNvPr>
          <p:cNvSpPr txBox="1"/>
          <p:nvPr/>
        </p:nvSpPr>
        <p:spPr>
          <a:xfrm>
            <a:off x="192015" y="116175"/>
            <a:ext cx="7369261" cy="1246495"/>
          </a:xfrm>
          <a:prstGeom prst="rect">
            <a:avLst/>
          </a:prstGeom>
          <a:noFill/>
        </p:spPr>
        <p:txBody>
          <a:bodyPr wrap="none" rtlCol="0">
            <a:spAutoFit/>
          </a:bodyPr>
          <a:lstStyle/>
          <a:p>
            <a:r>
              <a:rPr lang="en-GB" sz="2500" dirty="0"/>
              <a:t>Component 04</a:t>
            </a:r>
          </a:p>
          <a:p>
            <a:endParaRPr lang="en-GB" sz="2500" dirty="0"/>
          </a:p>
          <a:p>
            <a:r>
              <a:rPr lang="en-US" sz="2500" b="1" dirty="0"/>
              <a:t>Emergency Response and Resource Coordination</a:t>
            </a:r>
          </a:p>
        </p:txBody>
      </p:sp>
      <p:sp>
        <p:nvSpPr>
          <p:cNvPr id="3" name="TextBox 2">
            <a:extLst>
              <a:ext uri="{FF2B5EF4-FFF2-40B4-BE49-F238E27FC236}">
                <a16:creationId xmlns:a16="http://schemas.microsoft.com/office/drawing/2014/main" id="{A2028AC5-6B88-DE4D-E51E-DEE26FB2B664}"/>
              </a:ext>
            </a:extLst>
          </p:cNvPr>
          <p:cNvSpPr txBox="1"/>
          <p:nvPr/>
        </p:nvSpPr>
        <p:spPr>
          <a:xfrm>
            <a:off x="196931" y="5334000"/>
            <a:ext cx="2886046" cy="923330"/>
          </a:xfrm>
          <a:prstGeom prst="rect">
            <a:avLst/>
          </a:prstGeom>
          <a:noFill/>
        </p:spPr>
        <p:txBody>
          <a:bodyPr wrap="none" rtlCol="0">
            <a:spAutoFit/>
          </a:bodyPr>
          <a:lstStyle/>
          <a:p>
            <a:r>
              <a:rPr lang="en-GB" dirty="0"/>
              <a:t>Presented By : </a:t>
            </a:r>
            <a:r>
              <a:rPr lang="en-US" dirty="0"/>
              <a:t>IT23411562</a:t>
            </a:r>
            <a:endParaRPr lang="en-GB" dirty="0"/>
          </a:p>
          <a:p>
            <a:r>
              <a:rPr lang="en-US" dirty="0" err="1"/>
              <a:t>Palihena</a:t>
            </a:r>
            <a:r>
              <a:rPr lang="en-US" dirty="0"/>
              <a:t> M B </a:t>
            </a:r>
          </a:p>
          <a:p>
            <a:endParaRPr lang="en-US" dirty="0"/>
          </a:p>
        </p:txBody>
      </p:sp>
      <p:pic>
        <p:nvPicPr>
          <p:cNvPr id="5" name="Picture 4">
            <a:extLst>
              <a:ext uri="{FF2B5EF4-FFF2-40B4-BE49-F238E27FC236}">
                <a16:creationId xmlns:a16="http://schemas.microsoft.com/office/drawing/2014/main" id="{7384726E-1C1C-0DB2-8E44-DD765996D8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75785" y="1066800"/>
            <a:ext cx="3124200" cy="3124200"/>
          </a:xfrm>
          <a:prstGeom prst="rect">
            <a:avLst/>
          </a:prstGeom>
        </p:spPr>
      </p:pic>
      <p:sp>
        <p:nvSpPr>
          <p:cNvPr id="7" name="Rectangle: Diagonal Corners Rounded 6">
            <a:extLst>
              <a:ext uri="{FF2B5EF4-FFF2-40B4-BE49-F238E27FC236}">
                <a16:creationId xmlns:a16="http://schemas.microsoft.com/office/drawing/2014/main" id="{130C459C-88BE-74DD-82D7-12485469239B}"/>
              </a:ext>
            </a:extLst>
          </p:cNvPr>
          <p:cNvSpPr/>
          <p:nvPr/>
        </p:nvSpPr>
        <p:spPr>
          <a:xfrm>
            <a:off x="264875" y="1752600"/>
            <a:ext cx="5831125" cy="2590800"/>
          </a:xfrm>
          <a:prstGeom prst="round2Diag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dirty="0">
                <a:solidFill>
                  <a:schemeClr val="tx1"/>
                </a:solidFill>
              </a:rPr>
              <a:t>I am Manul </a:t>
            </a:r>
            <a:r>
              <a:rPr lang="en-GB" dirty="0" err="1">
                <a:solidFill>
                  <a:schemeClr val="tx1"/>
                </a:solidFill>
              </a:rPr>
              <a:t>Palihena</a:t>
            </a:r>
            <a:r>
              <a:rPr lang="en-GB" dirty="0">
                <a:solidFill>
                  <a:schemeClr val="tx1"/>
                </a:solidFill>
              </a:rPr>
              <a:t>, and I specialize in emergency response and resource coordination by developing an automated optimization and routing engine for Sri Lanka's disaster management framework. My work focuses on real-time resource availability verification, scarcity-based priority queuing, constraint-based allocation using Google OR-Tools, and dynamic, hazard-aware routing for safe evacuation and dispatch.</a:t>
            </a:r>
            <a:endParaRPr lang="en-US" dirty="0">
              <a:solidFill>
                <a:schemeClr val="tx1"/>
              </a:solidFill>
            </a:endParaRPr>
          </a:p>
        </p:txBody>
      </p:sp>
    </p:spTree>
    <p:extLst>
      <p:ext uri="{BB962C8B-B14F-4D97-AF65-F5344CB8AC3E}">
        <p14:creationId xmlns:p14="http://schemas.microsoft.com/office/powerpoint/2010/main" val="1041845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837D3-7793-611B-A491-2D3667AEBB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D66149-BF91-F566-3239-F5BF5723E8A2}"/>
              </a:ext>
            </a:extLst>
          </p:cNvPr>
          <p:cNvSpPr txBox="1"/>
          <p:nvPr/>
        </p:nvSpPr>
        <p:spPr>
          <a:xfrm>
            <a:off x="152400" y="152400"/>
            <a:ext cx="3441327" cy="861774"/>
          </a:xfrm>
          <a:prstGeom prst="rect">
            <a:avLst/>
          </a:prstGeom>
          <a:noFill/>
        </p:spPr>
        <p:txBody>
          <a:bodyPr wrap="none" rtlCol="0">
            <a:spAutoFit/>
          </a:bodyPr>
          <a:lstStyle/>
          <a:p>
            <a:r>
              <a:rPr lang="en-US" sz="3200" u="sng" dirty="0"/>
              <a:t>Research Question</a:t>
            </a:r>
          </a:p>
          <a:p>
            <a:endParaRPr lang="en-US" u="sng" dirty="0"/>
          </a:p>
        </p:txBody>
      </p:sp>
      <p:sp>
        <p:nvSpPr>
          <p:cNvPr id="4" name="TextBox 3">
            <a:extLst>
              <a:ext uri="{FF2B5EF4-FFF2-40B4-BE49-F238E27FC236}">
                <a16:creationId xmlns:a16="http://schemas.microsoft.com/office/drawing/2014/main" id="{F990D4EB-96B3-500C-5563-102E754022B7}"/>
              </a:ext>
            </a:extLst>
          </p:cNvPr>
          <p:cNvSpPr txBox="1"/>
          <p:nvPr/>
        </p:nvSpPr>
        <p:spPr>
          <a:xfrm>
            <a:off x="990599" y="1552782"/>
            <a:ext cx="10539021" cy="923330"/>
          </a:xfrm>
          <a:prstGeom prst="rect">
            <a:avLst/>
          </a:prstGeom>
          <a:noFill/>
        </p:spPr>
        <p:txBody>
          <a:bodyPr wrap="square" rtlCol="0">
            <a:spAutoFit/>
          </a:bodyPr>
          <a:lstStyle/>
          <a:p>
            <a:r>
              <a:rPr lang="en-GB" dirty="0"/>
              <a:t>Can an automated, constraint-based optimization engine reduce mean first-response times and eliminate duplicate resource assignments during disaster dispatches in Sri Lanka more effectively than existing manual coordination methods?</a:t>
            </a:r>
            <a:endParaRPr lang="en-US" dirty="0"/>
          </a:p>
        </p:txBody>
      </p:sp>
      <p:sp>
        <p:nvSpPr>
          <p:cNvPr id="6" name="TextBox 5">
            <a:extLst>
              <a:ext uri="{FF2B5EF4-FFF2-40B4-BE49-F238E27FC236}">
                <a16:creationId xmlns:a16="http://schemas.microsoft.com/office/drawing/2014/main" id="{356D36E5-BD58-05F8-AFB4-3C68E4B72090}"/>
              </a:ext>
            </a:extLst>
          </p:cNvPr>
          <p:cNvSpPr txBox="1"/>
          <p:nvPr/>
        </p:nvSpPr>
        <p:spPr>
          <a:xfrm>
            <a:off x="662379" y="960313"/>
            <a:ext cx="1970668" cy="646331"/>
          </a:xfrm>
          <a:prstGeom prst="rect">
            <a:avLst/>
          </a:prstGeom>
          <a:noFill/>
        </p:spPr>
        <p:txBody>
          <a:bodyPr wrap="none" rtlCol="0">
            <a:spAutoFit/>
          </a:bodyPr>
          <a:lstStyle/>
          <a:p>
            <a:r>
              <a:rPr lang="en-US" u="sng" dirty="0"/>
              <a:t>Research Problem</a:t>
            </a:r>
          </a:p>
          <a:p>
            <a:endParaRPr lang="en-US" dirty="0"/>
          </a:p>
        </p:txBody>
      </p:sp>
      <p:sp>
        <p:nvSpPr>
          <p:cNvPr id="8" name="TextBox 7">
            <a:extLst>
              <a:ext uri="{FF2B5EF4-FFF2-40B4-BE49-F238E27FC236}">
                <a16:creationId xmlns:a16="http://schemas.microsoft.com/office/drawing/2014/main" id="{F0B25365-DF4D-1ACE-707D-013A049B8ACC}"/>
              </a:ext>
            </a:extLst>
          </p:cNvPr>
          <p:cNvSpPr txBox="1"/>
          <p:nvPr/>
        </p:nvSpPr>
        <p:spPr>
          <a:xfrm>
            <a:off x="773595" y="2527368"/>
            <a:ext cx="2823722" cy="646331"/>
          </a:xfrm>
          <a:prstGeom prst="rect">
            <a:avLst/>
          </a:prstGeom>
          <a:noFill/>
        </p:spPr>
        <p:txBody>
          <a:bodyPr wrap="none" rtlCol="0">
            <a:spAutoFit/>
          </a:bodyPr>
          <a:lstStyle/>
          <a:p>
            <a:r>
              <a:rPr lang="en-US" u="sng" dirty="0"/>
              <a:t>Component-wise Objective</a:t>
            </a:r>
          </a:p>
          <a:p>
            <a:endParaRPr lang="en-US" dirty="0"/>
          </a:p>
        </p:txBody>
      </p:sp>
      <p:sp>
        <p:nvSpPr>
          <p:cNvPr id="10" name="TextBox 9">
            <a:extLst>
              <a:ext uri="{FF2B5EF4-FFF2-40B4-BE49-F238E27FC236}">
                <a16:creationId xmlns:a16="http://schemas.microsoft.com/office/drawing/2014/main" id="{69C938BC-1474-6D35-B2C2-B65923A98395}"/>
              </a:ext>
            </a:extLst>
          </p:cNvPr>
          <p:cNvSpPr txBox="1"/>
          <p:nvPr/>
        </p:nvSpPr>
        <p:spPr>
          <a:xfrm>
            <a:off x="6604819" y="2514600"/>
            <a:ext cx="3303020" cy="646331"/>
          </a:xfrm>
          <a:prstGeom prst="rect">
            <a:avLst/>
          </a:prstGeom>
          <a:noFill/>
        </p:spPr>
        <p:txBody>
          <a:bodyPr wrap="none" rtlCol="0">
            <a:spAutoFit/>
          </a:bodyPr>
          <a:lstStyle/>
          <a:p>
            <a:r>
              <a:rPr lang="en-US" u="sng" dirty="0"/>
              <a:t>Component Wise Sub Objective</a:t>
            </a:r>
          </a:p>
          <a:p>
            <a:endParaRPr lang="en-US" dirty="0"/>
          </a:p>
        </p:txBody>
      </p:sp>
      <p:sp>
        <p:nvSpPr>
          <p:cNvPr id="12" name="Rectangle 11">
            <a:extLst>
              <a:ext uri="{FF2B5EF4-FFF2-40B4-BE49-F238E27FC236}">
                <a16:creationId xmlns:a16="http://schemas.microsoft.com/office/drawing/2014/main" id="{839B95F4-948F-A808-151F-02309375B406}"/>
              </a:ext>
            </a:extLst>
          </p:cNvPr>
          <p:cNvSpPr/>
          <p:nvPr/>
        </p:nvSpPr>
        <p:spPr>
          <a:xfrm>
            <a:off x="6018276" y="2911632"/>
            <a:ext cx="5642418" cy="349451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lgn="just">
              <a:buFont typeface="Arial" panose="020B0604020202020204" pitchFamily="34" charset="0"/>
              <a:buChar char="•"/>
            </a:pPr>
            <a:r>
              <a:rPr lang="en-US" sz="1300" dirty="0">
                <a:solidFill>
                  <a:schemeClr val="tx1"/>
                </a:solidFill>
              </a:rPr>
              <a:t>To ingest prioritized district-level alerts and verify real-time resource availability (ambulances, boats, shelters, relief stock) via a standardized API before any dispatch decision is committed</a:t>
            </a:r>
          </a:p>
          <a:p>
            <a:pPr marL="285750" lvl="0" indent="-285750" algn="just">
              <a:buFont typeface="Arial" panose="020B0604020202020204" pitchFamily="34" charset="0"/>
              <a:buChar char="•"/>
            </a:pPr>
            <a:r>
              <a:rPr lang="en-US" sz="1300" dirty="0">
                <a:solidFill>
                  <a:schemeClr val="tx1"/>
                </a:solidFill>
              </a:rPr>
              <a:t> To design a scarcity-based priority queuing model that sequences resource allocation across multiple simultaneously affected districts. </a:t>
            </a:r>
          </a:p>
          <a:p>
            <a:pPr marL="285750" lvl="0" indent="-285750" algn="just">
              <a:buFont typeface="Arial" panose="020B0604020202020204" pitchFamily="34" charset="0"/>
              <a:buChar char="•"/>
            </a:pPr>
            <a:r>
              <a:rPr lang="en-US" sz="1300" dirty="0">
                <a:solidFill>
                  <a:schemeClr val="tx1"/>
                </a:solidFill>
              </a:rPr>
              <a:t>To develop a constraint-based resource allocation engine, using operations-research optimization, that assigns available resources to affected districts under capacity and resource type-matching constraints. To construct a hazard-aware dual route optimization module that dynamically excludes flood- and landslide-blocked road segments for both citizen evacuation and rescue-team dispatch. </a:t>
            </a:r>
          </a:p>
          <a:p>
            <a:pPr marL="285750" lvl="0" indent="-285750" algn="just">
              <a:buFont typeface="Arial" panose="020B0604020202020204" pitchFamily="34" charset="0"/>
              <a:buChar char="•"/>
            </a:pPr>
            <a:r>
              <a:rPr lang="en-US" sz="1300" dirty="0">
                <a:solidFill>
                  <a:schemeClr val="tx1"/>
                </a:solidFill>
              </a:rPr>
              <a:t>To implement a multi-channel dispatch mechanism that delivers localized alerts and resource/route information to DMC coordinators and citizens. </a:t>
            </a:r>
          </a:p>
          <a:p>
            <a:pPr marL="285750" lvl="0" indent="-285750" algn="just">
              <a:buFont typeface="Arial" panose="020B0604020202020204" pitchFamily="34" charset="0"/>
              <a:buChar char="•"/>
            </a:pPr>
            <a:r>
              <a:rPr lang="en-US" sz="1300" dirty="0">
                <a:solidFill>
                  <a:schemeClr val="tx1"/>
                </a:solidFill>
              </a:rPr>
              <a:t>To build a closed-loop feedback model that logs actual response outcomes and improves future allocation efficiency using historical and simulated Sri Lankan disaster data. </a:t>
            </a:r>
          </a:p>
        </p:txBody>
      </p:sp>
      <p:sp>
        <p:nvSpPr>
          <p:cNvPr id="14" name="Rectangle 13">
            <a:extLst>
              <a:ext uri="{FF2B5EF4-FFF2-40B4-BE49-F238E27FC236}">
                <a16:creationId xmlns:a16="http://schemas.microsoft.com/office/drawing/2014/main" id="{C2829D4B-CC78-24FF-43FC-83F4C83CF916}"/>
              </a:ext>
            </a:extLst>
          </p:cNvPr>
          <p:cNvSpPr/>
          <p:nvPr/>
        </p:nvSpPr>
        <p:spPr>
          <a:xfrm>
            <a:off x="773595" y="3330190"/>
            <a:ext cx="4595421" cy="177335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just"/>
            <a:r>
              <a:rPr lang="en-US" dirty="0">
                <a:solidFill>
                  <a:schemeClr val="tx1"/>
                </a:solidFill>
              </a:rPr>
              <a:t>To create an intelligent, integrated disaster management system that identifies flood and landslide risks, estimates impacts, and provides timely decision support and emergency response recommendations for Sri Lanka</a:t>
            </a:r>
          </a:p>
          <a:p>
            <a:pPr algn="ctr"/>
            <a:endParaRPr lang="en-US" dirty="0">
              <a:solidFill>
                <a:schemeClr val="tx1"/>
              </a:solidFill>
            </a:endParaRPr>
          </a:p>
        </p:txBody>
      </p:sp>
      <p:sp>
        <p:nvSpPr>
          <p:cNvPr id="28" name="TextBox 27">
            <a:extLst>
              <a:ext uri="{FF2B5EF4-FFF2-40B4-BE49-F238E27FC236}">
                <a16:creationId xmlns:a16="http://schemas.microsoft.com/office/drawing/2014/main" id="{0E0AA16A-2ECE-BA0B-1B83-320129ABF6AF}"/>
              </a:ext>
            </a:extLst>
          </p:cNvPr>
          <p:cNvSpPr txBox="1"/>
          <p:nvPr/>
        </p:nvSpPr>
        <p:spPr>
          <a:xfrm>
            <a:off x="4343400" y="6518165"/>
            <a:ext cx="4025782" cy="369332"/>
          </a:xfrm>
          <a:prstGeom prst="rect">
            <a:avLst/>
          </a:prstGeom>
          <a:noFill/>
        </p:spPr>
        <p:txBody>
          <a:bodyPr wrap="none" rtlCol="0">
            <a:spAutoFit/>
          </a:bodyPr>
          <a:lstStyle/>
          <a:p>
            <a:r>
              <a:rPr lang="en-US" dirty="0"/>
              <a:t>IT23411562|Palihena M B | J26-IT-334</a:t>
            </a:r>
          </a:p>
        </p:txBody>
      </p:sp>
    </p:spTree>
    <p:extLst>
      <p:ext uri="{BB962C8B-B14F-4D97-AF65-F5344CB8AC3E}">
        <p14:creationId xmlns:p14="http://schemas.microsoft.com/office/powerpoint/2010/main" val="2814304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94FC2-A070-04FF-0D86-AEE7AF1FE2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A2CB32-2FFD-57FB-A2E3-4303B891A210}"/>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a:ea typeface="+mj-ea"/>
                <a:cs typeface="Adobe Devanagari" pitchFamily="18" charset="0"/>
              </a:rPr>
              <a:t>Features And Gaps</a:t>
            </a:r>
            <a:endParaRPr lang="en-US" sz="2500" b="1" u="sng" kern="1200" dirty="0">
              <a:ea typeface="+mj-ea"/>
              <a:cs typeface="Adobe Devanagari" pitchFamily="18" charset="0"/>
            </a:endParaRPr>
          </a:p>
        </p:txBody>
      </p:sp>
      <p:sp>
        <p:nvSpPr>
          <p:cNvPr id="3" name="TextBox 2">
            <a:extLst>
              <a:ext uri="{FF2B5EF4-FFF2-40B4-BE49-F238E27FC236}">
                <a16:creationId xmlns:a16="http://schemas.microsoft.com/office/drawing/2014/main" id="{F0ED3470-3DE6-38A2-D90B-B9C4DA3F9DD2}"/>
              </a:ext>
            </a:extLst>
          </p:cNvPr>
          <p:cNvSpPr txBox="1"/>
          <p:nvPr/>
        </p:nvSpPr>
        <p:spPr>
          <a:xfrm>
            <a:off x="4620685" y="6584950"/>
            <a:ext cx="3428999" cy="546099"/>
          </a:xfrm>
          <a:prstGeom prst="rect">
            <a:avLst/>
          </a:prstGeom>
        </p:spPr>
        <p:txBody>
          <a:bodyPr vert="horz" lIns="91440" tIns="45720" rIns="91440" bIns="45720" rtlCol="0">
            <a:normAutofit/>
          </a:bodyPr>
          <a:lstStyle/>
          <a:p>
            <a:r>
              <a:rPr lang="en-US" sz="1400" dirty="0"/>
              <a:t>IT23411562|Palihena M B | J26-IT-334</a:t>
            </a:r>
          </a:p>
        </p:txBody>
      </p:sp>
      <p:sp>
        <p:nvSpPr>
          <p:cNvPr id="4" name="TextBox 3">
            <a:extLst>
              <a:ext uri="{FF2B5EF4-FFF2-40B4-BE49-F238E27FC236}">
                <a16:creationId xmlns:a16="http://schemas.microsoft.com/office/drawing/2014/main" id="{936A7C48-6A82-4902-4825-5720A1AB1D86}"/>
              </a:ext>
            </a:extLst>
          </p:cNvPr>
          <p:cNvSpPr txBox="1"/>
          <p:nvPr/>
        </p:nvSpPr>
        <p:spPr>
          <a:xfrm>
            <a:off x="894735" y="1376516"/>
            <a:ext cx="184731" cy="369332"/>
          </a:xfrm>
          <a:prstGeom prst="rect">
            <a:avLst/>
          </a:prstGeom>
          <a:noFill/>
        </p:spPr>
        <p:txBody>
          <a:bodyPr wrap="none" rtlCol="0">
            <a:spAutoFit/>
          </a:bodyPr>
          <a:lstStyle/>
          <a:p>
            <a:endParaRPr lang="en-US" dirty="0"/>
          </a:p>
        </p:txBody>
      </p:sp>
      <p:graphicFrame>
        <p:nvGraphicFramePr>
          <p:cNvPr id="8" name="Table 7">
            <a:extLst>
              <a:ext uri="{FF2B5EF4-FFF2-40B4-BE49-F238E27FC236}">
                <a16:creationId xmlns:a16="http://schemas.microsoft.com/office/drawing/2014/main" id="{4FA5A58F-3A0A-8FED-238F-41C212D9C1D8}"/>
              </a:ext>
            </a:extLst>
          </p:cNvPr>
          <p:cNvGraphicFramePr>
            <a:graphicFrameLocks noGrp="1"/>
          </p:cNvGraphicFramePr>
          <p:nvPr>
            <p:extLst>
              <p:ext uri="{D42A27DB-BD31-4B8C-83A1-F6EECF244321}">
                <p14:modId xmlns:p14="http://schemas.microsoft.com/office/powerpoint/2010/main" val="3485697985"/>
              </p:ext>
            </p:extLst>
          </p:nvPr>
        </p:nvGraphicFramePr>
        <p:xfrm>
          <a:off x="3674898" y="381000"/>
          <a:ext cx="7934540" cy="5582913"/>
        </p:xfrm>
        <a:graphic>
          <a:graphicData uri="http://schemas.openxmlformats.org/drawingml/2006/table">
            <a:tbl>
              <a:tblPr>
                <a:tableStyleId>{5C22544A-7EE6-4342-B048-85BDC9FD1C3A}</a:tableStyleId>
              </a:tblPr>
              <a:tblGrid>
                <a:gridCol w="3967270">
                  <a:extLst>
                    <a:ext uri="{9D8B030D-6E8A-4147-A177-3AD203B41FA5}">
                      <a16:colId xmlns:a16="http://schemas.microsoft.com/office/drawing/2014/main" val="2343077017"/>
                    </a:ext>
                  </a:extLst>
                </a:gridCol>
                <a:gridCol w="3967270">
                  <a:extLst>
                    <a:ext uri="{9D8B030D-6E8A-4147-A177-3AD203B41FA5}">
                      <a16:colId xmlns:a16="http://schemas.microsoft.com/office/drawing/2014/main" val="3395035769"/>
                    </a:ext>
                  </a:extLst>
                </a:gridCol>
              </a:tblGrid>
              <a:tr h="255285">
                <a:tc>
                  <a:txBody>
                    <a:bodyPr/>
                    <a:lstStyle/>
                    <a:p>
                      <a:pPr marL="0" marR="0" rtl="0">
                        <a:spcAft>
                          <a:spcPts val="2400"/>
                        </a:spcAft>
                        <a:buNone/>
                      </a:pPr>
                      <a:r>
                        <a:rPr lang="en-US" sz="1200">
                          <a:effectLst/>
                        </a:rPr>
                        <a:t>Research Gap (from Literature / Existing Systems)</a:t>
                      </a:r>
                      <a:endParaRPr lang="en-US" sz="1200">
                        <a:solidFill>
                          <a:srgbClr val="1F1F1F"/>
                        </a:solidFill>
                        <a:effectLst/>
                        <a:latin typeface="Google Sans Text"/>
                      </a:endParaRPr>
                    </a:p>
                  </a:txBody>
                  <a:tcPr marL="51747" marR="51747" marT="34498" marB="34498" anchor="ctr">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US" sz="1200">
                          <a:effectLst/>
                        </a:rPr>
                        <a:t>Feature (How Component Closes It)</a:t>
                      </a:r>
                      <a:endParaRPr lang="en-US" sz="1200">
                        <a:solidFill>
                          <a:srgbClr val="1F1F1F"/>
                        </a:solidFill>
                        <a:effectLst/>
                        <a:latin typeface="Google Sans Text"/>
                      </a:endParaRPr>
                    </a:p>
                  </a:txBody>
                  <a:tcPr marL="51747" marR="51747" marT="34498" marB="34498"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6309474"/>
                  </a:ext>
                </a:extLst>
              </a:tr>
              <a:tr h="1580008">
                <a:tc>
                  <a:txBody>
                    <a:bodyPr/>
                    <a:lstStyle/>
                    <a:p>
                      <a:pPr marL="0" marR="0" rtl="0">
                        <a:spcAft>
                          <a:spcPts val="2400"/>
                        </a:spcAft>
                        <a:buNone/>
                      </a:pPr>
                      <a:r>
                        <a:rPr lang="en-US" sz="1200" dirty="0">
                          <a:effectLst/>
                        </a:rPr>
                        <a:t>No real-time, resource-verified dispatch for Sri Lanka's DDMC network: Existing systems proceed directly to routing without verifying if resources are actually available beforehand. Manual coordination without a shared registry leads to high rates of duplicate resource assignments.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51747" marR="51747" marT="34498" marB="344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a:effectLst/>
                        </a:rPr>
                        <a:t>Real-Time Resource-Aware Dispatch Engine: Integrates a live, query-based resource availability check (ambulances, boats, shelters, relief stock) as a mandatory precondition before any allocation decision is committed. </a:t>
                      </a:r>
                    </a:p>
                    <a:p>
                      <a:pPr marL="0" marR="0" rtl="0">
                        <a:spcAft>
                          <a:spcPts val="2400"/>
                        </a:spcAft>
                        <a:buNone/>
                      </a:pPr>
                      <a:br>
                        <a:rPr lang="en-US" sz="1200">
                          <a:effectLst/>
                        </a:rPr>
                      </a:br>
                      <a:endParaRPr lang="en-US" sz="1200">
                        <a:solidFill>
                          <a:srgbClr val="1F1F1F"/>
                        </a:solidFill>
                        <a:effectLst/>
                        <a:latin typeface="Google Sans Text"/>
                      </a:endParaRPr>
                    </a:p>
                  </a:txBody>
                  <a:tcPr marL="51747" marR="51747" marT="34498" marB="344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71263942"/>
                  </a:ext>
                </a:extLst>
              </a:tr>
              <a:tr h="1766298">
                <a:tc>
                  <a:txBody>
                    <a:bodyPr/>
                    <a:lstStyle/>
                    <a:p>
                      <a:pPr marL="0" marR="0" rtl="0">
                        <a:spcAft>
                          <a:spcPts val="2400"/>
                        </a:spcAft>
                        <a:buNone/>
                      </a:pPr>
                      <a:r>
                        <a:rPr lang="en-US" sz="1200">
                          <a:effectLst/>
                        </a:rPr>
                        <a:t>No dynamic, road-segment-level hazard-aware routing for both evacuation and rescue dispatch: Standard routing APIs cannot process dynamic road closures, and existing platforms treat road accessibility as a broad district-level score rather than dynamically excluding specific blocked roads. </a:t>
                      </a:r>
                    </a:p>
                    <a:p>
                      <a:pPr marL="0" marR="0" rtl="0">
                        <a:spcAft>
                          <a:spcPts val="2400"/>
                        </a:spcAft>
                        <a:buNone/>
                      </a:pPr>
                      <a:br>
                        <a:rPr lang="en-US" sz="1200">
                          <a:effectLst/>
                        </a:rPr>
                      </a:br>
                      <a:endParaRPr lang="en-US" sz="1200">
                        <a:solidFill>
                          <a:srgbClr val="1F1F1F"/>
                        </a:solidFill>
                        <a:effectLst/>
                        <a:latin typeface="Google Sans Text"/>
                      </a:endParaRPr>
                    </a:p>
                  </a:txBody>
                  <a:tcPr marL="51747" marR="51747" marT="34498" marB="344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Hazard-Aware Dual Route Optimization: Dynamically updates street network graphs by intersecting live flood and landslide extent data to exclude blocked road segments, simultaneously generating safe evacuation paths for citizens and rapid dispatch routes for rescue teams. </a:t>
                      </a:r>
                    </a:p>
                    <a:p>
                      <a:pPr marL="0" marR="0" rtl="0">
                        <a:spcAft>
                          <a:spcPts val="2400"/>
                        </a:spcAft>
                        <a:buNone/>
                      </a:pPr>
                      <a:br>
                        <a:rPr lang="en-US" sz="1200" dirty="0">
                          <a:effectLst/>
                        </a:rPr>
                      </a:br>
                      <a:endParaRPr lang="en-US" sz="1200" dirty="0">
                        <a:solidFill>
                          <a:srgbClr val="1F1F1F"/>
                        </a:solidFill>
                        <a:effectLst/>
                        <a:latin typeface="Google Sans Text"/>
                      </a:endParaRPr>
                    </a:p>
                  </a:txBody>
                  <a:tcPr marL="51747" marR="51747" marT="34498" marB="344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8163621"/>
                  </a:ext>
                </a:extLst>
              </a:tr>
              <a:tr h="1580008">
                <a:tc>
                  <a:txBody>
                    <a:bodyPr/>
                    <a:lstStyle/>
                    <a:p>
                      <a:pPr marL="0" marR="0" rtl="0">
                        <a:spcAft>
                          <a:spcPts val="2400"/>
                        </a:spcAft>
                        <a:buNone/>
                      </a:pPr>
                      <a:r>
                        <a:rPr lang="en-US" sz="1200">
                          <a:effectLst/>
                        </a:rPr>
                        <a:t>No closed-loop allocation model calibrated to Sri Lankan disaster outcomes: Current coordination methods do not log response metrics to improve system performance over time. Existing optimization models act as one-time simulations rather than learning from actual operational outcomes. </a:t>
                      </a:r>
                    </a:p>
                    <a:p>
                      <a:pPr marL="0" marR="0" rtl="0">
                        <a:spcAft>
                          <a:spcPts val="2400"/>
                        </a:spcAft>
                        <a:buNone/>
                      </a:pPr>
                      <a:br>
                        <a:rPr lang="en-US" sz="1200">
                          <a:effectLst/>
                        </a:rPr>
                      </a:br>
                      <a:endParaRPr lang="en-US" sz="1200">
                        <a:solidFill>
                          <a:srgbClr val="1F1F1F"/>
                        </a:solidFill>
                        <a:effectLst/>
                        <a:latin typeface="Google Sans Text"/>
                      </a:endParaRPr>
                    </a:p>
                  </a:txBody>
                  <a:tcPr marL="51747" marR="51747" marT="34498" marB="344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rtl="0">
                        <a:spcAft>
                          <a:spcPts val="2400"/>
                        </a:spcAft>
                        <a:buNone/>
                      </a:pPr>
                      <a:r>
                        <a:rPr lang="en-US" sz="1200" dirty="0">
                          <a:effectLst/>
                        </a:rPr>
                        <a:t>Closed-Loop Response Feedback Model: Logs post-dispatch metrics (arrival times, shelter occupancy, resource utilization) and uses machine learning to retrain on historical and event outcomes, continuously improving future allocation efficiency. </a:t>
                      </a:r>
                      <a:endParaRPr lang="en-US" sz="1200" dirty="0">
                        <a:solidFill>
                          <a:srgbClr val="1F1F1F"/>
                        </a:solidFill>
                        <a:effectLst/>
                        <a:latin typeface="Google Sans Text"/>
                      </a:endParaRPr>
                    </a:p>
                  </a:txBody>
                  <a:tcPr marL="51747" marR="51747" marT="34498" marB="344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6617543"/>
                  </a:ext>
                </a:extLst>
              </a:tr>
            </a:tbl>
          </a:graphicData>
        </a:graphic>
      </p:graphicFrame>
    </p:spTree>
    <p:extLst>
      <p:ext uri="{BB962C8B-B14F-4D97-AF65-F5344CB8AC3E}">
        <p14:creationId xmlns:p14="http://schemas.microsoft.com/office/powerpoint/2010/main" val="3079690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44C9D-8A37-84A7-298E-F0A609DEC5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D145F8-07F2-1D72-51B2-1C3DB20540F1}"/>
              </a:ext>
            </a:extLst>
          </p:cNvPr>
          <p:cNvSpPr txBox="1"/>
          <p:nvPr/>
        </p:nvSpPr>
        <p:spPr>
          <a:xfrm>
            <a:off x="609601" y="273050"/>
            <a:ext cx="4011084" cy="1162050"/>
          </a:xfrm>
          <a:prstGeom prst="rect">
            <a:avLst/>
          </a:prstGeom>
        </p:spPr>
        <p:txBody>
          <a:bodyPr vert="horz" lIns="91440" tIns="45720" rIns="91440" bIns="45720" rtlCol="0" anchor="b">
            <a:normAutofit/>
          </a:bodyPr>
          <a:lstStyle/>
          <a:p>
            <a:pPr>
              <a:spcBef>
                <a:spcPct val="0"/>
              </a:spcBef>
              <a:spcAft>
                <a:spcPts val="600"/>
              </a:spcAft>
            </a:pPr>
            <a:r>
              <a:rPr lang="en-US" sz="2500" b="1" u="sng" kern="1200" dirty="0" err="1">
                <a:ea typeface="+mj-ea"/>
                <a:cs typeface="Adobe Devanagari" pitchFamily="18" charset="0"/>
              </a:rPr>
              <a:t>Methdology</a:t>
            </a:r>
            <a:endParaRPr lang="en-US" sz="2500" b="1" u="sng" kern="1200" dirty="0">
              <a:ea typeface="+mj-ea"/>
              <a:cs typeface="Adobe Devanagari" pitchFamily="18" charset="0"/>
            </a:endParaRPr>
          </a:p>
          <a:p>
            <a:pPr>
              <a:spcBef>
                <a:spcPct val="0"/>
              </a:spcBef>
              <a:spcAft>
                <a:spcPts val="600"/>
              </a:spcAft>
            </a:pPr>
            <a:endParaRPr lang="en-US" sz="2000" b="1" u="sng" kern="1200" dirty="0">
              <a:latin typeface="Adobe Devanagari" pitchFamily="18" charset="0"/>
              <a:ea typeface="+mj-ea"/>
              <a:cs typeface="Adobe Devanagari" pitchFamily="18" charset="0"/>
            </a:endParaRPr>
          </a:p>
        </p:txBody>
      </p:sp>
      <p:sp>
        <p:nvSpPr>
          <p:cNvPr id="3" name="TextBox 2">
            <a:extLst>
              <a:ext uri="{FF2B5EF4-FFF2-40B4-BE49-F238E27FC236}">
                <a16:creationId xmlns:a16="http://schemas.microsoft.com/office/drawing/2014/main" id="{49817233-75B3-265C-E9F9-F3B31B644A0F}"/>
              </a:ext>
            </a:extLst>
          </p:cNvPr>
          <p:cNvSpPr txBox="1"/>
          <p:nvPr/>
        </p:nvSpPr>
        <p:spPr>
          <a:xfrm>
            <a:off x="623603" y="1843768"/>
            <a:ext cx="4011084" cy="2603499"/>
          </a:xfrm>
          <a:prstGeom prst="rect">
            <a:avLst/>
          </a:prstGeom>
        </p:spPr>
        <p:txBody>
          <a:bodyPr vert="horz" lIns="91440" tIns="45720" rIns="91440" bIns="45720" rtlCol="0">
            <a:normAutofit/>
          </a:bodyPr>
          <a:lstStyle/>
          <a:p>
            <a:pPr>
              <a:spcBef>
                <a:spcPct val="20000"/>
              </a:spcBef>
            </a:pPr>
            <a:r>
              <a:rPr lang="en-US" sz="1400" kern="1200" dirty="0">
                <a:latin typeface="+mn-lt"/>
                <a:ea typeface="+mn-ea"/>
                <a:cs typeface="+mn-cs"/>
              </a:rPr>
              <a:t>Quantitative, experimental (comparative) research design</a:t>
            </a:r>
          </a:p>
          <a:p>
            <a:pPr>
              <a:spcBef>
                <a:spcPct val="20000"/>
              </a:spcBef>
            </a:pPr>
            <a:r>
              <a:rPr lang="en-US" sz="1400" kern="1200" dirty="0">
                <a:latin typeface="+mn-lt"/>
                <a:ea typeface="+mn-ea"/>
                <a:cs typeface="+mn-cs"/>
              </a:rPr>
              <a:t>Core question is comparative and quantifiable, with measurable ground truth (documented landslide occurrence vs. non-occurrence), not exploratory or interpretive</a:t>
            </a:r>
          </a:p>
          <a:p>
            <a:pPr>
              <a:spcBef>
                <a:spcPct val="20000"/>
              </a:spcBef>
            </a:pPr>
            <a:r>
              <a:rPr lang="en-US" sz="1400" kern="1200" dirty="0">
                <a:latin typeface="+mn-lt"/>
                <a:ea typeface="+mn-ea"/>
                <a:cs typeface="+mn-cs"/>
              </a:rPr>
              <a:t>Structured as a supervised ML modelling pipeline: </a:t>
            </a:r>
            <a:r>
              <a:rPr lang="en-US" sz="1400" b="1" kern="1200" dirty="0">
                <a:latin typeface="+mn-lt"/>
                <a:ea typeface="+mn-ea"/>
                <a:cs typeface="+mn-cs"/>
              </a:rPr>
              <a:t>data acquisition → feature engineering → comparative model training → statistical evaluation → validation against external benchmarks</a:t>
            </a:r>
            <a:endParaRPr lang="en-US" sz="1400" kern="1200" dirty="0">
              <a:latin typeface="+mn-lt"/>
              <a:ea typeface="+mn-ea"/>
              <a:cs typeface="+mn-cs"/>
            </a:endParaRPr>
          </a:p>
          <a:p>
            <a:pPr>
              <a:spcBef>
                <a:spcPct val="20000"/>
              </a:spcBef>
            </a:pPr>
            <a:endParaRPr lang="en-US" sz="1400" kern="1200" dirty="0">
              <a:latin typeface="+mn-lt"/>
              <a:ea typeface="+mn-ea"/>
              <a:cs typeface="+mn-cs"/>
            </a:endParaRPr>
          </a:p>
        </p:txBody>
      </p:sp>
      <p:graphicFrame>
        <p:nvGraphicFramePr>
          <p:cNvPr id="4" name="Table 3">
            <a:extLst>
              <a:ext uri="{FF2B5EF4-FFF2-40B4-BE49-F238E27FC236}">
                <a16:creationId xmlns:a16="http://schemas.microsoft.com/office/drawing/2014/main" id="{B013F1F8-8859-3EDB-8279-414DD6DA0BC6}"/>
              </a:ext>
            </a:extLst>
          </p:cNvPr>
          <p:cNvGraphicFramePr>
            <a:graphicFrameLocks noGrp="1"/>
          </p:cNvGraphicFramePr>
          <p:nvPr>
            <p:extLst>
              <p:ext uri="{D42A27DB-BD31-4B8C-83A1-F6EECF244321}">
                <p14:modId xmlns:p14="http://schemas.microsoft.com/office/powerpoint/2010/main" val="2844186565"/>
              </p:ext>
            </p:extLst>
          </p:nvPr>
        </p:nvGraphicFramePr>
        <p:xfrm>
          <a:off x="4780738" y="273051"/>
          <a:ext cx="6787659" cy="5853115"/>
        </p:xfrm>
        <a:graphic>
          <a:graphicData uri="http://schemas.openxmlformats.org/drawingml/2006/table">
            <a:tbl>
              <a:tblPr>
                <a:solidFill>
                  <a:srgbClr val="F7F7F7"/>
                </a:solidFill>
                <a:tableStyleId>{5C22544A-7EE6-4342-B048-85BDC9FD1C3A}</a:tableStyleId>
              </a:tblPr>
              <a:tblGrid>
                <a:gridCol w="1678776">
                  <a:extLst>
                    <a:ext uri="{9D8B030D-6E8A-4147-A177-3AD203B41FA5}">
                      <a16:colId xmlns:a16="http://schemas.microsoft.com/office/drawing/2014/main" val="3850419226"/>
                    </a:ext>
                  </a:extLst>
                </a:gridCol>
                <a:gridCol w="2723011">
                  <a:extLst>
                    <a:ext uri="{9D8B030D-6E8A-4147-A177-3AD203B41FA5}">
                      <a16:colId xmlns:a16="http://schemas.microsoft.com/office/drawing/2014/main" val="443106996"/>
                    </a:ext>
                  </a:extLst>
                </a:gridCol>
                <a:gridCol w="2385872">
                  <a:extLst>
                    <a:ext uri="{9D8B030D-6E8A-4147-A177-3AD203B41FA5}">
                      <a16:colId xmlns:a16="http://schemas.microsoft.com/office/drawing/2014/main" val="2603554867"/>
                    </a:ext>
                  </a:extLst>
                </a:gridCol>
              </a:tblGrid>
              <a:tr h="305427">
                <a:tc>
                  <a:txBody>
                    <a:bodyPr/>
                    <a:lstStyle/>
                    <a:p>
                      <a:pPr>
                        <a:buNone/>
                      </a:pPr>
                      <a:r>
                        <a:rPr lang="en-US" sz="1100" cap="none" spc="0">
                          <a:solidFill>
                            <a:schemeClr val="tx1"/>
                          </a:solidFill>
                        </a:rPr>
                        <a:t>Phase</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US" sz="1100" cap="none" spc="0">
                          <a:solidFill>
                            <a:schemeClr val="tx1"/>
                          </a:solidFill>
                        </a:rPr>
                        <a:t>Activities</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US" sz="1100" cap="none" spc="0">
                          <a:solidFill>
                            <a:schemeClr val="tx1"/>
                          </a:solidFill>
                        </a:rPr>
                        <a:t>Key Output</a:t>
                      </a:r>
                    </a:p>
                  </a:txBody>
                  <a:tcPr marL="18935" marR="18935" marT="42425" marB="64672"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val="741542814"/>
                  </a:ext>
                </a:extLst>
              </a:tr>
              <a:tr h="822806">
                <a:tc>
                  <a:txBody>
                    <a:bodyPr/>
                    <a:lstStyle/>
                    <a:p>
                      <a:pPr>
                        <a:buNone/>
                      </a:pPr>
                      <a:r>
                        <a:rPr lang="en-US" sz="1100" cap="none" spc="0">
                          <a:solidFill>
                            <a:schemeClr val="tx1"/>
                          </a:solidFill>
                        </a:rPr>
                        <a:t>1. Literature &amp; Research Design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dirty="0">
                          <a:solidFill>
                            <a:schemeClr val="tx1"/>
                          </a:solidFill>
                        </a:rPr>
                        <a:t>Literature review (landslide models, hazard mapping and Hazard Mapping); problem formulation &amp; objective refinement; methodology &amp; tech stack finalization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Research gap, research question, finalized methodology</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423432162"/>
                  </a:ext>
                </a:extLst>
              </a:tr>
              <a:tr h="650346">
                <a:tc>
                  <a:txBody>
                    <a:bodyPr/>
                    <a:lstStyle/>
                    <a:p>
                      <a:pPr>
                        <a:buNone/>
                      </a:pPr>
                      <a:r>
                        <a:rPr lang="en-US" sz="1100" cap="none" spc="0">
                          <a:solidFill>
                            <a:schemeClr val="tx1"/>
                          </a:solidFill>
                        </a:rPr>
                        <a:t>2. Data Preparation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DMC/NBRO data request &amp; acquisition; data cleaning &amp; preprocessing; GIS feature stacking (slope, soil, DEM)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Clean, geospatially-aligned dataset with equal positive/negative samples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58294728"/>
                  </a:ext>
                </a:extLst>
              </a:tr>
              <a:tr h="822806">
                <a:tc>
                  <a:txBody>
                    <a:bodyPr/>
                    <a:lstStyle/>
                    <a:p>
                      <a:pPr>
                        <a:buNone/>
                      </a:pPr>
                      <a:r>
                        <a:rPr lang="en-US" sz="1100" cap="none" spc="0">
                          <a:solidFill>
                            <a:schemeClr val="tx1"/>
                          </a:solidFill>
                        </a:rPr>
                        <a:t>3. Experiments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Baseline model experiments (XGBoost/LightGBM); feature importance &amp; hyperparameter tuning; explainability (SHAP) experimentation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Best-performing model configuration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32574784"/>
                  </a:ext>
                </a:extLst>
              </a:tr>
              <a:tr h="822806">
                <a:tc>
                  <a:txBody>
                    <a:bodyPr/>
                    <a:lstStyle/>
                    <a:p>
                      <a:pPr>
                        <a:buNone/>
                      </a:pPr>
                      <a:r>
                        <a:rPr lang="en-US" sz="1100" cap="none" spc="0">
                          <a:solidFill>
                            <a:schemeClr val="tx1"/>
                          </a:solidFill>
                        </a:rPr>
                        <a:t>4. Development</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Probability engine implementation; explainability layer integration; Web-GIS mapping UI development; localization (Sinhala/Tamil)</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Working landslide prediction system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502732580"/>
                  </a:ext>
                </a:extLst>
              </a:tr>
              <a:tr h="650346">
                <a:tc>
                  <a:txBody>
                    <a:bodyPr/>
                    <a:lstStyle/>
                    <a:p>
                      <a:pPr>
                        <a:buNone/>
                      </a:pPr>
                      <a:r>
                        <a:rPr lang="en-US" sz="1100" cap="none" spc="0">
                          <a:solidFill>
                            <a:schemeClr val="tx1"/>
                          </a:solidFill>
                        </a:rPr>
                        <a:t>5. Prototype &amp; Testing</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End-to-end component prototype; unit &amp; model validation testing; accessibility &amp; usability testing</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Validated, functioning prototype</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113153528"/>
                  </a:ext>
                </a:extLst>
              </a:tr>
              <a:tr h="477886">
                <a:tc>
                  <a:txBody>
                    <a:bodyPr/>
                    <a:lstStyle/>
                    <a:p>
                      <a:pPr>
                        <a:buNone/>
                      </a:pPr>
                      <a:r>
                        <a:rPr lang="en-US" sz="1100" cap="none" spc="0">
                          <a:solidFill>
                            <a:schemeClr val="tx1"/>
                          </a:solidFill>
                        </a:rPr>
                        <a:t>6. Integration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API contract finalization; integration with Decision Support component</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Component connected to full IDMERS system</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03342953"/>
                  </a:ext>
                </a:extLst>
              </a:tr>
              <a:tr h="822806">
                <a:tc>
                  <a:txBody>
                    <a:bodyPr/>
                    <a:lstStyle/>
                    <a:p>
                      <a:pPr>
                        <a:buNone/>
                      </a:pPr>
                      <a:r>
                        <a:rPr lang="en-US" sz="1100" cap="none" spc="0">
                          <a:solidFill>
                            <a:schemeClr val="tx1"/>
                          </a:solidFill>
                        </a:rPr>
                        <a:t>7. Evaluation &amp; Analysis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Model accuracy evaluation (extra-domain/spatial validation); system performance evaluation; results analysis &amp; discussion</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100" cap="none" spc="0">
                          <a:solidFill>
                            <a:schemeClr val="tx1"/>
                          </a:solidFill>
                        </a:rPr>
                        <a:t>Final accuracy, recall, and explainability results vs. benchmarks</a:t>
                      </a:r>
                    </a:p>
                  </a:txBody>
                  <a:tcPr marL="18935" marR="18935" marT="42425" marB="64672"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81986496"/>
                  </a:ext>
                </a:extLst>
              </a:tr>
              <a:tr h="477886">
                <a:tc>
                  <a:txBody>
                    <a:bodyPr/>
                    <a:lstStyle/>
                    <a:p>
                      <a:pPr>
                        <a:buNone/>
                      </a:pPr>
                      <a:r>
                        <a:rPr lang="en-US" sz="1100" cap="none" spc="0">
                          <a:solidFill>
                            <a:schemeClr val="tx1"/>
                          </a:solidFill>
                        </a:rPr>
                        <a:t>8. Final Presentation</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1100" cap="none" spc="0">
                          <a:solidFill>
                            <a:schemeClr val="tx1"/>
                          </a:solidFill>
                        </a:rPr>
                        <a:t>Draft report writing; review &amp; revisions; final report &amp; viva preparation</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1100" cap="none" spc="0" dirty="0">
                          <a:solidFill>
                            <a:schemeClr val="tx1"/>
                          </a:solidFill>
                        </a:rPr>
                        <a:t>Completed dissertation + defense</a:t>
                      </a:r>
                    </a:p>
                  </a:txBody>
                  <a:tcPr marL="18935" marR="18935" marT="42425" marB="64672"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2038458101"/>
                  </a:ext>
                </a:extLst>
              </a:tr>
            </a:tbl>
          </a:graphicData>
        </a:graphic>
      </p:graphicFrame>
      <p:sp>
        <p:nvSpPr>
          <p:cNvPr id="5" name="TextBox 4">
            <a:extLst>
              <a:ext uri="{FF2B5EF4-FFF2-40B4-BE49-F238E27FC236}">
                <a16:creationId xmlns:a16="http://schemas.microsoft.com/office/drawing/2014/main" id="{00A3252C-8105-CC8B-4E43-157BCE158C97}"/>
              </a:ext>
            </a:extLst>
          </p:cNvPr>
          <p:cNvSpPr txBox="1"/>
          <p:nvPr/>
        </p:nvSpPr>
        <p:spPr>
          <a:xfrm>
            <a:off x="4152263" y="6534834"/>
            <a:ext cx="4025782" cy="369332"/>
          </a:xfrm>
          <a:prstGeom prst="rect">
            <a:avLst/>
          </a:prstGeom>
          <a:noFill/>
        </p:spPr>
        <p:txBody>
          <a:bodyPr wrap="none" rtlCol="0">
            <a:spAutoFit/>
          </a:bodyPr>
          <a:lstStyle/>
          <a:p>
            <a:r>
              <a:rPr lang="en-US" dirty="0"/>
              <a:t>IT23411562|Palihena M B | J26-IT-334</a:t>
            </a:r>
          </a:p>
        </p:txBody>
      </p:sp>
      <p:sp>
        <p:nvSpPr>
          <p:cNvPr id="6" name="TextBox 5">
            <a:extLst>
              <a:ext uri="{FF2B5EF4-FFF2-40B4-BE49-F238E27FC236}">
                <a16:creationId xmlns:a16="http://schemas.microsoft.com/office/drawing/2014/main" id="{611A0992-F967-F7C0-A292-0AF817C7E3F4}"/>
              </a:ext>
            </a:extLst>
          </p:cNvPr>
          <p:cNvSpPr txBox="1"/>
          <p:nvPr/>
        </p:nvSpPr>
        <p:spPr>
          <a:xfrm>
            <a:off x="609601" y="1340607"/>
            <a:ext cx="1927579" cy="646331"/>
          </a:xfrm>
          <a:prstGeom prst="rect">
            <a:avLst/>
          </a:prstGeom>
          <a:noFill/>
        </p:spPr>
        <p:txBody>
          <a:bodyPr wrap="none" rtlCol="0">
            <a:spAutoFit/>
          </a:bodyPr>
          <a:lstStyle/>
          <a:p>
            <a:r>
              <a:rPr lang="en-US" b="1" dirty="0"/>
              <a:t>Research Design</a:t>
            </a:r>
            <a:endParaRPr lang="en-US" dirty="0"/>
          </a:p>
          <a:p>
            <a:endParaRPr lang="en-US" dirty="0"/>
          </a:p>
        </p:txBody>
      </p:sp>
    </p:spTree>
    <p:extLst>
      <p:ext uri="{BB962C8B-B14F-4D97-AF65-F5344CB8AC3E}">
        <p14:creationId xmlns:p14="http://schemas.microsoft.com/office/powerpoint/2010/main" val="2440893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E141F-B3DE-558F-F953-4F01C1D94C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3A587A-86B4-BA05-8FE5-FFE90A656BF4}"/>
              </a:ext>
            </a:extLst>
          </p:cNvPr>
          <p:cNvSpPr txBox="1"/>
          <p:nvPr/>
        </p:nvSpPr>
        <p:spPr>
          <a:xfrm>
            <a:off x="4267200" y="762000"/>
            <a:ext cx="2981585" cy="477054"/>
          </a:xfrm>
          <a:prstGeom prst="rect">
            <a:avLst/>
          </a:prstGeom>
          <a:noFill/>
        </p:spPr>
        <p:txBody>
          <a:bodyPr wrap="none" rtlCol="0">
            <a:spAutoFit/>
          </a:bodyPr>
          <a:lstStyle/>
          <a:p>
            <a:r>
              <a:rPr lang="en-US" sz="2500" b="1" dirty="0"/>
              <a:t>Validation Strategy</a:t>
            </a:r>
          </a:p>
        </p:txBody>
      </p:sp>
      <p:sp>
        <p:nvSpPr>
          <p:cNvPr id="4" name="TextBox 3">
            <a:extLst>
              <a:ext uri="{FF2B5EF4-FFF2-40B4-BE49-F238E27FC236}">
                <a16:creationId xmlns:a16="http://schemas.microsoft.com/office/drawing/2014/main" id="{02B2C869-46EC-6AA7-58E5-AFB8157AD7CD}"/>
              </a:ext>
            </a:extLst>
          </p:cNvPr>
          <p:cNvSpPr txBox="1"/>
          <p:nvPr/>
        </p:nvSpPr>
        <p:spPr>
          <a:xfrm>
            <a:off x="4343400" y="6477000"/>
            <a:ext cx="4025782" cy="369332"/>
          </a:xfrm>
          <a:prstGeom prst="rect">
            <a:avLst/>
          </a:prstGeom>
          <a:noFill/>
        </p:spPr>
        <p:txBody>
          <a:bodyPr wrap="none" rtlCol="0">
            <a:spAutoFit/>
          </a:bodyPr>
          <a:lstStyle/>
          <a:p>
            <a:r>
              <a:rPr lang="en-US" dirty="0"/>
              <a:t>IT23411562|Palihena M B | J26-IT-334</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DE8A35C-8686-7F14-5B64-E45B2604BC25}"/>
                  </a:ext>
                </a:extLst>
              </p:cNvPr>
              <p:cNvSpPr txBox="1"/>
              <p:nvPr/>
            </p:nvSpPr>
            <p:spPr>
              <a:xfrm>
                <a:off x="1295400" y="1447800"/>
                <a:ext cx="9446341" cy="4247317"/>
              </a:xfrm>
              <a:prstGeom prst="rect">
                <a:avLst/>
              </a:prstGeom>
              <a:noFill/>
            </p:spPr>
            <p:txBody>
              <a:bodyPr wrap="square" rtlCol="0">
                <a:spAutoFit/>
              </a:bodyPr>
              <a:lstStyle/>
              <a:p>
                <a:pPr algn="just"/>
                <a:r>
                  <a:rPr lang="en-US" dirty="0"/>
                  <a:t>Following the simulation-based comparative approach established in humanitarian logistics literature (</a:t>
                </a:r>
                <a:r>
                  <a:rPr lang="en-US" dirty="0" err="1"/>
                  <a:t>Barbarosoglu</a:t>
                </a:r>
                <a:r>
                  <a:rPr lang="en-US" dirty="0"/>
                  <a:t> &amp; Arda, 2004), this component validates the allocation and routing engines using scenario-based historical replays. The system replays documented multi-district disaster scenarios—specifically Cyclone </a:t>
                </a:r>
                <a:r>
                  <a:rPr lang="en-US" dirty="0" err="1"/>
                  <a:t>Ditwah</a:t>
                </a:r>
                <a:r>
                  <a:rPr lang="en-US" dirty="0"/>
                  <a:t> (2025) and the 2017 floods—under identical operational constraints to benchmark performance directly against a traditional manual dispatch baseline. Routing output integrity is verified through spatial network validation by intersecting generated paths with documented road and bridge damage records (e.g., 78 damaged roads and 15 bridges from Cyclone </a:t>
                </a:r>
                <a:r>
                  <a:rPr lang="en-US" dirty="0" err="1"/>
                  <a:t>Ditwah</a:t>
                </a:r>
                <a:r>
                  <a:rPr lang="en-US" dirty="0"/>
                  <a:t> PDNA reports) to guarantee 100% exclusion of compromised road segments. To validate the closed-loop </a:t>
                </a:r>
                <a:r>
                  <a:rPr lang="en-US" dirty="0" err="1"/>
                  <a:t>fstandard</a:t>
                </a:r>
                <a:r>
                  <a:rPr lang="en-US" dirty="0"/>
                  <a:t> </a:t>
                </a:r>
                <a14:m>
                  <m:oMath xmlns:m="http://schemas.openxmlformats.org/officeDocument/2006/math">
                    <m:r>
                      <a:rPr lang="en-US" i="1"/>
                      <m:t>𝑘</m:t>
                    </m:r>
                  </m:oMath>
                </a14:m>
                <a:r>
                  <a:rPr lang="en-US" dirty="0"/>
                  <a:t>-fold cross-validation is conducted alongside temporal leave-one-event-out cross-validation, where an entire unseen historical disaster event is held out during training. Statistical evaluation of response time predictions relies on Mean Absolute Error (MAE) and Root Mean Squared Error (RMSE), while operational performance improvements across allocation iterations are assessed using paired statistical significance testing to confirm genuine efficiency gains over successive events</a:t>
                </a:r>
              </a:p>
            </p:txBody>
          </p:sp>
        </mc:Choice>
        <mc:Fallback>
          <p:sp>
            <p:nvSpPr>
              <p:cNvPr id="5" name="TextBox 4">
                <a:extLst>
                  <a:ext uri="{FF2B5EF4-FFF2-40B4-BE49-F238E27FC236}">
                    <a16:creationId xmlns:a16="http://schemas.microsoft.com/office/drawing/2014/main" id="{9DE8A35C-8686-7F14-5B64-E45B2604BC25}"/>
                  </a:ext>
                </a:extLst>
              </p:cNvPr>
              <p:cNvSpPr txBox="1">
                <a:spLocks noRot="1" noChangeAspect="1" noMove="1" noResize="1" noEditPoints="1" noAdjustHandles="1" noChangeArrowheads="1" noChangeShapeType="1" noTextEdit="1"/>
              </p:cNvSpPr>
              <p:nvPr/>
            </p:nvSpPr>
            <p:spPr>
              <a:xfrm>
                <a:off x="1295400" y="1447800"/>
                <a:ext cx="9446341" cy="4247317"/>
              </a:xfrm>
              <a:prstGeom prst="rect">
                <a:avLst/>
              </a:prstGeom>
              <a:blipFill>
                <a:blip r:embed="rId2"/>
                <a:stretch>
                  <a:fillRect l="-581" t="-1006" r="-581" b="-1149"/>
                </a:stretch>
              </a:blipFill>
            </p:spPr>
            <p:txBody>
              <a:bodyPr/>
              <a:lstStyle/>
              <a:p>
                <a:r>
                  <a:rPr lang="en-US">
                    <a:noFill/>
                  </a:rPr>
                  <a:t> </a:t>
                </a:r>
              </a:p>
            </p:txBody>
          </p:sp>
        </mc:Fallback>
      </mc:AlternateContent>
    </p:spTree>
    <p:extLst>
      <p:ext uri="{BB962C8B-B14F-4D97-AF65-F5344CB8AC3E}">
        <p14:creationId xmlns:p14="http://schemas.microsoft.com/office/powerpoint/2010/main" val="548806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A4DE-102C-564A-6E26-BB91A22173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6E1E31-8F4C-5D18-E67E-AF7738042E7A}"/>
              </a:ext>
            </a:extLst>
          </p:cNvPr>
          <p:cNvSpPr txBox="1"/>
          <p:nvPr/>
        </p:nvSpPr>
        <p:spPr>
          <a:xfrm>
            <a:off x="228600" y="152400"/>
            <a:ext cx="4476354" cy="861774"/>
          </a:xfrm>
          <a:prstGeom prst="rect">
            <a:avLst/>
          </a:prstGeom>
          <a:noFill/>
        </p:spPr>
        <p:txBody>
          <a:bodyPr wrap="none" rtlCol="0">
            <a:spAutoFit/>
          </a:bodyPr>
          <a:lstStyle/>
          <a:p>
            <a:r>
              <a:rPr lang="en-US" sz="2500" b="1" u="sng" dirty="0">
                <a:cs typeface="Adobe Devanagari" pitchFamily="18" charset="0"/>
              </a:rPr>
              <a:t>System Architecture Diagram</a:t>
            </a:r>
          </a:p>
          <a:p>
            <a:endParaRPr lang="en-US" sz="2500" u="sng" dirty="0"/>
          </a:p>
        </p:txBody>
      </p:sp>
      <p:sp>
        <p:nvSpPr>
          <p:cNvPr id="3" name="TextBox 2">
            <a:extLst>
              <a:ext uri="{FF2B5EF4-FFF2-40B4-BE49-F238E27FC236}">
                <a16:creationId xmlns:a16="http://schemas.microsoft.com/office/drawing/2014/main" id="{11148370-0B4D-DFD5-25B7-A78C5DD72682}"/>
              </a:ext>
            </a:extLst>
          </p:cNvPr>
          <p:cNvSpPr txBox="1"/>
          <p:nvPr/>
        </p:nvSpPr>
        <p:spPr>
          <a:xfrm>
            <a:off x="4191000" y="6477000"/>
            <a:ext cx="4025782" cy="369332"/>
          </a:xfrm>
          <a:prstGeom prst="rect">
            <a:avLst/>
          </a:prstGeom>
          <a:noFill/>
        </p:spPr>
        <p:txBody>
          <a:bodyPr wrap="none" rtlCol="0">
            <a:spAutoFit/>
          </a:bodyPr>
          <a:lstStyle/>
          <a:p>
            <a:r>
              <a:rPr lang="en-US" dirty="0"/>
              <a:t>IT23411562|Palihena M B | J26-IT-334</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AD92E46-B7FD-4887-D12F-60BC60AFD0B5}"/>
                  </a:ext>
                </a:extLst>
              </p:cNvPr>
              <p:cNvSpPr txBox="1"/>
              <p:nvPr/>
            </p:nvSpPr>
            <p:spPr>
              <a:xfrm>
                <a:off x="228601" y="685800"/>
                <a:ext cx="4572000" cy="5493812"/>
              </a:xfrm>
              <a:prstGeom prst="rect">
                <a:avLst/>
              </a:prstGeom>
              <a:noFill/>
            </p:spPr>
            <p:txBody>
              <a:bodyPr wrap="square" rtlCol="0">
                <a:spAutoFit/>
              </a:bodyPr>
              <a:lstStyle/>
              <a:p>
                <a:r>
                  <a:rPr lang="en-US" sz="1300" b="1" dirty="0"/>
                  <a:t>Inputs (4 feeds):</a:t>
                </a:r>
                <a:r>
                  <a:rPr lang="en-US" sz="1300" dirty="0"/>
                  <a:t> Prioritized Hazard Alerts (Multi-Hazard Early Warning Decision Support Component), Resource Inventory Data (Ambulances, Boats, Shelters, Relief Stock – </a:t>
                </a:r>
                <a:r>
                  <a:rPr lang="en-US" sz="1300" dirty="0" err="1"/>
                  <a:t>Suwa</a:t>
                </a:r>
                <a:r>
                  <a:rPr lang="en-US" sz="1300" dirty="0"/>
                  <a:t> Seriya / DMC / DDMCU), Road Network &amp; Hazard-Blocked Segments (OSM / </a:t>
                </a:r>
                <a:r>
                  <a:rPr lang="en-US" sz="1300" dirty="0" err="1"/>
                  <a:t>Geofabrik</a:t>
                </a:r>
                <a:r>
                  <a:rPr lang="en-US" sz="1300" dirty="0"/>
                  <a:t>, Flood &amp; Landslide Extent Layers), Historical Response Data (</a:t>
                </a:r>
                <a:r>
                  <a:rPr lang="en-US" sz="1300" dirty="0" err="1"/>
                  <a:t>DesInventar</a:t>
                </a:r>
                <a:r>
                  <a:rPr lang="en-US" sz="1300" dirty="0"/>
                  <a:t>, DMC PDNA Reports) </a:t>
                </a:r>
              </a:p>
              <a:p>
                <a:endParaRPr lang="en-US" sz="1300" dirty="0"/>
              </a:p>
              <a:p>
                <a:r>
                  <a:rPr lang="en-US" sz="1300" b="1" dirty="0"/>
                  <a:t>Part 1 - Resource-Aware Dispatch Engine:</a:t>
                </a:r>
                <a:r>
                  <a:rPr lang="en-US" sz="1300" dirty="0"/>
                  <a:t> Real-Time Resource Availability Check </a:t>
                </a:r>
                <a14:m>
                  <m:oMath xmlns:m="http://schemas.openxmlformats.org/officeDocument/2006/math">
                    <m:r>
                      <a:rPr lang="en-US" sz="1300"/>
                      <m:t>→</m:t>
                    </m:r>
                  </m:oMath>
                </a14:m>
                <a:r>
                  <a:rPr lang="en-US" sz="1300" dirty="0"/>
                  <a:t>Scarcity-Based Priority Queuing </a:t>
                </a:r>
                <a14:m>
                  <m:oMath xmlns:m="http://schemas.openxmlformats.org/officeDocument/2006/math">
                    <m:r>
                      <a:rPr lang="en-US" sz="1300"/>
                      <m:t>→</m:t>
                    </m:r>
                  </m:oMath>
                </a14:m>
                <a:r>
                  <a:rPr lang="en-US" sz="1300" dirty="0"/>
                  <a:t>Constraint-Based Allocation (Google OR-Tools) </a:t>
                </a:r>
              </a:p>
              <a:p>
                <a:endParaRPr lang="en-US" sz="1300" dirty="0"/>
              </a:p>
              <a:p>
                <a:r>
                  <a:rPr lang="en-US" sz="1300" b="1" dirty="0"/>
                  <a:t>Part 2 - Hazard-Aware Dual Route Optimization:</a:t>
                </a:r>
                <a:r>
                  <a:rPr lang="en-US" sz="1300" dirty="0"/>
                  <a:t> Road Graph Construction (</a:t>
                </a:r>
                <a:r>
                  <a:rPr lang="en-US" sz="1300" dirty="0" err="1"/>
                  <a:t>OSMnx</a:t>
                </a:r>
                <a:r>
                  <a:rPr lang="en-US" sz="1300" dirty="0"/>
                  <a:t> / </a:t>
                </a:r>
                <a:r>
                  <a:rPr lang="en-US" sz="1300" dirty="0" err="1"/>
                  <a:t>NetworkX</a:t>
                </a:r>
                <a:r>
                  <a:rPr lang="en-US" sz="1300" dirty="0"/>
                  <a:t>) </a:t>
                </a:r>
                <a14:m>
                  <m:oMath xmlns:m="http://schemas.openxmlformats.org/officeDocument/2006/math">
                    <m:r>
                      <a:rPr lang="en-US" sz="1300"/>
                      <m:t>→</m:t>
                    </m:r>
                  </m:oMath>
                </a14:m>
                <a:r>
                  <a:rPr lang="en-US" sz="1300" dirty="0"/>
                  <a:t>Hazard-Blocked Segment </a:t>
                </a:r>
                <a:r>
                  <a:rPr lang="en-US" sz="1300" dirty="0" err="1"/>
                  <a:t>Exclusionto</a:t>
                </a:r>
                <a:r>
                  <a:rPr lang="en-US" sz="1300" dirty="0"/>
                  <a:t> Evacuation &amp; Rescue Route Generation </a:t>
                </a:r>
              </a:p>
              <a:p>
                <a:endParaRPr lang="en-US" sz="1300" dirty="0"/>
              </a:p>
              <a:p>
                <a:r>
                  <a:rPr lang="en-US" sz="1300" b="1" dirty="0"/>
                  <a:t>Part 3 - Multi-Channel Dispatch &amp; Closed-Loop Feedback:</a:t>
                </a:r>
                <a:r>
                  <a:rPr lang="en-US" sz="1300" dirty="0"/>
                  <a:t> Multi-Channel Alert Delivery (SMS / App Dispatch in Sinhala, Tamil, English) + Response Outcome Logging </a:t>
                </a:r>
                <a14:m>
                  <m:oMath xmlns:m="http://schemas.openxmlformats.org/officeDocument/2006/math">
                    <m:r>
                      <a:rPr lang="en-US" sz="1300"/>
                      <m:t>→</m:t>
                    </m:r>
                  </m:oMath>
                </a14:m>
                <a:r>
                  <a:rPr lang="en-US" sz="1300" dirty="0"/>
                  <a:t>Closed-Loop Learning Model Retraining </a:t>
                </a:r>
              </a:p>
              <a:p>
                <a:endParaRPr lang="en-US" sz="1300" dirty="0"/>
              </a:p>
              <a:p>
                <a:r>
                  <a:rPr lang="en-US" sz="1300" b="1" dirty="0"/>
                  <a:t>Output:</a:t>
                </a:r>
                <a:r>
                  <a:rPr lang="en-US" sz="1300" dirty="0"/>
                  <a:t> All three parts converge into an Operational Dispatch, Optimized Route, and Multi-Channel Alert Package </a:t>
                </a:r>
              </a:p>
              <a:p>
                <a:r>
                  <a:rPr lang="en-US" sz="1300" b="1" dirty="0"/>
                  <a:t>Handoff:</a:t>
                </a:r>
                <a:r>
                  <a:rPr lang="en-US" sz="1300" dirty="0"/>
                  <a:t> Transmitted directly to Citizens, DMC Officers, and District Authorities for execution and localized emergency response</a:t>
                </a:r>
              </a:p>
              <a:p>
                <a:endParaRPr lang="en-US" sz="1300" dirty="0"/>
              </a:p>
            </p:txBody>
          </p:sp>
        </mc:Choice>
        <mc:Fallback>
          <p:sp>
            <p:nvSpPr>
              <p:cNvPr id="5" name="TextBox 4">
                <a:extLst>
                  <a:ext uri="{FF2B5EF4-FFF2-40B4-BE49-F238E27FC236}">
                    <a16:creationId xmlns:a16="http://schemas.microsoft.com/office/drawing/2014/main" id="{6AD92E46-B7FD-4887-D12F-60BC60AFD0B5}"/>
                  </a:ext>
                </a:extLst>
              </p:cNvPr>
              <p:cNvSpPr txBox="1">
                <a:spLocks noRot="1" noChangeAspect="1" noMove="1" noResize="1" noEditPoints="1" noAdjustHandles="1" noChangeArrowheads="1" noChangeShapeType="1" noTextEdit="1"/>
              </p:cNvSpPr>
              <p:nvPr/>
            </p:nvSpPr>
            <p:spPr>
              <a:xfrm>
                <a:off x="228601" y="685800"/>
                <a:ext cx="4572000" cy="5493812"/>
              </a:xfrm>
              <a:prstGeom prst="rect">
                <a:avLst/>
              </a:prstGeom>
              <a:blipFill>
                <a:blip r:embed="rId2"/>
                <a:stretch>
                  <a:fillRect l="-267" t="-111" r="-66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649F67E-2236-03AF-F21E-0DD44358FDBE}"/>
              </a:ext>
            </a:extLst>
          </p:cNvPr>
          <p:cNvPicPr>
            <a:picLocks noChangeAspect="1"/>
          </p:cNvPicPr>
          <p:nvPr/>
        </p:nvPicPr>
        <p:blipFill>
          <a:blip r:embed="rId3"/>
          <a:stretch>
            <a:fillRect/>
          </a:stretch>
        </p:blipFill>
        <p:spPr>
          <a:xfrm>
            <a:off x="5715000" y="226180"/>
            <a:ext cx="5846303" cy="5919019"/>
          </a:xfrm>
          <a:prstGeom prst="rect">
            <a:avLst/>
          </a:prstGeom>
          <a:ln>
            <a:solidFill>
              <a:schemeClr val="tx1"/>
            </a:solidFill>
          </a:ln>
        </p:spPr>
      </p:pic>
    </p:spTree>
    <p:extLst>
      <p:ext uri="{BB962C8B-B14F-4D97-AF65-F5344CB8AC3E}">
        <p14:creationId xmlns:p14="http://schemas.microsoft.com/office/powerpoint/2010/main" val="1551254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6635F-D786-E77E-8407-BF0E353AF5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96C701-8AB0-37DB-824E-F85D03DF5DC9}"/>
              </a:ext>
            </a:extLst>
          </p:cNvPr>
          <p:cNvSpPr txBox="1"/>
          <p:nvPr/>
        </p:nvSpPr>
        <p:spPr>
          <a:xfrm>
            <a:off x="152400" y="152400"/>
            <a:ext cx="5006563" cy="369332"/>
          </a:xfrm>
          <a:prstGeom prst="rect">
            <a:avLst/>
          </a:prstGeom>
          <a:noFill/>
        </p:spPr>
        <p:txBody>
          <a:bodyPr wrap="none" rtlCol="0">
            <a:spAutoFit/>
          </a:bodyPr>
          <a:lstStyle/>
          <a:p>
            <a:r>
              <a:rPr lang="en-US" b="1" dirty="0"/>
              <a:t>Functional and Non-Functional Requirements</a:t>
            </a:r>
          </a:p>
        </p:txBody>
      </p:sp>
      <p:sp>
        <p:nvSpPr>
          <p:cNvPr id="5" name="TextBox 4">
            <a:extLst>
              <a:ext uri="{FF2B5EF4-FFF2-40B4-BE49-F238E27FC236}">
                <a16:creationId xmlns:a16="http://schemas.microsoft.com/office/drawing/2014/main" id="{CA11B55E-EC5F-EC97-E2CF-182A0795CE52}"/>
              </a:ext>
            </a:extLst>
          </p:cNvPr>
          <p:cNvSpPr txBox="1"/>
          <p:nvPr/>
        </p:nvSpPr>
        <p:spPr>
          <a:xfrm>
            <a:off x="152400" y="521732"/>
            <a:ext cx="2666371" cy="369332"/>
          </a:xfrm>
          <a:prstGeom prst="rect">
            <a:avLst/>
          </a:prstGeom>
          <a:noFill/>
        </p:spPr>
        <p:txBody>
          <a:bodyPr wrap="none" rtlCol="0">
            <a:spAutoFit/>
          </a:bodyPr>
          <a:lstStyle/>
          <a:p>
            <a:r>
              <a:rPr lang="en-US" dirty="0"/>
              <a:t>Functional Requirements</a:t>
            </a:r>
          </a:p>
        </p:txBody>
      </p:sp>
      <p:sp>
        <p:nvSpPr>
          <p:cNvPr id="8" name="TextBox 7">
            <a:extLst>
              <a:ext uri="{FF2B5EF4-FFF2-40B4-BE49-F238E27FC236}">
                <a16:creationId xmlns:a16="http://schemas.microsoft.com/office/drawing/2014/main" id="{881F15ED-A4B8-AFAE-F275-5772F026BFE4}"/>
              </a:ext>
            </a:extLst>
          </p:cNvPr>
          <p:cNvSpPr txBox="1"/>
          <p:nvPr/>
        </p:nvSpPr>
        <p:spPr>
          <a:xfrm>
            <a:off x="5891981" y="521732"/>
            <a:ext cx="3201774" cy="369332"/>
          </a:xfrm>
          <a:prstGeom prst="rect">
            <a:avLst/>
          </a:prstGeom>
          <a:noFill/>
        </p:spPr>
        <p:txBody>
          <a:bodyPr wrap="none" rtlCol="0">
            <a:spAutoFit/>
          </a:bodyPr>
          <a:lstStyle/>
          <a:p>
            <a:r>
              <a:rPr lang="en-US" dirty="0"/>
              <a:t>Non -Functional Requirements</a:t>
            </a:r>
          </a:p>
        </p:txBody>
      </p:sp>
      <p:graphicFrame>
        <p:nvGraphicFramePr>
          <p:cNvPr id="10" name="Table 9">
            <a:extLst>
              <a:ext uri="{FF2B5EF4-FFF2-40B4-BE49-F238E27FC236}">
                <a16:creationId xmlns:a16="http://schemas.microsoft.com/office/drawing/2014/main" id="{85E112F8-64C2-0135-AB4D-EA7EEF8B6510}"/>
              </a:ext>
            </a:extLst>
          </p:cNvPr>
          <p:cNvGraphicFramePr>
            <a:graphicFrameLocks noGrp="1"/>
          </p:cNvGraphicFramePr>
          <p:nvPr/>
        </p:nvGraphicFramePr>
        <p:xfrm>
          <a:off x="152400" y="891064"/>
          <a:ext cx="5744076" cy="5056922"/>
        </p:xfrm>
        <a:graphic>
          <a:graphicData uri="http://schemas.openxmlformats.org/drawingml/2006/table">
            <a:tbl>
              <a:tblPr>
                <a:tableStyleId>{5C22544A-7EE6-4342-B048-85BDC9FD1C3A}</a:tableStyleId>
              </a:tblPr>
              <a:tblGrid>
                <a:gridCol w="215900">
                  <a:extLst>
                    <a:ext uri="{9D8B030D-6E8A-4147-A177-3AD203B41FA5}">
                      <a16:colId xmlns:a16="http://schemas.microsoft.com/office/drawing/2014/main" val="874534378"/>
                    </a:ext>
                  </a:extLst>
                </a:gridCol>
                <a:gridCol w="5528176">
                  <a:extLst>
                    <a:ext uri="{9D8B030D-6E8A-4147-A177-3AD203B41FA5}">
                      <a16:colId xmlns:a16="http://schemas.microsoft.com/office/drawing/2014/main" val="1461780090"/>
                    </a:ext>
                  </a:extLst>
                </a:gridCol>
              </a:tblGrid>
              <a:tr h="169917">
                <a:tc>
                  <a:txBody>
                    <a:bodyPr/>
                    <a:lstStyle/>
                    <a:p>
                      <a:pPr>
                        <a:buNone/>
                      </a:pPr>
                      <a:endParaRPr lang="en-US" sz="1100" dirty="0"/>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Requirement</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163501"/>
                  </a:ext>
                </a:extLst>
              </a:tr>
              <a:tr h="683250">
                <a:tc>
                  <a:txBody>
                    <a:bodyPr/>
                    <a:lstStyle/>
                    <a:p>
                      <a:pPr>
                        <a:buNone/>
                      </a:pPr>
                      <a:r>
                        <a:rPr lang="en-US" sz="1100"/>
                        <a:t>1</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ingest historical landslide records, rainfall data, slope/soil data, and land-use data from NBRO, the Department of Meteorology, and open geospatial sources (SRTM, OSM)</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4840552"/>
                  </a:ext>
                </a:extLst>
              </a:tr>
              <a:tr h="683250">
                <a:tc>
                  <a:txBody>
                    <a:bodyPr/>
                    <a:lstStyle/>
                    <a:p>
                      <a:pPr>
                        <a:buNone/>
                      </a:pPr>
                      <a:r>
                        <a:rPr lang="en-US" sz="1100"/>
                        <a:t>2</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compute a landslide probability score for a given location using a multi-factor model combining rainfall intensity/duration, slope geometry, and soil saturation</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7954840"/>
                  </a:ext>
                </a:extLst>
              </a:tr>
              <a:tr h="683250">
                <a:tc>
                  <a:txBody>
                    <a:bodyPr/>
                    <a:lstStyle/>
                    <a:p>
                      <a:pPr>
                        <a:buNone/>
                      </a:pPr>
                      <a:r>
                        <a:rPr lang="en-US" sz="1100"/>
                        <a:t>3</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classify predicted landslide risk into discrete categories (Very Low, Low, Moderate, High, Very High), consistent with established susceptibility-mapping conventions</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824399"/>
                  </a:ext>
                </a:extLst>
              </a:tr>
              <a:tr h="683250">
                <a:tc>
                  <a:txBody>
                    <a:bodyPr/>
                    <a:lstStyle/>
                    <a:p>
                      <a:pPr>
                        <a:buNone/>
                      </a:pPr>
                      <a:r>
                        <a:rPr lang="en-US" sz="1100"/>
                        <a:t>4</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generate an explainable breakdown of each prediction, showing the relative contribution of environmental factors (rainfall, slope, soil) versus human factors (road cutting, deforestation, drainage obstruction)</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169176"/>
                  </a:ext>
                </a:extLst>
              </a:tr>
              <a:tr h="525577">
                <a:tc>
                  <a:txBody>
                    <a:bodyPr/>
                    <a:lstStyle/>
                    <a:p>
                      <a:pPr>
                        <a:buNone/>
                      </a:pPr>
                      <a:r>
                        <a:rPr lang="en-US" sz="1100"/>
                        <a:t>5</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a:t>The system shall display predictions on a Web-GIS live map at village/DS-division granularity for the pilot area (Ambagamuwa, Kotmale, Walapane)</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1629088"/>
                  </a:ext>
                </a:extLst>
              </a:tr>
              <a:tr h="367904">
                <a:tc>
                  <a:txBody>
                    <a:bodyPr/>
                    <a:lstStyle/>
                    <a:p>
                      <a:pPr>
                        <a:buNone/>
                      </a:pPr>
                      <a:r>
                        <a:rPr lang="en-US" sz="1100"/>
                        <a:t>6</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support map interface localization in Sinhala and Tamil</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3788683"/>
                  </a:ext>
                </a:extLst>
              </a:tr>
              <a:tr h="683250">
                <a:tc>
                  <a:txBody>
                    <a:bodyPr/>
                    <a:lstStyle/>
                    <a:p>
                      <a:pPr>
                        <a:buNone/>
                      </a:pPr>
                      <a:r>
                        <a:rPr lang="en-US" sz="1100"/>
                        <a:t>7</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output a structured, geotagged hazard record (location, probability, confidence, contributing-factor breakdown) consumable by the Decision Support component via a defined API contract</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2432969"/>
                  </a:ext>
                </a:extLst>
              </a:tr>
              <a:tr h="525577">
                <a:tc>
                  <a:txBody>
                    <a:bodyPr/>
                    <a:lstStyle/>
                    <a:p>
                      <a:pPr>
                        <a:buNone/>
                      </a:pPr>
                      <a:r>
                        <a:rPr lang="en-US" sz="1100"/>
                        <a:t>8</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100" dirty="0"/>
                        <a:t>The system shall allow authorized users (e.g., NBRO/DMC officers) to view historical prediction accuracy against confirmed landslide events for a given area</a:t>
                      </a:r>
                    </a:p>
                  </a:txBody>
                  <a:tcPr marL="53975" marR="53975" marT="26987" marB="26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9878462"/>
                  </a:ext>
                </a:extLst>
              </a:tr>
            </a:tbl>
          </a:graphicData>
        </a:graphic>
      </p:graphicFrame>
      <p:graphicFrame>
        <p:nvGraphicFramePr>
          <p:cNvPr id="12" name="Table 11">
            <a:extLst>
              <a:ext uri="{FF2B5EF4-FFF2-40B4-BE49-F238E27FC236}">
                <a16:creationId xmlns:a16="http://schemas.microsoft.com/office/drawing/2014/main" id="{EB38C5FC-D3A2-5C50-226C-9123F23C7A38}"/>
              </a:ext>
            </a:extLst>
          </p:cNvPr>
          <p:cNvGraphicFramePr>
            <a:graphicFrameLocks noGrp="1"/>
          </p:cNvGraphicFramePr>
          <p:nvPr/>
        </p:nvGraphicFramePr>
        <p:xfrm>
          <a:off x="5943601" y="891064"/>
          <a:ext cx="6096000" cy="5062549"/>
        </p:xfrm>
        <a:graphic>
          <a:graphicData uri="http://schemas.openxmlformats.org/drawingml/2006/table">
            <a:tbl>
              <a:tblPr>
                <a:tableStyleId>{5C22544A-7EE6-4342-B048-85BDC9FD1C3A}</a:tableStyleId>
              </a:tblPr>
              <a:tblGrid>
                <a:gridCol w="212425">
                  <a:extLst>
                    <a:ext uri="{9D8B030D-6E8A-4147-A177-3AD203B41FA5}">
                      <a16:colId xmlns:a16="http://schemas.microsoft.com/office/drawing/2014/main" val="3143844138"/>
                    </a:ext>
                  </a:extLst>
                </a:gridCol>
                <a:gridCol w="1012543">
                  <a:extLst>
                    <a:ext uri="{9D8B030D-6E8A-4147-A177-3AD203B41FA5}">
                      <a16:colId xmlns:a16="http://schemas.microsoft.com/office/drawing/2014/main" val="3459625810"/>
                    </a:ext>
                  </a:extLst>
                </a:gridCol>
                <a:gridCol w="4871032">
                  <a:extLst>
                    <a:ext uri="{9D8B030D-6E8A-4147-A177-3AD203B41FA5}">
                      <a16:colId xmlns:a16="http://schemas.microsoft.com/office/drawing/2014/main" val="1434279781"/>
                    </a:ext>
                  </a:extLst>
                </a:gridCol>
              </a:tblGrid>
              <a:tr h="215432">
                <a:tc>
                  <a:txBody>
                    <a:bodyPr/>
                    <a:lstStyle/>
                    <a:p>
                      <a:pPr>
                        <a:buNone/>
                      </a:pPr>
                      <a:endParaRPr lang="en-US" sz="1100" dirty="0"/>
                    </a:p>
                  </a:txBody>
                  <a:tcPr marL="53419" marR="53419" marT="26709" marB="26709" anchor="ctr"/>
                </a:tc>
                <a:tc>
                  <a:txBody>
                    <a:bodyPr/>
                    <a:lstStyle/>
                    <a:p>
                      <a:pPr>
                        <a:buNone/>
                      </a:pPr>
                      <a:r>
                        <a:rPr lang="en-US" sz="1100" dirty="0"/>
                        <a:t>Category</a:t>
                      </a:r>
                    </a:p>
                  </a:txBody>
                  <a:tcPr marL="53419" marR="53419" marT="26709" marB="26709" anchor="ctr"/>
                </a:tc>
                <a:tc>
                  <a:txBody>
                    <a:bodyPr/>
                    <a:lstStyle/>
                    <a:p>
                      <a:pPr>
                        <a:buNone/>
                      </a:pPr>
                      <a:r>
                        <a:rPr lang="en-US" sz="1100" dirty="0"/>
                        <a:t>Requirement</a:t>
                      </a:r>
                    </a:p>
                  </a:txBody>
                  <a:tcPr marL="53419" marR="53419" marT="26709" marB="26709" anchor="ctr"/>
                </a:tc>
                <a:extLst>
                  <a:ext uri="{0D108BD9-81ED-4DB2-BD59-A6C34878D82A}">
                    <a16:rowId xmlns:a16="http://schemas.microsoft.com/office/drawing/2014/main" val="2315654312"/>
                  </a:ext>
                </a:extLst>
              </a:tr>
              <a:tr h="676767">
                <a:tc>
                  <a:txBody>
                    <a:bodyPr/>
                    <a:lstStyle/>
                    <a:p>
                      <a:pPr>
                        <a:buNone/>
                      </a:pPr>
                      <a:r>
                        <a:rPr lang="en-US" sz="1100"/>
                        <a:t>1</a:t>
                      </a:r>
                    </a:p>
                  </a:txBody>
                  <a:tcPr marL="53419" marR="53419" marT="26709" marB="26709" anchor="ctr"/>
                </a:tc>
                <a:tc>
                  <a:txBody>
                    <a:bodyPr/>
                    <a:lstStyle/>
                    <a:p>
                      <a:pPr>
                        <a:buNone/>
                      </a:pPr>
                      <a:r>
                        <a:rPr lang="en-US" sz="1100" dirty="0"/>
                        <a:t>Response time</a:t>
                      </a:r>
                    </a:p>
                  </a:txBody>
                  <a:tcPr marL="53419" marR="53419" marT="26709" marB="26709" anchor="ctr"/>
                </a:tc>
                <a:tc>
                  <a:txBody>
                    <a:bodyPr/>
                    <a:lstStyle/>
                    <a:p>
                      <a:pPr>
                        <a:buNone/>
                      </a:pPr>
                      <a:r>
                        <a:rPr lang="en-US" sz="1100"/>
                        <a:t>The system shall return a landslide-probability prediction for a queried location within 5 seconds under normal network conditions</a:t>
                      </a:r>
                    </a:p>
                  </a:txBody>
                  <a:tcPr marL="53419" marR="53419" marT="26709" marB="26709" anchor="ctr"/>
                </a:tc>
                <a:extLst>
                  <a:ext uri="{0D108BD9-81ED-4DB2-BD59-A6C34878D82A}">
                    <a16:rowId xmlns:a16="http://schemas.microsoft.com/office/drawing/2014/main" val="737877156"/>
                  </a:ext>
                </a:extLst>
              </a:tr>
              <a:tr h="989122">
                <a:tc>
                  <a:txBody>
                    <a:bodyPr/>
                    <a:lstStyle/>
                    <a:p>
                      <a:pPr>
                        <a:buNone/>
                      </a:pPr>
                      <a:r>
                        <a:rPr lang="en-US" sz="1100"/>
                        <a:t>2</a:t>
                      </a:r>
                    </a:p>
                  </a:txBody>
                  <a:tcPr marL="53419" marR="53419" marT="26709" marB="26709" anchor="ctr"/>
                </a:tc>
                <a:tc>
                  <a:txBody>
                    <a:bodyPr/>
                    <a:lstStyle/>
                    <a:p>
                      <a:pPr>
                        <a:buNone/>
                      </a:pPr>
                      <a:r>
                        <a:rPr lang="en-US" sz="1100"/>
                        <a:t>Reliability</a:t>
                      </a:r>
                    </a:p>
                  </a:txBody>
                  <a:tcPr marL="53419" marR="53419" marT="26709" marB="26709" anchor="ctr"/>
                </a:tc>
                <a:tc>
                  <a:txBody>
                    <a:bodyPr/>
                    <a:lstStyle/>
                    <a:p>
                      <a:pPr>
                        <a:buNone/>
                      </a:pPr>
                      <a:r>
                        <a:rPr lang="en-US" sz="1100"/>
                        <a:t>The prediction model shall achieve a minimum out-of-sample (spatially independent) accuracy of 80%, evaluated using held-out test regions rather than training-area accuracy alone</a:t>
                      </a:r>
                    </a:p>
                  </a:txBody>
                  <a:tcPr marL="53419" marR="53419" marT="26709" marB="26709" anchor="ctr"/>
                </a:tc>
                <a:extLst>
                  <a:ext uri="{0D108BD9-81ED-4DB2-BD59-A6C34878D82A}">
                    <a16:rowId xmlns:a16="http://schemas.microsoft.com/office/drawing/2014/main" val="3819355992"/>
                  </a:ext>
                </a:extLst>
              </a:tr>
              <a:tr h="832945">
                <a:tc>
                  <a:txBody>
                    <a:bodyPr/>
                    <a:lstStyle/>
                    <a:p>
                      <a:pPr>
                        <a:buNone/>
                      </a:pPr>
                      <a:r>
                        <a:rPr lang="en-US" sz="1100"/>
                        <a:t>3</a:t>
                      </a:r>
                    </a:p>
                  </a:txBody>
                  <a:tcPr marL="53419" marR="53419" marT="26709" marB="26709" anchor="ctr"/>
                </a:tc>
                <a:tc>
                  <a:txBody>
                    <a:bodyPr/>
                    <a:lstStyle/>
                    <a:p>
                      <a:pPr>
                        <a:buNone/>
                      </a:pPr>
                      <a:r>
                        <a:rPr lang="en-US" sz="1100"/>
                        <a:t>Usability</a:t>
                      </a:r>
                    </a:p>
                  </a:txBody>
                  <a:tcPr marL="53419" marR="53419" marT="26709" marB="26709" anchor="ctr"/>
                </a:tc>
                <a:tc>
                  <a:txBody>
                    <a:bodyPr/>
                    <a:lstStyle/>
                    <a:p>
                      <a:pPr>
                        <a:buNone/>
                      </a:pPr>
                      <a:r>
                        <a:rPr lang="en-US" sz="1100" dirty="0"/>
                        <a:t>At least 90% of test users unfamiliar with GIS tools shall be able to identify their village's current risk level on the map interface within 2 minutes, without prior training</a:t>
                      </a:r>
                    </a:p>
                  </a:txBody>
                  <a:tcPr marL="53419" marR="53419" marT="26709" marB="26709" anchor="ctr"/>
                </a:tc>
                <a:extLst>
                  <a:ext uri="{0D108BD9-81ED-4DB2-BD59-A6C34878D82A}">
                    <a16:rowId xmlns:a16="http://schemas.microsoft.com/office/drawing/2014/main" val="1083194138"/>
                  </a:ext>
                </a:extLst>
              </a:tr>
              <a:tr h="832945">
                <a:tc>
                  <a:txBody>
                    <a:bodyPr/>
                    <a:lstStyle/>
                    <a:p>
                      <a:pPr>
                        <a:buNone/>
                      </a:pPr>
                      <a:r>
                        <a:rPr lang="en-US" sz="1100"/>
                        <a:t>4</a:t>
                      </a:r>
                    </a:p>
                  </a:txBody>
                  <a:tcPr marL="53419" marR="53419" marT="26709" marB="26709" anchor="ctr"/>
                </a:tc>
                <a:tc>
                  <a:txBody>
                    <a:bodyPr/>
                    <a:lstStyle/>
                    <a:p>
                      <a:pPr>
                        <a:buNone/>
                      </a:pPr>
                      <a:r>
                        <a:rPr lang="en-US" sz="1100"/>
                        <a:t>Accessibility</a:t>
                      </a:r>
                    </a:p>
                  </a:txBody>
                  <a:tcPr marL="53419" marR="53419" marT="26709" marB="26709" anchor="ctr"/>
                </a:tc>
                <a:tc>
                  <a:txBody>
                    <a:bodyPr/>
                    <a:lstStyle/>
                    <a:p>
                      <a:pPr>
                        <a:buNone/>
                      </a:pPr>
                      <a:r>
                        <a:rPr lang="en-US" sz="1100"/>
                        <a:t>The map interface shall meet WCAG 2.1 AA color-contrast requirements and support high-contrast display modes for users with low vision, including elderly residents</a:t>
                      </a:r>
                    </a:p>
                  </a:txBody>
                  <a:tcPr marL="53419" marR="53419" marT="26709" marB="26709" anchor="ctr"/>
                </a:tc>
                <a:extLst>
                  <a:ext uri="{0D108BD9-81ED-4DB2-BD59-A6C34878D82A}">
                    <a16:rowId xmlns:a16="http://schemas.microsoft.com/office/drawing/2014/main" val="527900306"/>
                  </a:ext>
                </a:extLst>
              </a:tr>
              <a:tr h="832945">
                <a:tc>
                  <a:txBody>
                    <a:bodyPr/>
                    <a:lstStyle/>
                    <a:p>
                      <a:pPr>
                        <a:buNone/>
                      </a:pPr>
                      <a:r>
                        <a:rPr lang="en-US" sz="1100"/>
                        <a:t>5</a:t>
                      </a:r>
                    </a:p>
                  </a:txBody>
                  <a:tcPr marL="53419" marR="53419" marT="26709" marB="26709" anchor="ctr"/>
                </a:tc>
                <a:tc>
                  <a:txBody>
                    <a:bodyPr/>
                    <a:lstStyle/>
                    <a:p>
                      <a:pPr>
                        <a:buNone/>
                      </a:pPr>
                      <a:r>
                        <a:rPr lang="en-US" sz="1100"/>
                        <a:t>Scalability</a:t>
                      </a:r>
                    </a:p>
                  </a:txBody>
                  <a:tcPr marL="53419" marR="53419" marT="26709" marB="26709" anchor="ctr"/>
                </a:tc>
                <a:tc>
                  <a:txBody>
                    <a:bodyPr/>
                    <a:lstStyle/>
                    <a:p>
                      <a:pPr>
                        <a:buNone/>
                      </a:pPr>
                      <a:r>
                        <a:rPr lang="en-US" sz="1100"/>
                        <a:t>The system shall support prediction requests across all DS divisions in the pilot district (Nuwara Eliya) without degradation in response time beyond the 5-second threshold</a:t>
                      </a:r>
                    </a:p>
                  </a:txBody>
                  <a:tcPr marL="53419" marR="53419" marT="26709" marB="26709" anchor="ctr"/>
                </a:tc>
                <a:extLst>
                  <a:ext uri="{0D108BD9-81ED-4DB2-BD59-A6C34878D82A}">
                    <a16:rowId xmlns:a16="http://schemas.microsoft.com/office/drawing/2014/main" val="1148219262"/>
                  </a:ext>
                </a:extLst>
              </a:tr>
              <a:tr h="676767">
                <a:tc>
                  <a:txBody>
                    <a:bodyPr/>
                    <a:lstStyle/>
                    <a:p>
                      <a:pPr>
                        <a:buNone/>
                      </a:pPr>
                      <a:r>
                        <a:rPr lang="en-US" sz="1100"/>
                        <a:t>6</a:t>
                      </a:r>
                    </a:p>
                  </a:txBody>
                  <a:tcPr marL="53419" marR="53419" marT="26709" marB="26709" anchor="ctr"/>
                </a:tc>
                <a:tc>
                  <a:txBody>
                    <a:bodyPr/>
                    <a:lstStyle/>
                    <a:p>
                      <a:pPr>
                        <a:buNone/>
                      </a:pPr>
                      <a:r>
                        <a:rPr lang="en-US" sz="1100"/>
                        <a:t>Security</a:t>
                      </a:r>
                    </a:p>
                  </a:txBody>
                  <a:tcPr marL="53419" marR="53419" marT="26709" marB="26709" anchor="ctr"/>
                </a:tc>
                <a:tc>
                  <a:txBody>
                    <a:bodyPr/>
                    <a:lstStyle/>
                    <a:p>
                      <a:pPr>
                        <a:buNone/>
                      </a:pPr>
                      <a:r>
                        <a:rPr lang="en-US" sz="1100" dirty="0"/>
                        <a:t>All data exchanged with the Decision Support component via the API shall use authenticated, encrypted (HTTPS/TLS) connections</a:t>
                      </a:r>
                    </a:p>
                  </a:txBody>
                  <a:tcPr marL="53419" marR="53419" marT="26709" marB="26709" anchor="ctr"/>
                </a:tc>
                <a:extLst>
                  <a:ext uri="{0D108BD9-81ED-4DB2-BD59-A6C34878D82A}">
                    <a16:rowId xmlns:a16="http://schemas.microsoft.com/office/drawing/2014/main" val="836206375"/>
                  </a:ext>
                </a:extLst>
              </a:tr>
            </a:tbl>
          </a:graphicData>
        </a:graphic>
      </p:graphicFrame>
      <p:sp>
        <p:nvSpPr>
          <p:cNvPr id="13" name="TextBox 12">
            <a:extLst>
              <a:ext uri="{FF2B5EF4-FFF2-40B4-BE49-F238E27FC236}">
                <a16:creationId xmlns:a16="http://schemas.microsoft.com/office/drawing/2014/main" id="{0228AB4D-A669-A584-EF49-C3E826FB4FA7}"/>
              </a:ext>
            </a:extLst>
          </p:cNvPr>
          <p:cNvSpPr txBox="1"/>
          <p:nvPr/>
        </p:nvSpPr>
        <p:spPr>
          <a:xfrm>
            <a:off x="4191000" y="6520934"/>
            <a:ext cx="4025782" cy="369332"/>
          </a:xfrm>
          <a:prstGeom prst="rect">
            <a:avLst/>
          </a:prstGeom>
          <a:noFill/>
        </p:spPr>
        <p:txBody>
          <a:bodyPr wrap="none" rtlCol="0">
            <a:spAutoFit/>
          </a:bodyPr>
          <a:lstStyle/>
          <a:p>
            <a:r>
              <a:rPr lang="en-US" dirty="0"/>
              <a:t>IT23411562|Palihena M B | J26-IT-334</a:t>
            </a:r>
          </a:p>
        </p:txBody>
      </p:sp>
    </p:spTree>
    <p:extLst>
      <p:ext uri="{BB962C8B-B14F-4D97-AF65-F5344CB8AC3E}">
        <p14:creationId xmlns:p14="http://schemas.microsoft.com/office/powerpoint/2010/main" val="355165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7EFF44-7408-07F3-EBC1-995713E911C5}"/>
              </a:ext>
            </a:extLst>
          </p:cNvPr>
          <p:cNvSpPr txBox="1"/>
          <p:nvPr/>
        </p:nvSpPr>
        <p:spPr>
          <a:xfrm>
            <a:off x="304800" y="304800"/>
            <a:ext cx="11684000" cy="792162"/>
          </a:xfrm>
          <a:prstGeom prst="rect">
            <a:avLst/>
          </a:prstGeom>
        </p:spPr>
        <p:txBody>
          <a:bodyPr vert="horz" lIns="91440" tIns="45720" rIns="91440" bIns="45720" rtlCol="0" anchor="ctr">
            <a:normAutofit/>
          </a:bodyPr>
          <a:lstStyle/>
          <a:p>
            <a:pPr algn="ctr">
              <a:spcBef>
                <a:spcPct val="0"/>
              </a:spcBef>
              <a:spcAft>
                <a:spcPts val="600"/>
              </a:spcAft>
            </a:pPr>
            <a:r>
              <a:rPr lang="en-US" sz="4400" kern="1200" dirty="0">
                <a:latin typeface="Adobe Devanagari" pitchFamily="18" charset="0"/>
                <a:ea typeface="+mj-ea"/>
                <a:cs typeface="Adobe Devanagari" pitchFamily="18" charset="0"/>
              </a:rPr>
              <a:t>Commercialization Plan</a:t>
            </a:r>
          </a:p>
        </p:txBody>
      </p:sp>
      <p:graphicFrame>
        <p:nvGraphicFramePr>
          <p:cNvPr id="5" name="TextBox 2">
            <a:extLst>
              <a:ext uri="{FF2B5EF4-FFF2-40B4-BE49-F238E27FC236}">
                <a16:creationId xmlns:a16="http://schemas.microsoft.com/office/drawing/2014/main" id="{5D3E569F-0DAA-B20C-B38B-7D06AE589DC6}"/>
              </a:ext>
            </a:extLst>
          </p:cNvPr>
          <p:cNvGraphicFramePr/>
          <p:nvPr>
            <p:extLst>
              <p:ext uri="{D42A27DB-BD31-4B8C-83A1-F6EECF244321}">
                <p14:modId xmlns:p14="http://schemas.microsoft.com/office/powerpoint/2010/main" val="3609327579"/>
              </p:ext>
            </p:extLst>
          </p:nvPr>
        </p:nvGraphicFramePr>
        <p:xfrm>
          <a:off x="304800" y="1143000"/>
          <a:ext cx="116840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FD139261-D59D-031E-0B67-26E5EBCE968D}"/>
              </a:ext>
            </a:extLst>
          </p:cNvPr>
          <p:cNvSpPr txBox="1"/>
          <p:nvPr/>
        </p:nvSpPr>
        <p:spPr>
          <a:xfrm>
            <a:off x="5515858" y="6534834"/>
            <a:ext cx="1261884" cy="646331"/>
          </a:xfrm>
          <a:prstGeom prst="rect">
            <a:avLst/>
          </a:prstGeom>
          <a:noFill/>
        </p:spPr>
        <p:txBody>
          <a:bodyPr wrap="none" rtlCol="0">
            <a:spAutoFit/>
          </a:bodyPr>
          <a:lstStyle/>
          <a:p>
            <a:r>
              <a:rPr lang="en-GB" dirty="0"/>
              <a:t>J26-IT-334</a:t>
            </a:r>
            <a:endParaRPr lang="en-US" dirty="0"/>
          </a:p>
          <a:p>
            <a:endParaRPr lang="en-US" dirty="0"/>
          </a:p>
        </p:txBody>
      </p:sp>
    </p:spTree>
    <p:extLst>
      <p:ext uri="{BB962C8B-B14F-4D97-AF65-F5344CB8AC3E}">
        <p14:creationId xmlns:p14="http://schemas.microsoft.com/office/powerpoint/2010/main" val="3128946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534D4B-2018-8CF3-691B-8C28513988DC}"/>
              </a:ext>
            </a:extLst>
          </p:cNvPr>
          <p:cNvSpPr>
            <a:spLocks noGrp="1"/>
          </p:cNvSpPr>
          <p:nvPr>
            <p:ph type="title"/>
          </p:nvPr>
        </p:nvSpPr>
        <p:spPr>
          <a:xfrm>
            <a:off x="254000" y="717659"/>
            <a:ext cx="11684000" cy="533400"/>
          </a:xfrm>
        </p:spPr>
        <p:txBody>
          <a:bodyPr>
            <a:normAutofit fontScale="90000"/>
          </a:bodyPr>
          <a:lstStyle/>
          <a:p>
            <a:r>
              <a:rPr lang="en-US" dirty="0"/>
              <a:t>Commercialization Plan</a:t>
            </a:r>
            <a:br>
              <a:rPr lang="en-US" dirty="0"/>
            </a:br>
            <a:endParaRPr lang="en-US" dirty="0"/>
          </a:p>
        </p:txBody>
      </p:sp>
      <p:graphicFrame>
        <p:nvGraphicFramePr>
          <p:cNvPr id="3" name="Content Placeholder 2">
            <a:extLst>
              <a:ext uri="{FF2B5EF4-FFF2-40B4-BE49-F238E27FC236}">
                <a16:creationId xmlns:a16="http://schemas.microsoft.com/office/drawing/2014/main" id="{17F6C03B-68C6-920F-C009-CA48E3D00A49}"/>
              </a:ext>
            </a:extLst>
          </p:cNvPr>
          <p:cNvGraphicFramePr>
            <a:graphicFrameLocks noGrp="1"/>
          </p:cNvGraphicFramePr>
          <p:nvPr>
            <p:ph sz="half" idx="1"/>
            <p:extLst>
              <p:ext uri="{D42A27DB-BD31-4B8C-83A1-F6EECF244321}">
                <p14:modId xmlns:p14="http://schemas.microsoft.com/office/powerpoint/2010/main" val="3873688776"/>
              </p:ext>
            </p:extLst>
          </p:nvPr>
        </p:nvGraphicFramePr>
        <p:xfrm>
          <a:off x="609600" y="1676400"/>
          <a:ext cx="5384800" cy="4217001"/>
        </p:xfrm>
        <a:graphic>
          <a:graphicData uri="http://schemas.openxmlformats.org/drawingml/2006/table">
            <a:tbl>
              <a:tblPr>
                <a:tableStyleId>{21E4AEA4-8DFA-4A89-87EB-49C32662AFE0}</a:tableStyleId>
              </a:tblPr>
              <a:tblGrid>
                <a:gridCol w="2692400">
                  <a:extLst>
                    <a:ext uri="{9D8B030D-6E8A-4147-A177-3AD203B41FA5}">
                      <a16:colId xmlns:a16="http://schemas.microsoft.com/office/drawing/2014/main" val="3643224404"/>
                    </a:ext>
                  </a:extLst>
                </a:gridCol>
                <a:gridCol w="2692400">
                  <a:extLst>
                    <a:ext uri="{9D8B030D-6E8A-4147-A177-3AD203B41FA5}">
                      <a16:colId xmlns:a16="http://schemas.microsoft.com/office/drawing/2014/main" val="464251361"/>
                    </a:ext>
                  </a:extLst>
                </a:gridCol>
              </a:tblGrid>
              <a:tr h="381000">
                <a:tc>
                  <a:txBody>
                    <a:bodyPr/>
                    <a:lstStyle/>
                    <a:p>
                      <a:pPr>
                        <a:buNone/>
                      </a:pPr>
                      <a:r>
                        <a:rPr lang="en-US" sz="800" dirty="0"/>
                        <a:t>Cost type</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t>Note</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0227013"/>
                  </a:ext>
                </a:extLst>
              </a:tr>
              <a:tr h="613761">
                <a:tc>
                  <a:txBody>
                    <a:bodyPr/>
                    <a:lstStyle/>
                    <a:p>
                      <a:pPr>
                        <a:buNone/>
                      </a:pPr>
                      <a:r>
                        <a:rPr lang="en-US" sz="800" dirty="0"/>
                        <a:t>Development</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Team time (largely sunk/academic at this stage)</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9607808"/>
                  </a:ext>
                </a:extLst>
              </a:tr>
              <a:tr h="1074080">
                <a:tc>
                  <a:txBody>
                    <a:bodyPr/>
                    <a:lstStyle/>
                    <a:p>
                      <a:pPr>
                        <a:buNone/>
                      </a:pPr>
                      <a:r>
                        <a:rPr lang="en-US" sz="800"/>
                        <a:t>Infrastructure</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Cloud hosting (API + </a:t>
                      </a:r>
                      <a:r>
                        <a:rPr lang="en-US" sz="800" dirty="0" err="1"/>
                        <a:t>PostGIS</a:t>
                      </a:r>
                      <a:r>
                        <a:rPr lang="en-US" sz="800" dirty="0"/>
                        <a:t> + inference), scales per district</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36635"/>
                  </a:ext>
                </a:extLst>
              </a:tr>
              <a:tr h="1074080">
                <a:tc>
                  <a:txBody>
                    <a:bodyPr/>
                    <a:lstStyle/>
                    <a:p>
                      <a:pPr>
                        <a:buNone/>
                      </a:pPr>
                      <a:r>
                        <a:rPr lang="en-US" sz="800"/>
                        <a:t>Data acquisition</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Largely free — NBRO/DMC/SRTM/CHIRPS under MOU or open-access</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5759555"/>
                  </a:ext>
                </a:extLst>
              </a:tr>
              <a:tr h="1074080">
                <a:tc>
                  <a:txBody>
                    <a:bodyPr/>
                    <a:lstStyle/>
                    <a:p>
                      <a:pPr>
                        <a:buNone/>
                      </a:pPr>
                      <a:r>
                        <a:rPr lang="en-US" sz="800"/>
                        <a:t>Maintenance</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Ongoing model retraining, localization updates, support staff</a:t>
                      </a:r>
                    </a:p>
                  </a:txBody>
                  <a:tcPr marL="42142" marR="42142" marT="21071" marB="21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5751983"/>
                  </a:ext>
                </a:extLst>
              </a:tr>
            </a:tbl>
          </a:graphicData>
        </a:graphic>
      </p:graphicFrame>
      <p:graphicFrame>
        <p:nvGraphicFramePr>
          <p:cNvPr id="4" name="TextBox 1">
            <a:extLst>
              <a:ext uri="{FF2B5EF4-FFF2-40B4-BE49-F238E27FC236}">
                <a16:creationId xmlns:a16="http://schemas.microsoft.com/office/drawing/2014/main" id="{B9AF3297-14A5-3438-5817-2874E6E430E8}"/>
              </a:ext>
            </a:extLst>
          </p:cNvPr>
          <p:cNvGraphicFramePr/>
          <p:nvPr>
            <p:extLst>
              <p:ext uri="{D42A27DB-BD31-4B8C-83A1-F6EECF244321}">
                <p14:modId xmlns:p14="http://schemas.microsoft.com/office/powerpoint/2010/main" val="3542378282"/>
              </p:ext>
            </p:extLst>
          </p:nvPr>
        </p:nvGraphicFramePr>
        <p:xfrm>
          <a:off x="6197600" y="1600201"/>
          <a:ext cx="5384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3026B398-B1CE-08E2-FDBB-5D851F081AC7}"/>
              </a:ext>
            </a:extLst>
          </p:cNvPr>
          <p:cNvSpPr txBox="1"/>
          <p:nvPr/>
        </p:nvSpPr>
        <p:spPr>
          <a:xfrm>
            <a:off x="5465058" y="6534834"/>
            <a:ext cx="1261884" cy="646331"/>
          </a:xfrm>
          <a:prstGeom prst="rect">
            <a:avLst/>
          </a:prstGeom>
          <a:noFill/>
        </p:spPr>
        <p:txBody>
          <a:bodyPr wrap="none" rtlCol="0">
            <a:spAutoFit/>
          </a:bodyPr>
          <a:lstStyle/>
          <a:p>
            <a:r>
              <a:rPr lang="en-GB" dirty="0"/>
              <a:t>J26-IT-334</a:t>
            </a:r>
            <a:endParaRPr lang="en-US" dirty="0"/>
          </a:p>
          <a:p>
            <a:endParaRPr lang="en-US" dirty="0"/>
          </a:p>
        </p:txBody>
      </p:sp>
    </p:spTree>
    <p:extLst>
      <p:ext uri="{BB962C8B-B14F-4D97-AF65-F5344CB8AC3E}">
        <p14:creationId xmlns:p14="http://schemas.microsoft.com/office/powerpoint/2010/main" val="2546979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5DE91F-9B04-2C95-7BC8-02507EFAB5C6}"/>
              </a:ext>
            </a:extLst>
          </p:cNvPr>
          <p:cNvSpPr txBox="1"/>
          <p:nvPr/>
        </p:nvSpPr>
        <p:spPr>
          <a:xfrm>
            <a:off x="76200" y="76200"/>
            <a:ext cx="4552721" cy="477054"/>
          </a:xfrm>
          <a:prstGeom prst="rect">
            <a:avLst/>
          </a:prstGeom>
          <a:noFill/>
        </p:spPr>
        <p:txBody>
          <a:bodyPr wrap="none" rtlCol="0">
            <a:spAutoFit/>
          </a:bodyPr>
          <a:lstStyle/>
          <a:p>
            <a:r>
              <a:rPr lang="en-US" sz="2500" b="1" dirty="0"/>
              <a:t>Work Breakdown Description</a:t>
            </a:r>
          </a:p>
        </p:txBody>
      </p:sp>
      <p:sp>
        <p:nvSpPr>
          <p:cNvPr id="3" name="TextBox 2">
            <a:extLst>
              <a:ext uri="{FF2B5EF4-FFF2-40B4-BE49-F238E27FC236}">
                <a16:creationId xmlns:a16="http://schemas.microsoft.com/office/drawing/2014/main" id="{D16D1BB8-EFCC-7634-1027-FFDBADD8EAE8}"/>
              </a:ext>
            </a:extLst>
          </p:cNvPr>
          <p:cNvSpPr txBox="1"/>
          <p:nvPr/>
        </p:nvSpPr>
        <p:spPr>
          <a:xfrm>
            <a:off x="540774" y="1101213"/>
            <a:ext cx="184731" cy="369332"/>
          </a:xfrm>
          <a:prstGeom prst="rect">
            <a:avLst/>
          </a:prstGeom>
          <a:noFill/>
        </p:spPr>
        <p:txBody>
          <a:bodyPr wrap="none" rtlCol="0">
            <a:spAutoFit/>
          </a:bodyPr>
          <a:lstStyle/>
          <a:p>
            <a:endParaRPr lang="en-US" dirty="0"/>
          </a:p>
        </p:txBody>
      </p:sp>
      <p:graphicFrame>
        <p:nvGraphicFramePr>
          <p:cNvPr id="4" name="Table 3">
            <a:extLst>
              <a:ext uri="{FF2B5EF4-FFF2-40B4-BE49-F238E27FC236}">
                <a16:creationId xmlns:a16="http://schemas.microsoft.com/office/drawing/2014/main" id="{B4267491-BD1C-5621-D1DC-1B4FAB623D0B}"/>
              </a:ext>
            </a:extLst>
          </p:cNvPr>
          <p:cNvGraphicFramePr>
            <a:graphicFrameLocks noGrp="1"/>
          </p:cNvGraphicFramePr>
          <p:nvPr>
            <p:extLst>
              <p:ext uri="{D42A27DB-BD31-4B8C-83A1-F6EECF244321}">
                <p14:modId xmlns:p14="http://schemas.microsoft.com/office/powerpoint/2010/main" val="3971445576"/>
              </p:ext>
            </p:extLst>
          </p:nvPr>
        </p:nvGraphicFramePr>
        <p:xfrm>
          <a:off x="725504" y="553254"/>
          <a:ext cx="10171096" cy="5553096"/>
        </p:xfrm>
        <a:graphic>
          <a:graphicData uri="http://schemas.openxmlformats.org/drawingml/2006/table">
            <a:tbl>
              <a:tblPr>
                <a:tableStyleId>{21E4AEA4-8DFA-4A89-87EB-49C32662AFE0}</a:tableStyleId>
              </a:tblPr>
              <a:tblGrid>
                <a:gridCol w="3694096">
                  <a:extLst>
                    <a:ext uri="{9D8B030D-6E8A-4147-A177-3AD203B41FA5}">
                      <a16:colId xmlns:a16="http://schemas.microsoft.com/office/drawing/2014/main" val="2772771263"/>
                    </a:ext>
                  </a:extLst>
                </a:gridCol>
                <a:gridCol w="6477000">
                  <a:extLst>
                    <a:ext uri="{9D8B030D-6E8A-4147-A177-3AD203B41FA5}">
                      <a16:colId xmlns:a16="http://schemas.microsoft.com/office/drawing/2014/main" val="1242322548"/>
                    </a:ext>
                  </a:extLst>
                </a:gridCol>
              </a:tblGrid>
              <a:tr h="273327">
                <a:tc>
                  <a:txBody>
                    <a:bodyPr/>
                    <a:lstStyle/>
                    <a:p>
                      <a:pPr>
                        <a:buNone/>
                      </a:pPr>
                      <a:r>
                        <a:rPr lang="en-US" sz="1500" dirty="0"/>
                        <a:t>Phase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a:t>Sub-tasks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030326"/>
                  </a:ext>
                </a:extLst>
              </a:tr>
              <a:tr h="478323">
                <a:tc>
                  <a:txBody>
                    <a:bodyPr/>
                    <a:lstStyle/>
                    <a:p>
                      <a:pPr>
                        <a:buNone/>
                      </a:pPr>
                      <a:r>
                        <a:rPr lang="en-US" sz="1500" dirty="0"/>
                        <a:t>1. Project Initiation and Requirements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a:t>Initial discussion &amp; scope → Topic assessment → Requirement analysis → Feasibility &amp; tool selection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754864"/>
                  </a:ext>
                </a:extLst>
              </a:tr>
              <a:tr h="683318">
                <a:tc>
                  <a:txBody>
                    <a:bodyPr/>
                    <a:lstStyle/>
                    <a:p>
                      <a:pPr>
                        <a:buNone/>
                      </a:pPr>
                      <a:r>
                        <a:rPr lang="en-US" sz="1500"/>
                        <a:t>2. Research and System Design</a:t>
                      </a:r>
                      <a:endParaRPr lang="en-US" sz="1500" dirty="0"/>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dirty="0"/>
                        <a:t>Literature review → System architecture design → Component-level design → Dataset &amp; data source identification → Project proposal</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9904304"/>
                  </a:ext>
                </a:extLst>
              </a:tr>
              <a:tr h="888314">
                <a:tc>
                  <a:txBody>
                    <a:bodyPr/>
                    <a:lstStyle/>
                    <a:p>
                      <a:pPr>
                        <a:buNone/>
                      </a:pPr>
                      <a:r>
                        <a:rPr lang="en-US" sz="1500"/>
                        <a:t>3. Component Implementation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dirty="0"/>
                        <a:t>Split into 4 parallel components: 3.1 Flood Prediction · 3.2 Landslide Prediction System (my component) · 3.3 Human Impact &amp; Decision Support · 3.4 Emergency Response &amp; Resource Coordination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552233"/>
                  </a:ext>
                </a:extLst>
              </a:tr>
              <a:tr h="888314">
                <a:tc>
                  <a:txBody>
                    <a:bodyPr/>
                    <a:lstStyle/>
                    <a:p>
                      <a:pPr>
                        <a:buNone/>
                      </a:pPr>
                      <a:r>
                        <a:rPr lang="en-US" sz="1500"/>
                        <a:t>3.2 Landslide Prediction System (my component, detailed)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dirty="0"/>
                        <a:t>Historical landslide data → Geospatial feature processing → Rainfall trigger analysis → Machine learning landslide prediction → Explainable AI and Web-GIS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0500000"/>
                  </a:ext>
                </a:extLst>
              </a:tr>
              <a:tr h="683318">
                <a:tc>
                  <a:txBody>
                    <a:bodyPr/>
                    <a:lstStyle/>
                    <a:p>
                      <a:pPr>
                        <a:buNone/>
                      </a:pPr>
                      <a:r>
                        <a:rPr lang="en-US" sz="1500"/>
                        <a:t>4. Integration and System Testing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dirty="0"/>
                        <a:t>Component integration → API &amp; database integration → End-to-end pipeline testing → Bug fixing &amp; refinement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931143"/>
                  </a:ext>
                </a:extLst>
              </a:tr>
              <a:tr h="888314">
                <a:tc>
                  <a:txBody>
                    <a:bodyPr/>
                    <a:lstStyle/>
                    <a:p>
                      <a:pPr>
                        <a:buNone/>
                      </a:pPr>
                      <a:r>
                        <a:rPr lang="en-US" sz="1500"/>
                        <a:t>5. Evaluation and Result Analysis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dirty="0"/>
                        <a:t>Per-component performance evaluation → Accuracy &amp; reliability analysis → Risk &amp; response evaluation → User study &amp; explainability evaluation → Results compilation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314436"/>
                  </a:ext>
                </a:extLst>
              </a:tr>
              <a:tr h="683318">
                <a:tc>
                  <a:txBody>
                    <a:bodyPr/>
                    <a:lstStyle/>
                    <a:p>
                      <a:pPr>
                        <a:buNone/>
                      </a:pPr>
                      <a:r>
                        <a:rPr lang="en-US" sz="1500" dirty="0"/>
                        <a:t>6. Documentation and Final Submission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500" dirty="0"/>
                        <a:t>Research paper writing → Final report &amp; documentation → Presentation preparation → Final submission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7263512"/>
                  </a:ext>
                </a:extLst>
              </a:tr>
            </a:tbl>
          </a:graphicData>
        </a:graphic>
      </p:graphicFrame>
      <p:sp>
        <p:nvSpPr>
          <p:cNvPr id="7" name="TextBox 6">
            <a:extLst>
              <a:ext uri="{FF2B5EF4-FFF2-40B4-BE49-F238E27FC236}">
                <a16:creationId xmlns:a16="http://schemas.microsoft.com/office/drawing/2014/main" id="{08E7A1F3-9235-DFA2-6882-A123F92450FB}"/>
              </a:ext>
            </a:extLst>
          </p:cNvPr>
          <p:cNvSpPr txBox="1"/>
          <p:nvPr/>
        </p:nvSpPr>
        <p:spPr>
          <a:xfrm>
            <a:off x="5334000" y="6534834"/>
            <a:ext cx="1261884" cy="646331"/>
          </a:xfrm>
          <a:prstGeom prst="rect">
            <a:avLst/>
          </a:prstGeom>
          <a:noFill/>
        </p:spPr>
        <p:txBody>
          <a:bodyPr wrap="none" rtlCol="0">
            <a:spAutoFit/>
          </a:bodyPr>
          <a:lstStyle/>
          <a:p>
            <a:r>
              <a:rPr lang="en-GB" dirty="0"/>
              <a:t>J26-IT-334</a:t>
            </a:r>
            <a:endParaRPr lang="en-US" dirty="0"/>
          </a:p>
          <a:p>
            <a:endParaRPr lang="en-US" dirty="0"/>
          </a:p>
        </p:txBody>
      </p:sp>
    </p:spTree>
    <p:extLst>
      <p:ext uri="{BB962C8B-B14F-4D97-AF65-F5344CB8AC3E}">
        <p14:creationId xmlns:p14="http://schemas.microsoft.com/office/powerpoint/2010/main" val="2207099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B3C0C3-7BE3-A02D-AB67-9AF69BCB17C1}"/>
              </a:ext>
            </a:extLst>
          </p:cNvPr>
          <p:cNvSpPr txBox="1"/>
          <p:nvPr/>
        </p:nvSpPr>
        <p:spPr>
          <a:xfrm>
            <a:off x="152400" y="76200"/>
            <a:ext cx="3602140" cy="477054"/>
          </a:xfrm>
          <a:prstGeom prst="rect">
            <a:avLst/>
          </a:prstGeom>
          <a:noFill/>
        </p:spPr>
        <p:txBody>
          <a:bodyPr wrap="none" rtlCol="0">
            <a:spAutoFit/>
          </a:bodyPr>
          <a:lstStyle/>
          <a:p>
            <a:r>
              <a:rPr lang="en-US" sz="2500" b="1" dirty="0"/>
              <a:t>Work Breakdown chart</a:t>
            </a:r>
            <a:endParaRPr lang="en-US" sz="2500" dirty="0"/>
          </a:p>
        </p:txBody>
      </p:sp>
      <p:pic>
        <p:nvPicPr>
          <p:cNvPr id="4" name="Picture 3">
            <a:extLst>
              <a:ext uri="{FF2B5EF4-FFF2-40B4-BE49-F238E27FC236}">
                <a16:creationId xmlns:a16="http://schemas.microsoft.com/office/drawing/2014/main" id="{31929DCD-FEF5-342B-FD07-6216C26116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914400"/>
            <a:ext cx="11618760" cy="4419600"/>
          </a:xfrm>
          <a:prstGeom prst="rect">
            <a:avLst/>
          </a:prstGeom>
        </p:spPr>
      </p:pic>
      <p:sp>
        <p:nvSpPr>
          <p:cNvPr id="5" name="TextBox 4">
            <a:extLst>
              <a:ext uri="{FF2B5EF4-FFF2-40B4-BE49-F238E27FC236}">
                <a16:creationId xmlns:a16="http://schemas.microsoft.com/office/drawing/2014/main" id="{685E95CA-6FB4-807E-3214-CDC836455F8B}"/>
              </a:ext>
            </a:extLst>
          </p:cNvPr>
          <p:cNvSpPr txBox="1"/>
          <p:nvPr/>
        </p:nvSpPr>
        <p:spPr>
          <a:xfrm>
            <a:off x="5638800" y="6534834"/>
            <a:ext cx="1261884" cy="646331"/>
          </a:xfrm>
          <a:prstGeom prst="rect">
            <a:avLst/>
          </a:prstGeom>
          <a:noFill/>
        </p:spPr>
        <p:txBody>
          <a:bodyPr wrap="none" rtlCol="0">
            <a:spAutoFit/>
          </a:bodyPr>
          <a:lstStyle/>
          <a:p>
            <a:r>
              <a:rPr lang="en-GB" dirty="0"/>
              <a:t>J26-IT-334</a:t>
            </a:r>
            <a:endParaRPr lang="en-US" dirty="0"/>
          </a:p>
          <a:p>
            <a:endParaRPr lang="en-US" dirty="0"/>
          </a:p>
        </p:txBody>
      </p:sp>
    </p:spTree>
    <p:extLst>
      <p:ext uri="{BB962C8B-B14F-4D97-AF65-F5344CB8AC3E}">
        <p14:creationId xmlns:p14="http://schemas.microsoft.com/office/powerpoint/2010/main" val="33834703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BEDB14-4747-E4CF-0D64-EA9D39717CFC}"/>
              </a:ext>
            </a:extLst>
          </p:cNvPr>
          <p:cNvSpPr txBox="1"/>
          <p:nvPr/>
        </p:nvSpPr>
        <p:spPr>
          <a:xfrm>
            <a:off x="152400" y="152400"/>
            <a:ext cx="1838965" cy="861774"/>
          </a:xfrm>
          <a:prstGeom prst="rect">
            <a:avLst/>
          </a:prstGeom>
          <a:noFill/>
        </p:spPr>
        <p:txBody>
          <a:bodyPr wrap="none" rtlCol="0">
            <a:spAutoFit/>
          </a:bodyPr>
          <a:lstStyle/>
          <a:p>
            <a:r>
              <a:rPr lang="en-US" sz="2500" b="1" dirty="0"/>
              <a:t>Gantt chart</a:t>
            </a:r>
            <a:endParaRPr lang="en-US" sz="2500" dirty="0"/>
          </a:p>
          <a:p>
            <a:endParaRPr lang="en-US" sz="2500" dirty="0"/>
          </a:p>
        </p:txBody>
      </p:sp>
      <p:pic>
        <p:nvPicPr>
          <p:cNvPr id="4" name="Picture 3">
            <a:extLst>
              <a:ext uri="{FF2B5EF4-FFF2-40B4-BE49-F238E27FC236}">
                <a16:creationId xmlns:a16="http://schemas.microsoft.com/office/drawing/2014/main" id="{905C1163-10E1-8DED-53A6-AAAB0722B7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1669" y="152400"/>
            <a:ext cx="8348662" cy="6229350"/>
          </a:xfrm>
          <a:prstGeom prst="rect">
            <a:avLst/>
          </a:prstGeom>
        </p:spPr>
      </p:pic>
      <p:sp>
        <p:nvSpPr>
          <p:cNvPr id="5" name="TextBox 4">
            <a:extLst>
              <a:ext uri="{FF2B5EF4-FFF2-40B4-BE49-F238E27FC236}">
                <a16:creationId xmlns:a16="http://schemas.microsoft.com/office/drawing/2014/main" id="{872FDB87-354D-8BED-A4E7-89001BA2FB62}"/>
              </a:ext>
            </a:extLst>
          </p:cNvPr>
          <p:cNvSpPr txBox="1"/>
          <p:nvPr/>
        </p:nvSpPr>
        <p:spPr>
          <a:xfrm>
            <a:off x="5257800" y="6520934"/>
            <a:ext cx="1261884" cy="369332"/>
          </a:xfrm>
          <a:prstGeom prst="rect">
            <a:avLst/>
          </a:prstGeom>
          <a:noFill/>
        </p:spPr>
        <p:txBody>
          <a:bodyPr wrap="none" rtlCol="0">
            <a:spAutoFit/>
          </a:bodyPr>
          <a:lstStyle/>
          <a:p>
            <a:r>
              <a:rPr lang="en-GB" dirty="0"/>
              <a:t>J26-IT-334</a:t>
            </a:r>
            <a:endParaRPr lang="en-US" dirty="0"/>
          </a:p>
        </p:txBody>
      </p:sp>
    </p:spTree>
    <p:extLst>
      <p:ext uri="{BB962C8B-B14F-4D97-AF65-F5344CB8AC3E}">
        <p14:creationId xmlns:p14="http://schemas.microsoft.com/office/powerpoint/2010/main" val="2875577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25A2-0ABA-476F-93A9-CAE8E1CC4A08}"/>
              </a:ext>
            </a:extLst>
          </p:cNvPr>
          <p:cNvSpPr>
            <a:spLocks noGrp="1"/>
          </p:cNvSpPr>
          <p:nvPr>
            <p:ph type="title"/>
          </p:nvPr>
        </p:nvSpPr>
        <p:spPr>
          <a:xfrm>
            <a:off x="304800" y="304800"/>
            <a:ext cx="11684000" cy="792162"/>
          </a:xfrm>
        </p:spPr>
        <p:txBody>
          <a:bodyPr vert="horz" lIns="91440" tIns="45720" rIns="91440" bIns="45720" rtlCol="0" anchor="ctr">
            <a:normAutofit/>
          </a:bodyPr>
          <a:lstStyle/>
          <a:p>
            <a:r>
              <a:rPr lang="en-US" b="1" kern="1200">
                <a:latin typeface="Adobe Devanagari" pitchFamily="18" charset="0"/>
                <a:ea typeface="+mj-ea"/>
                <a:cs typeface="Adobe Devanagari" pitchFamily="18" charset="0"/>
              </a:rPr>
              <a:t>References</a:t>
            </a:r>
          </a:p>
        </p:txBody>
      </p:sp>
      <p:sp>
        <p:nvSpPr>
          <p:cNvPr id="16" name="TextBox 15">
            <a:extLst>
              <a:ext uri="{FF2B5EF4-FFF2-40B4-BE49-F238E27FC236}">
                <a16:creationId xmlns:a16="http://schemas.microsoft.com/office/drawing/2014/main" id="{73A3E630-B560-448D-591C-64D79B472C53}"/>
              </a:ext>
            </a:extLst>
          </p:cNvPr>
          <p:cNvSpPr txBox="1"/>
          <p:nvPr/>
        </p:nvSpPr>
        <p:spPr>
          <a:xfrm>
            <a:off x="304800" y="1143000"/>
            <a:ext cx="11684000" cy="5181600"/>
          </a:xfrm>
          <a:prstGeom prst="rect">
            <a:avLst/>
          </a:prstGeom>
        </p:spPr>
        <p:txBody>
          <a:bodyPr vert="horz" lIns="91440" tIns="45720" rIns="91440" bIns="45720" rtlCol="0">
            <a:normAutofit/>
          </a:bodyPr>
          <a:lstStyle/>
          <a:p>
            <a:pPr marL="342900" indent="-342900">
              <a:lnSpc>
                <a:spcPct val="90000"/>
              </a:lnSpc>
              <a:spcBef>
                <a:spcPct val="20000"/>
              </a:spcBef>
              <a:buFont typeface="Arial" pitchFamily="34" charset="0"/>
              <a:buChar char="•"/>
            </a:pPr>
            <a:r>
              <a:rPr lang="en-US" dirty="0"/>
              <a:t>[1] K. </a:t>
            </a:r>
            <a:r>
              <a:rPr lang="en-US" dirty="0" err="1"/>
              <a:t>Gaidzik</a:t>
            </a:r>
            <a:r>
              <a:rPr lang="en-US" dirty="0"/>
              <a:t> and M. T. Ramírez-Herrera, "The importance of input data on landslide susceptibility mapping," Sci. Rep., vol. 11, art. no. 19334, 2021, </a:t>
            </a:r>
            <a:r>
              <a:rPr lang="en-US" dirty="0" err="1"/>
              <a:t>doi</a:t>
            </a:r>
            <a:r>
              <a:rPr lang="en-US" dirty="0"/>
              <a:t>: 10.1038/s41598-021 98830-y. </a:t>
            </a:r>
          </a:p>
          <a:p>
            <a:pPr marL="342900" indent="-342900">
              <a:lnSpc>
                <a:spcPct val="90000"/>
              </a:lnSpc>
              <a:spcBef>
                <a:spcPct val="20000"/>
              </a:spcBef>
              <a:buFont typeface="Arial" pitchFamily="34" charset="0"/>
              <a:buChar char="•"/>
            </a:pPr>
            <a:r>
              <a:rPr lang="en-US" dirty="0"/>
              <a:t>[2] A. Brenning, "Spatial prediction models for landslide hazards: review, comparison and evaluation," Nat. Hazards Earth Syst. Sci., vol. 5, pp. 853–862, 2005. </a:t>
            </a:r>
          </a:p>
          <a:p>
            <a:pPr marL="342900" indent="-342900">
              <a:lnSpc>
                <a:spcPct val="90000"/>
              </a:lnSpc>
              <a:spcBef>
                <a:spcPct val="20000"/>
              </a:spcBef>
              <a:buFont typeface="Arial" pitchFamily="34" charset="0"/>
              <a:buChar char="•"/>
            </a:pPr>
            <a:r>
              <a:rPr lang="en-US" dirty="0"/>
              <a:t>[3] L. Gunasinghe, L. Gunawardhana, and L. Rajapakse, "Predictive analysis of landslide susceptibility under hydrological aspects of climate change in Kegalle District, Sri Lanka," in Proc. 2023 Moratuwa Eng. Res. Conf. (</a:t>
            </a:r>
            <a:r>
              <a:rPr lang="en-US" dirty="0" err="1"/>
              <a:t>MERCon</a:t>
            </a:r>
            <a:r>
              <a:rPr lang="en-US" dirty="0"/>
              <a:t>), Colombo, Sri Lanka, 2023, pp. 119–124, </a:t>
            </a:r>
            <a:r>
              <a:rPr lang="en-US" dirty="0" err="1"/>
              <a:t>doi</a:t>
            </a:r>
            <a:r>
              <a:rPr lang="en-US" dirty="0"/>
              <a:t>: 10.1109/MERCon60487.2023.10355394</a:t>
            </a:r>
          </a:p>
          <a:p>
            <a:pPr marL="342900" indent="-342900">
              <a:lnSpc>
                <a:spcPct val="90000"/>
              </a:lnSpc>
              <a:spcBef>
                <a:spcPct val="20000"/>
              </a:spcBef>
              <a:buFont typeface="Arial" pitchFamily="34" charset="0"/>
              <a:buChar char="•"/>
            </a:pPr>
            <a:r>
              <a:rPr lang="en-US" dirty="0"/>
              <a:t> [4] National Building Research </a:t>
            </a:r>
            <a:r>
              <a:rPr lang="en-US" dirty="0" err="1"/>
              <a:t>Organisation</a:t>
            </a:r>
            <a:r>
              <a:rPr lang="en-US" dirty="0"/>
              <a:t>, "Landslide early warning issued," NBRO, Colombo, Sri Lanka. [Online]. Available: https://www.nbro.gov.lk </a:t>
            </a:r>
          </a:p>
          <a:p>
            <a:pPr marL="342900" indent="-342900">
              <a:lnSpc>
                <a:spcPct val="90000"/>
              </a:lnSpc>
              <a:spcBef>
                <a:spcPct val="20000"/>
              </a:spcBef>
              <a:buFont typeface="Arial" pitchFamily="34" charset="0"/>
              <a:buChar char="•"/>
            </a:pPr>
            <a:r>
              <a:rPr lang="en-US" dirty="0"/>
              <a:t>[6] UN Office for the Coordination of Humanitarian Affairs (OCHA) and UN Resident Coordinator's Office (RCO), "Cyclone </a:t>
            </a:r>
            <a:r>
              <a:rPr lang="en-US" dirty="0" err="1"/>
              <a:t>Ditwah</a:t>
            </a:r>
            <a:r>
              <a:rPr lang="en-US" dirty="0"/>
              <a:t> – situation report (23 January 2026)," United Nations Sri Lanka, Colombo, Sri Lanka, Jan. 2026. [Online]. Available: https://srilanka.un.org/en/308868-cyclone-ditwah-situation-report-23-january-2026 </a:t>
            </a:r>
          </a:p>
          <a:p>
            <a:pPr marL="342900" indent="-342900">
              <a:lnSpc>
                <a:spcPct val="90000"/>
              </a:lnSpc>
              <a:spcBef>
                <a:spcPct val="20000"/>
              </a:spcBef>
              <a:buFont typeface="Arial" pitchFamily="34" charset="0"/>
              <a:buChar char="•"/>
            </a:pPr>
            <a:r>
              <a:rPr lang="en-US" dirty="0"/>
              <a:t>[7] Disaster Management Centre, Sri Lanka, "Landslide warning / situation reports," DMC, Colombo, Sri Lanka. [Online]. Available: https://www.dmc.gov.lk (accessed Sep. 12, 2026).</a:t>
            </a:r>
          </a:p>
          <a:p>
            <a:pPr marL="342900" indent="-342900">
              <a:lnSpc>
                <a:spcPct val="90000"/>
              </a:lnSpc>
              <a:spcBef>
                <a:spcPct val="20000"/>
              </a:spcBef>
              <a:buFont typeface="Arial" pitchFamily="34" charset="0"/>
              <a:buChar char="•"/>
            </a:pPr>
            <a:r>
              <a:rPr lang="en-US" dirty="0"/>
              <a:t> [8] S. Rathnayaka, "Landslide Susceptibility Component," GitHub Pages, 2026. [Online]. Available: https://sadumina.github.io/Landlside-Suceptability-Component/ [9] "Landslide hazards assessment in Nuwara Eliya District in Sri Lanka," 2018. [Online]. Available: https://www.researchgate.net/publication/322652881 </a:t>
            </a:r>
          </a:p>
          <a:p>
            <a:pPr marL="342900" indent="-342900">
              <a:lnSpc>
                <a:spcPct val="90000"/>
              </a:lnSpc>
              <a:spcBef>
                <a:spcPct val="20000"/>
              </a:spcBef>
              <a:buFont typeface="Arial" pitchFamily="34" charset="0"/>
              <a:buChar char="•"/>
            </a:pPr>
            <a:r>
              <a:rPr lang="en-US" dirty="0"/>
              <a:t>[10] A. </a:t>
            </a:r>
            <a:r>
              <a:rPr lang="en-US" dirty="0" err="1"/>
              <a:t>Sinhalagoda</a:t>
            </a:r>
            <a:r>
              <a:rPr lang="en-US" dirty="0"/>
              <a:t>, "J26-IT-334: Datasets for Integrated Flood and Landslide Risk Assessment and Response System," GitHub repository, 2026. [Online]. Available: https://github.com/amasha </a:t>
            </a:r>
            <a:r>
              <a:rPr lang="en-US" dirty="0" err="1"/>
              <a:t>sinhalagoda</a:t>
            </a:r>
            <a:r>
              <a:rPr lang="en-US" dirty="0"/>
              <a:t>/J26-IT-334</a:t>
            </a:r>
          </a:p>
        </p:txBody>
      </p:sp>
      <p:sp>
        <p:nvSpPr>
          <p:cNvPr id="5" name="TextBox 4">
            <a:extLst>
              <a:ext uri="{FF2B5EF4-FFF2-40B4-BE49-F238E27FC236}">
                <a16:creationId xmlns:a16="http://schemas.microsoft.com/office/drawing/2014/main" id="{B88FEEBC-CC54-1FFC-8721-AAC4470DECDD}"/>
              </a:ext>
            </a:extLst>
          </p:cNvPr>
          <p:cNvSpPr txBox="1"/>
          <p:nvPr/>
        </p:nvSpPr>
        <p:spPr>
          <a:xfrm>
            <a:off x="5410200" y="6550742"/>
            <a:ext cx="1261884" cy="369332"/>
          </a:xfrm>
          <a:prstGeom prst="rect">
            <a:avLst/>
          </a:prstGeom>
          <a:noFill/>
        </p:spPr>
        <p:txBody>
          <a:bodyPr wrap="none" rtlCol="0">
            <a:spAutoFit/>
          </a:bodyPr>
          <a:lstStyle/>
          <a:p>
            <a:r>
              <a:rPr lang="en-GB" dirty="0"/>
              <a:t>J26-IT-334</a:t>
            </a:r>
            <a:endParaRPr lang="en-US" dirty="0"/>
          </a:p>
        </p:txBody>
      </p:sp>
    </p:spTree>
    <p:extLst>
      <p:ext uri="{BB962C8B-B14F-4D97-AF65-F5344CB8AC3E}">
        <p14:creationId xmlns:p14="http://schemas.microsoft.com/office/powerpoint/2010/main" val="3250214859"/>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566083a-97cd-4902-aaf8-0acf99e3bf7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42807463727246ACD6D5E2D3C95573" ma:contentTypeVersion="15" ma:contentTypeDescription="Create a new document." ma:contentTypeScope="" ma:versionID="56e4066fc878b16dcf57e277bb99f4bb">
  <xsd:schema xmlns:xsd="http://www.w3.org/2001/XMLSchema" xmlns:xs="http://www.w3.org/2001/XMLSchema" xmlns:p="http://schemas.microsoft.com/office/2006/metadata/properties" xmlns:ns3="2566083a-97cd-4902-aaf8-0acf99e3bf73" xmlns:ns4="d03780f5-587f-4e5b-b33f-a7e4f22225cc" targetNamespace="http://schemas.microsoft.com/office/2006/metadata/properties" ma:root="true" ma:fieldsID="b0fc4fd9e488125ffd2ce5507f9afe08" ns3:_="" ns4:_="">
    <xsd:import namespace="2566083a-97cd-4902-aaf8-0acf99e3bf73"/>
    <xsd:import namespace="d03780f5-587f-4e5b-b33f-a7e4f22225c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66083a-97cd-4902-aaf8-0acf99e3bf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3780f5-587f-4e5b-b33f-a7e4f22225cc"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A139EA-21F2-45CB-B550-3148FB60BCB0}">
  <ds:schemaRefs>
    <ds:schemaRef ds:uri="http://purl.org/dc/elements/1.1/"/>
    <ds:schemaRef ds:uri="http://schemas.openxmlformats.org/package/2006/metadata/core-properties"/>
    <ds:schemaRef ds:uri="2566083a-97cd-4902-aaf8-0acf99e3bf73"/>
    <ds:schemaRef ds:uri="http://schemas.microsoft.com/office/2006/metadata/properties"/>
    <ds:schemaRef ds:uri="http://purl.org/dc/terms/"/>
    <ds:schemaRef ds:uri="http://schemas.microsoft.com/office/2006/documentManagement/types"/>
    <ds:schemaRef ds:uri="http://purl.org/dc/dcmitype/"/>
    <ds:schemaRef ds:uri="http://www.w3.org/XML/1998/namespace"/>
    <ds:schemaRef ds:uri="http://schemas.microsoft.com/office/infopath/2007/PartnerControls"/>
    <ds:schemaRef ds:uri="d03780f5-587f-4e5b-b33f-a7e4f22225cc"/>
  </ds:schemaRefs>
</ds:datastoreItem>
</file>

<file path=customXml/itemProps2.xml><?xml version="1.0" encoding="utf-8"?>
<ds:datastoreItem xmlns:ds="http://schemas.openxmlformats.org/officeDocument/2006/customXml" ds:itemID="{5193A9DD-894B-4AC1-8677-C1640955C074}">
  <ds:schemaRefs>
    <ds:schemaRef ds:uri="http://schemas.microsoft.com/sharepoint/v3/contenttype/forms"/>
  </ds:schemaRefs>
</ds:datastoreItem>
</file>

<file path=customXml/itemProps3.xml><?xml version="1.0" encoding="utf-8"?>
<ds:datastoreItem xmlns:ds="http://schemas.openxmlformats.org/officeDocument/2006/customXml" ds:itemID="{85AE4ED9-D127-4EE8-94ED-2074411FE8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66083a-97cd-4902-aaf8-0acf99e3bf73"/>
    <ds:schemaRef ds:uri="d03780f5-587f-4e5b-b33f-a7e4f22225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Proposal-Presentation-Template</Template>
  <TotalTime>768</TotalTime>
  <Words>8323</Words>
  <Application>Microsoft Office PowerPoint</Application>
  <PresentationFormat>Widescreen</PresentationFormat>
  <Paragraphs>591</Paragraphs>
  <Slides>39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Adobe Devanagari</vt:lpstr>
      <vt:lpstr>Arial</vt:lpstr>
      <vt:lpstr>Calibri</vt:lpstr>
      <vt:lpstr>Cambria</vt:lpstr>
      <vt:lpstr>Google Sans Text</vt:lpstr>
      <vt:lpstr>Wingdings</vt:lpstr>
      <vt:lpstr>Office Theme</vt:lpstr>
      <vt:lpstr>Integrated Flood and Landslide Risk Assessment and Response System for Sri Lanka</vt:lpstr>
      <vt:lpstr>Overall Project Description</vt:lpstr>
      <vt:lpstr>PowerPoint Presentation</vt:lpstr>
      <vt:lpstr>PowerPoint Presentation</vt:lpstr>
      <vt:lpstr>PowerPoint Presentation</vt:lpstr>
      <vt:lpstr>System Overview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Commercialization Plan </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BAGYA R M S it23394124</dc:creator>
  <cp:lastModifiedBy>BAGYA R M S it23394124</cp:lastModifiedBy>
  <cp:revision>2</cp:revision>
  <dcterms:created xsi:type="dcterms:W3CDTF">2026-09-15T05:43:31Z</dcterms:created>
  <dcterms:modified xsi:type="dcterms:W3CDTF">2026-09-15T18:31:45Z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0x0101001542807463727246ACD6D5E2D3C95573</vt:lpwstr>
  </property>
</Properties>
</file>